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personal_about_m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905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7840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0C2231"/>
                </a:solidFill>
              </a:rPr>
              <a:t>Methane Hydrate and the Alaska North Slope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60704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A6E7C"/>
                </a:solidFill>
              </a:rPr>
              <a:t>Source-backed context: what hydrate is, why the region matters, and why P-T conditions vary.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78992"/>
            <a:ext cx="5084064" cy="3172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ied_north_slope_map_crop_slide2_2026_06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4882896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" y="3593592"/>
            <a:ext cx="4608576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Combined 2D North Slope map: geology, public wells, permafrost controls, hydrate AUs, roads/TAPS/fields.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0992" y="1078992"/>
            <a:ext cx="3218688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thane_5ppt_pt_diagram_from_csv_2026_06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188720"/>
            <a:ext cx="2980944" cy="1847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0448" y="3054096"/>
            <a:ext cx="2761488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P-T diagram: pressure, temperature, salinity, and gas mix control admissibility.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1078992"/>
            <a:ext cx="2633472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ydrate_structure_i_ii_h_crop_slide2_2026_06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1133856"/>
            <a:ext cx="1243584" cy="19202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756648" y="1179576"/>
            <a:ext cx="1664208" cy="658368"/>
          </a:xfrm>
          <a:prstGeom prst="ellipse">
            <a:avLst/>
          </a:prstGeom>
          <a:noFill/>
          <a:ln w="317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054096"/>
            <a:ext cx="2249424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A768C"/>
                </a:solidFill>
              </a:rPr>
              <a:t>Structure I circled: methane-dominant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407408"/>
            <a:ext cx="508406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02_selected_06_usgs_arctic_alaska_cross_section_fig2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535424"/>
            <a:ext cx="4809744" cy="1152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5650992"/>
            <a:ext cx="4572000" cy="411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30" b="1">
                <a:solidFill>
                  <a:srgbClr val="0C2231"/>
                </a:solidFill>
              </a:rPr>
              <a:t>Regional cross-section context explains why permafrost, structure, and stability vary across the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A768C"/>
                </a:solidFill>
              </a:rPr>
              <a:t>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methane-rich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sII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larger gases / mixed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 hydrocarbon + methane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3822191"/>
            <a:ext cx="1097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71632" y="3895344"/>
            <a:ext cx="950976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noted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4151376"/>
            <a:ext cx="950976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scenario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0992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Gas origin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biogenic CH4 vs thermogenic C2+ shifts stability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9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9A71"/>
                </a:solidFill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USGS 2018 mean: about 54 Tcf technically recoverable hydrate gas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0384" y="4937760"/>
            <a:ext cx="1865376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3536" y="5010912"/>
            <a:ext cx="1719072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Guardrail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5266944"/>
            <a:ext cx="1719072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context only; not proof, saturation, producibility, or 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6547104"/>
            <a:ext cx="75895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A6E7C"/>
                </a:solidFill>
              </a:rPr>
              <a:t>Slide labels are concise; detailed citations stay in the companion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6528816"/>
            <a:ext cx="248716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50" b="1">
                <a:solidFill>
                  <a:srgbClr val="B92C37"/>
                </a:solidFill>
              </a:rPr>
              <a:t>No hydrate proof. No occurrence/saturation claim.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9363456" y="1901952"/>
            <a:ext cx="585216" cy="1115568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C2231"/>
                </a:solidFill>
              </a:rPr>
              <a:t>Log Signals, Lithology, And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A79"/>
                </a:solidFill>
              </a:rPr>
              <a:t>Editable well-log scaffold; real four-well/core data remain DOE-runtime exports until reviewed.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78992"/>
            <a:ext cx="8430768" cy="5230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C2231"/>
                </a:solidFill>
              </a:rPr>
              <a:t>Well-log style evidence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25296"/>
            <a:ext cx="5212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1">
                <a:solidFill>
                  <a:srgbClr val="B92C37"/>
                </a:solidFill>
              </a:rPr>
              <a:t>DOE export placeholder: schematic only, no approved rows or private depths.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Lith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19" y="2221992"/>
            <a:ext cx="576071" cy="749808"/>
          </a:xfrm>
          <a:prstGeom prst="rect">
            <a:avLst/>
          </a:prstGeom>
          <a:solidFill>
            <a:srgbClr val="E2F7EC"/>
          </a:solidFill>
          <a:ln w="1016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539496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40" b="1">
                <a:solidFill>
                  <a:srgbClr val="239467"/>
                </a:solidFill>
              </a:rPr>
              <a:t>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19" y="2990088"/>
            <a:ext cx="576071" cy="713232"/>
          </a:xfrm>
          <a:prstGeom prst="rect">
            <a:avLst/>
          </a:prstGeom>
          <a:solidFill>
            <a:srgbClr val="EFF3F5"/>
          </a:solidFill>
          <a:ln w="10160">
            <a:solidFill>
              <a:srgbClr val="6273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91256"/>
            <a:ext cx="539496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40" b="1">
                <a:solidFill>
                  <a:srgbClr val="627381"/>
                </a:solidFill>
              </a:rPr>
              <a:t>mixed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19" y="3739896"/>
            <a:ext cx="576071" cy="566928"/>
          </a:xfrm>
          <a:prstGeom prst="rect">
            <a:avLst/>
          </a:prstGeom>
          <a:solidFill>
            <a:srgbClr val="FFF7E1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41063"/>
            <a:ext cx="539496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40" b="1">
                <a:solidFill>
                  <a:srgbClr val="D97706"/>
                </a:solidFill>
              </a:rPr>
              <a:t>uncertain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7048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39224" y="1856232"/>
            <a:ext cx="85770" cy="446749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735074" y="2302981"/>
            <a:ext cx="104150" cy="446750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692188" y="2749731"/>
            <a:ext cx="42886" cy="446750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92188" y="3196481"/>
            <a:ext cx="24506" cy="446749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6694" y="3643230"/>
            <a:ext cx="147036" cy="446750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63730" y="4089980"/>
            <a:ext cx="110276" cy="446750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937247" y="4536730"/>
            <a:ext cx="36759" cy="446750"/>
          </a:xfrm>
          <a:prstGeom prst="line">
            <a:avLst/>
          </a:prstGeom>
          <a:ln w="19050">
            <a:solidFill>
              <a:srgbClr val="239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77439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39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95727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603753" y="1856232"/>
            <a:ext cx="79645" cy="446749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83398" y="2302981"/>
            <a:ext cx="165415" cy="44675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48813" y="2749731"/>
            <a:ext cx="140909" cy="44675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928457" y="3196481"/>
            <a:ext cx="61265" cy="446749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44663" y="3643230"/>
            <a:ext cx="183794" cy="44675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634386" y="4089980"/>
            <a:ext cx="110277" cy="44675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616006" y="4536730"/>
            <a:ext cx="18380" cy="44675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4612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Phi/NMR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64408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3674607" y="1856232"/>
            <a:ext cx="42886" cy="446749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613343" y="2302981"/>
            <a:ext cx="61264" cy="446750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478560" y="2749731"/>
            <a:ext cx="134783" cy="446750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78560" y="3196481"/>
            <a:ext cx="49012" cy="446749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527572" y="3643230"/>
            <a:ext cx="122529" cy="446750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50101" y="4089980"/>
            <a:ext cx="79645" cy="446750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29746" y="4536730"/>
            <a:ext cx="30632" cy="446750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11480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Vp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33087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408505" y="1856232"/>
            <a:ext cx="49012" cy="446749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57517" y="2302981"/>
            <a:ext cx="98023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55540" y="2749731"/>
            <a:ext cx="79645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604552" y="3196481"/>
            <a:ext cx="30633" cy="446749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4506528" y="3643230"/>
            <a:ext cx="98024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433011" y="4089980"/>
            <a:ext cx="73517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402378" y="4536730"/>
            <a:ext cx="30633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98348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Vs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01768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5252679" y="1856232"/>
            <a:ext cx="49012" cy="446749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01691" y="2302981"/>
            <a:ext cx="98023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399714" y="2749731"/>
            <a:ext cx="134783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485485" y="3196481"/>
            <a:ext cx="49012" cy="446749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350703" y="3643230"/>
            <a:ext cx="134782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5289438" y="4089980"/>
            <a:ext cx="61265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264932" y="4536730"/>
            <a:ext cx="24506" cy="446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52159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Vp/Vs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59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70447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207130" y="1856232"/>
            <a:ext cx="24506" cy="446749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231636" y="2302981"/>
            <a:ext cx="73517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305153" y="2749731"/>
            <a:ext cx="61265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329659" y="3196481"/>
            <a:ext cx="36759" cy="446749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6268394" y="3643230"/>
            <a:ext cx="61265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6194877" y="4089980"/>
            <a:ext cx="73517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6182624" y="4536730"/>
            <a:ext cx="12253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720840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AI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0840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39127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002292" y="1856232"/>
            <a:ext cx="61265" cy="446749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063557" y="2302981"/>
            <a:ext cx="104150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167707" y="2749731"/>
            <a:ext cx="116403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7247351" y="3196481"/>
            <a:ext cx="36759" cy="446749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7100316" y="3643230"/>
            <a:ext cx="147035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014545" y="4089980"/>
            <a:ext cx="85771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6990039" y="4536730"/>
            <a:ext cx="24506" cy="44675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589519" y="1417320"/>
            <a:ext cx="7589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1">
                <a:solidFill>
                  <a:srgbClr val="0C2231"/>
                </a:solidFill>
              </a:rPr>
              <a:t>Caliper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19" y="1691640"/>
            <a:ext cx="758952" cy="3456432"/>
          </a:xfrm>
          <a:prstGeom prst="rect">
            <a:avLst/>
          </a:prstGeom>
          <a:solidFill>
            <a:srgbClr val="FAFCFD"/>
          </a:solidFill>
          <a:ln w="1016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07807" y="2679192"/>
            <a:ext cx="722375" cy="868680"/>
          </a:xfrm>
          <a:prstGeom prst="rect">
            <a:avLst/>
          </a:prstGeom>
          <a:solidFill>
            <a:srgbClr val="E5F7EE"/>
          </a:solidFill>
          <a:ln w="10160">
            <a:solidFill>
              <a:srgbClr val="E5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797454" y="1856232"/>
            <a:ext cx="12253" cy="446749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09707" y="2302981"/>
            <a:ext cx="36759" cy="446750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846466" y="2749731"/>
            <a:ext cx="134782" cy="446750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846466" y="3196481"/>
            <a:ext cx="134782" cy="446749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846466" y="3643230"/>
            <a:ext cx="12253" cy="446750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809707" y="4089980"/>
            <a:ext cx="49012" cy="446750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797454" y="4536730"/>
            <a:ext cx="12253" cy="446750"/>
          </a:xfrm>
          <a:prstGeom prst="line">
            <a:avLst/>
          </a:prstGeom>
          <a:ln w="1905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58368" y="5376672"/>
            <a:ext cx="7680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566A79"/>
                </a:solidFill>
              </a:rPr>
              <a:t>Depth axis is schematic. Depth stays as alignment/context; log values are future train-only 0-1 scaled views.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0080" y="5815584"/>
            <a:ext cx="7973568" cy="310896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49808" y="5897880"/>
            <a:ext cx="91440" cy="91440"/>
          </a:xfrm>
          <a:prstGeom prst="rect">
            <a:avLst/>
          </a:prstGeom>
          <a:solidFill>
            <a:srgbClr val="239467"/>
          </a:solidFill>
          <a:ln w="1016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77824" y="5833872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C2231"/>
                </a:solidFill>
              </a:rPr>
              <a:t>measured log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75688" y="5897880"/>
            <a:ext cx="91440" cy="9144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03704" y="5833872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C2231"/>
                </a:solidFill>
              </a:rPr>
              <a:t>derived signal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1568" y="5897880"/>
            <a:ext cx="91440" cy="91440"/>
          </a:xfrm>
          <a:prstGeom prst="rect">
            <a:avLst/>
          </a:prstGeom>
          <a:solidFill>
            <a:srgbClr val="B92C3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29584" y="5833872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C2231"/>
                </a:solidFill>
              </a:rPr>
              <a:t>QC only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27448" y="5897880"/>
            <a:ext cx="91440" cy="91440"/>
          </a:xfrm>
          <a:prstGeom prst="rect">
            <a:avLst/>
          </a:prstGeom>
          <a:solidFill>
            <a:srgbClr val="B92C3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55464" y="5833872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C2231"/>
                </a:solidFill>
              </a:rPr>
              <a:t>target/reference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53328" y="5897880"/>
            <a:ext cx="91440" cy="91440"/>
          </a:xfrm>
          <a:prstGeom prst="rect">
            <a:avLst/>
          </a:prstGeom>
          <a:solidFill>
            <a:srgbClr val="627381"/>
          </a:solidFill>
          <a:ln w="10160">
            <a:solidFill>
              <a:srgbClr val="6273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81344" y="5833872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C2231"/>
                </a:solidFill>
              </a:rPr>
              <a:t>placeholder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62288" y="1078992"/>
            <a:ext cx="2615184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45168" y="126187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B92C37"/>
                </a:solidFill>
              </a:rPr>
              <a:t>Y-only calibration rail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363456" y="1700784"/>
            <a:ext cx="2157984" cy="265176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436608" y="1755648"/>
            <a:ext cx="197510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B92C37"/>
                </a:solidFill>
              </a:rPr>
              <a:t>S_h / Sgh / Sh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363456" y="2093976"/>
            <a:ext cx="2157984" cy="265176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436608" y="2148840"/>
            <a:ext cx="197510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B92C37"/>
                </a:solidFill>
              </a:rPr>
              <a:t>NMR_SAT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63456" y="2487168"/>
            <a:ext cx="2157984" cy="265176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436608" y="2542032"/>
            <a:ext cx="197510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B92C37"/>
                </a:solidFill>
              </a:rPr>
              <a:t>Hydrate saturation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363456" y="2880360"/>
            <a:ext cx="2157984" cy="265176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436608" y="2935224"/>
            <a:ext cx="197510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B92C37"/>
                </a:solidFill>
              </a:rPr>
              <a:t>Swr / S_wr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63456" y="3273552"/>
            <a:ext cx="2157984" cy="265176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36608" y="3328416"/>
            <a:ext cx="197510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B92C37"/>
                </a:solidFill>
              </a:rPr>
              <a:t>phase labels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63456" y="3822191"/>
            <a:ext cx="2139696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80" b="1">
                <a:solidFill>
                  <a:srgbClr val="0C2231"/>
                </a:solidFill>
              </a:rPr>
              <a:t>Targets supervise/review only. They never enter X predictors.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162288" y="4736592"/>
            <a:ext cx="2615184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253728" y="4800600"/>
            <a:ext cx="2432303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80" b="1">
                <a:solidFill>
                  <a:srgbClr val="0A768C"/>
                </a:solidFill>
              </a:rPr>
              <a:t>stack evidence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53728" y="4992624"/>
            <a:ext cx="243230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0C2231"/>
                </a:solidFill>
              </a:rPr>
              <a:t>clean + resistive + stiff + stable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62288" y="5394960"/>
            <a:ext cx="2615184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253728" y="5458968"/>
            <a:ext cx="2432303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80" b="1">
                <a:solidFill>
                  <a:srgbClr val="B92C37"/>
                </a:solidFill>
              </a:rPr>
              <a:t>caliper caution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53728" y="5650992"/>
            <a:ext cx="243230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0C2231"/>
                </a:solidFill>
              </a:rPr>
              <a:t>washout is QC, not hydrate evidence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162288" y="6053328"/>
            <a:ext cx="2615184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273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253728" y="6117336"/>
            <a:ext cx="2432303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80" b="1">
                <a:solidFill>
                  <a:srgbClr val="627381"/>
                </a:solidFill>
              </a:rPr>
              <a:t>public-safe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253728" y="6309360"/>
            <a:ext cx="2432303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0C2231"/>
                </a:solidFill>
              </a:rPr>
              <a:t>no approved rows in GitHub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8458200" y="2999232"/>
            <a:ext cx="704088" cy="1993392"/>
          </a:xfrm>
          <a:prstGeom prst="line">
            <a:avLst/>
          </a:prstGeom>
          <a:ln w="1524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321040" y="3767328"/>
            <a:ext cx="841248" cy="1883664"/>
          </a:xfrm>
          <a:prstGeom prst="line">
            <a:avLst/>
          </a:prstGeom>
          <a:ln w="15240">
            <a:solidFill>
              <a:srgbClr val="B9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C2231"/>
                </a:solidFill>
              </a:rPr>
              <a:t>Simplified ML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A79"/>
                </a:solidFill>
              </a:rPr>
              <a:t>Inputs become features only after schema, unit, QC, and leakage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207008"/>
            <a:ext cx="20299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77393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0A768C"/>
                </a:solidFill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1773936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logs
core/NMR
lithology/QC
stability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07008"/>
            <a:ext cx="20299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344168"/>
            <a:ext cx="177393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</a:rP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1645920"/>
            <a:ext cx="1773936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headers
units
align by depth
fingerprints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4" y="1207008"/>
            <a:ext cx="20299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344168"/>
            <a:ext cx="177393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B92C37"/>
                </a:solidFill>
              </a:rPr>
              <a:t>Leakage 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45920"/>
            <a:ext cx="1773936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X inputs only
Y targets locked away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1207008"/>
            <a:ext cx="349300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1344168"/>
            <a:ext cx="323697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239467"/>
                </a:solidFill>
              </a:rPr>
              <a:t>Feature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1645920"/>
            <a:ext cx="3236976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measured logs + valid derived features
context flags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794760"/>
            <a:ext cx="20299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273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3931920"/>
            <a:ext cx="177393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627381"/>
                </a:solidFill>
              </a:rPr>
              <a:t>Baselines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4233672"/>
            <a:ext cx="1773936" cy="603503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physics/rules
tree/boosting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3794760"/>
            <a:ext cx="20299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931920"/>
            <a:ext cx="177393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</a:rPr>
              <a:t>ANN / Keras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233672"/>
            <a:ext cx="1773936" cy="603503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learned patterns after baseline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0688" y="3794760"/>
            <a:ext cx="349300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3931920"/>
            <a:ext cx="323697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</a:rPr>
              <a:t>Two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4233672"/>
            <a:ext cx="3236976" cy="603503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30" b="1">
                <a:solidFill>
                  <a:srgbClr val="0C2231"/>
                </a:solidFill>
              </a:rPr>
              <a:t>occurrence classification
saturation regression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3744" y="1792224"/>
            <a:ext cx="402336" cy="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56048" y="1792224"/>
            <a:ext cx="402336" cy="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88352" y="1792224"/>
            <a:ext cx="402336" cy="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56048" y="4343400"/>
            <a:ext cx="402336" cy="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88352" y="4343400"/>
            <a:ext cx="402336" cy="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73368" y="2377440"/>
            <a:ext cx="0" cy="1417320"/>
          </a:xfrm>
          <a:prstGeom prst="line">
            <a:avLst/>
          </a:prstGeom>
          <a:ln w="21590">
            <a:solidFill>
              <a:srgbClr val="0C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3776" y="5522976"/>
            <a:ext cx="10789920" cy="694944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5715000"/>
            <a:ext cx="10424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70" b="1">
                <a:solidFill>
                  <a:srgbClr val="B92C37"/>
                </a:solidFill>
              </a:rPr>
              <a:t>Target-only rail: occurrence labels + S_h/Sgh/Sh/NMR_SAT/hydrate saturation supervise training and validation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6428232"/>
            <a:ext cx="10424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0C2231"/>
                </a:solidFill>
              </a:rPr>
              <a:t>Validation before metrics. Whole-well/geographic split before scaling. Reviewed outputs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C2231"/>
                </a:solidFill>
              </a:rPr>
              <a:t>Equation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A79"/>
                </a:solidFill>
              </a:rPr>
              <a:t>Feature engineering and stability context equations; no map, no ML diagram, no log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2529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3502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</a:rPr>
              <a:t>Pressure-depth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P_abs(z) = P_surface + rho_w g z / 1e6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3113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26771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2563EB"/>
                </a:solidFill>
              </a:rP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22529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3502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768C"/>
                </a:solidFill>
              </a:rPr>
              <a:t>P-T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0078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stable if T_model(z) &lt;= T_eq(P_abs, CH4, salinity)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3113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226771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0A768C"/>
                </a:solidFill>
              </a:rPr>
              <a:t>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22529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3502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239467"/>
                </a:solidFill>
              </a:rPr>
              <a:t>Density porosity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0078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phi_D = (rho_ma - RHOB) / (rho_ma - rho_f)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3113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26771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239467"/>
                </a:solidFill>
              </a:rPr>
              <a:t>log-derived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122529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33502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7C3AED"/>
                </a:solidFill>
              </a:rPr>
              <a:t>Vp/Vs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0078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Vp/Vs = Vp / 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23113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226771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7C3AED"/>
                </a:solidFill>
              </a:rPr>
              <a:t>elastic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296265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7238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7C3AED"/>
                </a:solidFill>
              </a:rPr>
              <a:t>Acoustic impedance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3814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AI = RHOB * Vp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6849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00507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7C3AED"/>
                </a:solidFill>
              </a:rPr>
              <a:t>elastic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96265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7238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D97706"/>
                </a:solidFill>
              </a:rPr>
              <a:t>mu-rho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43814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mu-rho = RHOB * Vs^2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96849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400507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D97706"/>
                </a:solidFill>
              </a:rPr>
              <a:t>elastic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296265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07238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D97706"/>
                </a:solidFill>
              </a:rPr>
              <a:t>lambda-rho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43814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lambda-rho = RHOB * (Vp^2 - 2Vs^2)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96849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00507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D97706"/>
                </a:solidFill>
              </a:rPr>
              <a:t>elastic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4272" y="2962656"/>
            <a:ext cx="248716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072384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B92C37"/>
                </a:solidFill>
              </a:rPr>
              <a:t>Archie-style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438144"/>
            <a:ext cx="224942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Sw^n ~ a Rw / (phi^m Rt)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968496"/>
            <a:ext cx="987552" cy="2286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0576" y="4005072"/>
            <a:ext cx="914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80" b="1">
                <a:solidFill>
                  <a:srgbClr val="B92C37"/>
                </a:solidFill>
              </a:rPr>
              <a:t>reference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992624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C2231"/>
                </a:solidFill>
              </a:rPr>
              <a:t>Readable equation cards; detailed citations and derivations stay in Word/end material.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68112"/>
            <a:ext cx="92354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B92C37"/>
                </a:solidFill>
              </a:rPr>
              <a:t>Archie-style saturation relation is a source-check/reference card until target role and units are verified; saturation labels remain Y-only.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4192" y="5029200"/>
            <a:ext cx="2834640" cy="841248"/>
          </a:xfrm>
          <a:prstGeom prst="roundRect">
            <a:avLst/>
          </a:prstGeom>
          <a:solidFill>
            <a:srgbClr val="F8FBFC"/>
          </a:solidFill>
          <a:ln w="1524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0496" y="5175504"/>
            <a:ext cx="2542032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0C2231"/>
                </a:solidFill>
              </a:rPr>
              <a:t>Color key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8784" y="5468112"/>
            <a:ext cx="91440" cy="91440"/>
          </a:xfrm>
          <a:prstGeom prst="rect">
            <a:avLst/>
          </a:prstGeom>
          <a:solidFill>
            <a:srgbClr val="239467"/>
          </a:solidFill>
          <a:ln w="1016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5394960"/>
            <a:ext cx="102412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0C2231"/>
                </a:solidFill>
              </a:rPr>
              <a:t>logs/core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0655" y="5468112"/>
            <a:ext cx="91440" cy="91440"/>
          </a:xfrm>
          <a:prstGeom prst="rect">
            <a:avLst/>
          </a:prstGeom>
          <a:solidFill>
            <a:srgbClr val="0A768C"/>
          </a:solidFill>
          <a:ln w="1016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48672" y="5394960"/>
            <a:ext cx="102412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0C2231"/>
                </a:solidFill>
              </a:rPr>
              <a:t>context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58784" y="5669280"/>
            <a:ext cx="91440" cy="9144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5596128"/>
            <a:ext cx="102412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0C2231"/>
                </a:solidFill>
              </a:rPr>
              <a:t>elastic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0655" y="5669280"/>
            <a:ext cx="91440" cy="91440"/>
          </a:xfrm>
          <a:prstGeom prst="rect">
            <a:avLst/>
          </a:prstGeom>
          <a:solidFill>
            <a:srgbClr val="B92C37"/>
          </a:solidFill>
          <a:ln w="1016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48672" y="5596128"/>
            <a:ext cx="102412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0C2231"/>
                </a:solidFill>
              </a:rPr>
              <a:t>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C2231"/>
                </a:solidFill>
              </a:rPr>
              <a:t>Four-Well Evidence Review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A79"/>
                </a:solidFill>
              </a:rPr>
              <a:t>High-level review lanes; details and citations stay in Word/speaker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1042415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0C2231"/>
                </a:solidFill>
              </a:rPr>
              <a:t>Well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1042415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0C2231"/>
                </a:solidFill>
              </a:rPr>
              <a:t>Well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42415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0C2231"/>
                </a:solidFill>
              </a:rPr>
              <a:t>Well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1042415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0C2231"/>
                </a:solidFill>
              </a:rPr>
              <a:t>Well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4813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80" b="1">
                <a:solidFill>
                  <a:srgbClr val="0C2231"/>
                </a:solidFill>
              </a:rPr>
              <a:t>Lithology/core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1298448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1435607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39467"/>
                </a:solidFill>
              </a:rPr>
              <a:t>clean sand / core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98448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35607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39467"/>
                </a:solidFill>
              </a:rPr>
              <a:t>clean sand / core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21808" y="1298448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435607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39467"/>
                </a:solidFill>
              </a:rPr>
              <a:t>clean sand / core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298448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6" y="1435607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39467"/>
                </a:solidFill>
              </a:rPr>
              <a:t>clean sand / core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2176272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80" b="1">
                <a:solidFill>
                  <a:srgbClr val="0C2231"/>
                </a:solidFill>
              </a:rPr>
              <a:t>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2" y="1993391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2130551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563EB"/>
                </a:solidFill>
              </a:rPr>
              <a:t>GR + Rt + sonic + NMR/density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993391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130551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563EB"/>
                </a:solidFill>
              </a:rPr>
              <a:t>GR + Rt + sonic + NMR/density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21808" y="1993391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2130551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563EB"/>
                </a:solidFill>
              </a:rPr>
              <a:t>GR + Rt + sonic + NMR/density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1993391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6" y="2130551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2563EB"/>
                </a:solidFill>
              </a:rPr>
              <a:t>GR + Rt + sonic + NMR/density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287121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80" b="1">
                <a:solidFill>
                  <a:srgbClr val="0C2231"/>
                </a:solidFill>
              </a:rPr>
              <a:t>QC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4752" y="2688336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2" y="2825496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B92C37"/>
                </a:solidFill>
              </a:rPr>
              <a:t>caliper/washout caution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2688336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2825496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B92C37"/>
                </a:solidFill>
              </a:rPr>
              <a:t>caliper/washout caution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21808" y="2688336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8" y="2825496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B92C37"/>
                </a:solidFill>
              </a:rPr>
              <a:t>caliper/washout caution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0336" y="2688336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6" y="2825496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B92C37"/>
                </a:solidFill>
              </a:rPr>
              <a:t>caliper/washout 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566160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80" b="1">
                <a:solidFill>
                  <a:srgbClr val="0C2231"/>
                </a:solidFill>
              </a:rPr>
              <a:t>Stability context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44752" y="3383280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6192" y="3520440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0A768C"/>
                </a:solidFill>
              </a:rPr>
              <a:t>admissible under assumptions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3383280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3520440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0A768C"/>
                </a:solidFill>
              </a:rPr>
              <a:t>admissible under assumptions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21808" y="3383280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3248" y="3520440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0A768C"/>
                </a:solidFill>
              </a:rPr>
              <a:t>admissible under assumptions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0336" y="3383280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51776" y="3520440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0A768C"/>
                </a:solidFill>
              </a:rPr>
              <a:t>admissible under assumptions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4261104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80" b="1">
                <a:solidFill>
                  <a:srgbClr val="0C2231"/>
                </a:solidFill>
              </a:rPr>
              <a:t>Target-only review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4752" y="4078224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36192" y="4215384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D97706"/>
                </a:solidFill>
              </a:rPr>
              <a:t>S_h / NMR / phase labels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4078224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4215384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D97706"/>
                </a:solidFill>
              </a:rPr>
              <a:t>S_h / NMR / phase labels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21808" y="4078224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13248" y="4215384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D97706"/>
                </a:solidFill>
              </a:rPr>
              <a:t>S_h / NMR / phase labels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60336" y="4078224"/>
            <a:ext cx="1664208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51776" y="4215384"/>
            <a:ext cx="13898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90" b="1">
                <a:solidFill>
                  <a:srgbClr val="D97706"/>
                </a:solidFill>
              </a:rPr>
              <a:t>S_h / NMR / phase labels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65792" y="1298448"/>
            <a:ext cx="2011680" cy="3218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1481328"/>
            <a:ext cx="168249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B92C37"/>
                </a:solidFill>
              </a:rPr>
              <a:t>Guardrail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0384" y="1901952"/>
            <a:ext cx="1664208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0C2231"/>
                </a:solidFill>
              </a:rPr>
              <a:t>This board is a review checklist, not a result table.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0384" y="3145536"/>
            <a:ext cx="1664208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B92C37"/>
                </a:solidFill>
              </a:rPr>
              <a:t>No final occurrence, saturation, ranking, or producibility claim.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" y="5504688"/>
            <a:ext cx="10881360" cy="640080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" y="5687568"/>
            <a:ext cx="1047902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0C2231"/>
                </a:solidFill>
              </a:rPr>
              <a:t>Takeaway: hydrate interpretation becomes stronger only when lithology, logs, QC, stability context, and target-only labels are reviewed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524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C2231"/>
                </a:solidFill>
              </a:rPr>
              <a:t>North Slope Stability Context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A79"/>
                </a:solidFill>
              </a:rPr>
              <a:t>Unified 2D public context map for slide callouts; not an ML overlay.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60704"/>
            <a:ext cx="85039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ied_north_slope_slide_export_callout_space_2026_06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70432"/>
            <a:ext cx="8284464" cy="4553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98864" y="1170432"/>
            <a:ext cx="2505456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0304" y="1243584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60" b="1">
                <a:solidFill>
                  <a:srgbClr val="0A768C"/>
                </a:solidFill>
              </a:rPr>
              <a:t>Public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0304" y="1444752"/>
            <a:ext cx="23225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10" b="1">
                <a:solidFill>
                  <a:srgbClr val="0C2231"/>
                </a:solidFill>
              </a:rPr>
              <a:t>geology, borough edge, roads/TAPS/fields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8864" y="1975104"/>
            <a:ext cx="2505456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0304" y="2048256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60" b="1">
                <a:solidFill>
                  <a:srgbClr val="2563EB"/>
                </a:solidFill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0304" y="2249424"/>
            <a:ext cx="23225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10" b="1">
                <a:solidFill>
                  <a:srgbClr val="0C2231"/>
                </a:solidFill>
              </a:rPr>
              <a:t>GGD223 permafrost + public screen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2779776"/>
            <a:ext cx="2505456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2852928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60" b="1">
                <a:solidFill>
                  <a:srgbClr val="239467"/>
                </a:solidFill>
              </a:rPr>
              <a:t>Hydrate 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0304" y="3054096"/>
            <a:ext cx="23225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10" b="1">
                <a:solidFill>
                  <a:srgbClr val="0C2231"/>
                </a:solidFill>
              </a:rPr>
              <a:t>regional assessment context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3584448"/>
            <a:ext cx="2505456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3657600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60" b="1">
                <a:solidFill>
                  <a:srgbClr val="D97706"/>
                </a:solidFill>
              </a:rPr>
              <a:t>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858768"/>
            <a:ext cx="23225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10" b="1">
                <a:solidFill>
                  <a:srgbClr val="0C2231"/>
                </a:solidFill>
              </a:rPr>
              <a:t>orientation and caveat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4389120"/>
            <a:ext cx="2505456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4462272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60" b="1">
                <a:solidFill>
                  <a:srgbClr val="B92C37"/>
                </a:solidFill>
              </a:rPr>
              <a:t>Not a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4663440"/>
            <a:ext cx="2322576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10" b="1">
                <a:solidFill>
                  <a:srgbClr val="0C2231"/>
                </a:solidFill>
              </a:rPr>
              <a:t>not occurrence, saturation, producibility, or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6272784"/>
            <a:ext cx="9601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1">
                <a:solidFill>
                  <a:srgbClr val="0C2231"/>
                </a:solidFill>
              </a:rPr>
              <a:t>Caption: public stability-admissibility context under explicit assumptions; source layers are public/regional and do not prove hydrate.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6272784"/>
            <a:ext cx="17190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>
                <a:solidFill>
                  <a:srgbClr val="566A79"/>
                </a:solidFill>
              </a:rPr>
              <a:t>callouts are editable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ability_to_ml_overlay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done_not_claimed_n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