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32688"/>
          </a:xfrm>
          <a:prstGeom prst="roundRect">
            <a:avLst/>
          </a:prstGeom>
          <a:solidFill>
            <a:srgbClr val="ECF8FA"/>
          </a:solidFill>
          <a:ln w="19050">
            <a:solidFill>
              <a:srgbClr val="EC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97840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0C2231"/>
                </a:solidFill>
              </a:rPr>
              <a:t>Methane Hydrate and the Alaska North Slope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060704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A6E7C"/>
                </a:solidFill>
              </a:rPr>
              <a:t>Source-backed context: what hydrate is, why the region matters, and why P-T conditions vary.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78992"/>
            <a:ext cx="5084064" cy="31729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fied_north_slope_map_crop_slide2_2026_06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88720"/>
            <a:ext cx="4882896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" y="3593592"/>
            <a:ext cx="4608576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Combined 2D North Slope map: geology, public wells, permafrost controls, hydrate AUs, roads/TAPS/fields.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0992" y="1078992"/>
            <a:ext cx="3218688" cy="2505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thane_5ppt_pt_diagram_from_csv_2026_06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88720"/>
            <a:ext cx="2980944" cy="1847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0448" y="3054096"/>
            <a:ext cx="2761488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P-T diagram: pressure, temperature, salinity, and gas mix control admissibility.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62288" y="1078992"/>
            <a:ext cx="2633472" cy="2505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ydrate_structure_i_ii_h_crop_slide2_2026_06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133856"/>
            <a:ext cx="1243584" cy="19202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756648" y="1179576"/>
            <a:ext cx="1664208" cy="658368"/>
          </a:xfrm>
          <a:prstGeom prst="ellipse">
            <a:avLst/>
          </a:prstGeom>
          <a:noFill/>
          <a:ln w="3175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054096"/>
            <a:ext cx="2249424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A768C"/>
                </a:solidFill>
              </a:rPr>
              <a:t>Structure I circled: methane-dominant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407408"/>
            <a:ext cx="5084064" cy="18836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02_selected_06_usgs_arctic_alaska_cross_section_fig2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535424"/>
            <a:ext cx="4809744" cy="1152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" y="5650992"/>
            <a:ext cx="4572000" cy="411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30" b="1">
                <a:solidFill>
                  <a:srgbClr val="0C2231"/>
                </a:solidFill>
              </a:rPr>
              <a:t>Regional cross-section context explains why permafrost, structure, and stability vary across the 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A768C"/>
                </a:solidFill>
              </a:rPr>
              <a:t>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methane-rich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sII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larger gases / mixed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3822191"/>
            <a:ext cx="1536192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3895344"/>
            <a:ext cx="138988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151376"/>
            <a:ext cx="1389888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large hydrocarbon + methane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0" y="3822191"/>
            <a:ext cx="1097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71632" y="3895344"/>
            <a:ext cx="950976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92C37"/>
                </a:solidFill>
              </a:rPr>
              <a:t>noted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4151376"/>
            <a:ext cx="950976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scenario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50992" y="4937760"/>
            <a:ext cx="1947672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5010912"/>
            <a:ext cx="180136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Gas origin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5266944"/>
            <a:ext cx="1801368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biogenic CH4 vs thermogenic C2+ shifts stability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4937760"/>
            <a:ext cx="1947672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9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1801368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59A71"/>
                </a:solidFill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266944"/>
            <a:ext cx="1801368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USGS 2018 mean: about 54 Tcf technically recoverable hydrate gas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0384" y="4937760"/>
            <a:ext cx="1865376" cy="1060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3536" y="5010912"/>
            <a:ext cx="1719072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B92C37"/>
                </a:solidFill>
              </a:rPr>
              <a:t>Guardrail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3536" y="5266944"/>
            <a:ext cx="1719072" cy="6766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50" b="1">
                <a:solidFill>
                  <a:srgbClr val="0C2231"/>
                </a:solidFill>
              </a:rPr>
              <a:t>context only; not proof, saturation, producibility, or 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6547104"/>
            <a:ext cx="75895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5A6E7C"/>
                </a:solidFill>
              </a:rPr>
              <a:t>Slide labels are concise; detailed citations stay in the companion notes.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6528816"/>
            <a:ext cx="248716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50" b="1">
                <a:solidFill>
                  <a:srgbClr val="B92C37"/>
                </a:solidFill>
              </a:rPr>
              <a:t>No hydrate proof. No occurrence/saturation claim.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9363456" y="1901952"/>
            <a:ext cx="585216" cy="1115568"/>
          </a:xfrm>
          <a:prstGeom prst="line">
            <a:avLst/>
          </a:prstGeom>
          <a:ln w="19050">
            <a:solidFill>
              <a:srgbClr val="0A7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