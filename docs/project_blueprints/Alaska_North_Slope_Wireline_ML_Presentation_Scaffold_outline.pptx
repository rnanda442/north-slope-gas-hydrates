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DB2D522-C512-468E-A0B4-9A256ECAE5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pill">
            <a:extLst>
              <a:ext uri="{FF2B5EF4-FFF2-40B4-BE49-F238E27FC236}">
                <a16:creationId xmlns:a16="http://schemas.microsoft.com/office/drawing/2014/main" id="{CF7B7D9E-2729-442D-AD9E-E3B3BC82ED65}"/>
              </a:ext>
            </a:extLst>
          </p:cNvPr>
          <p:cNvSpPr>
            <a:spLocks noGrp="1"/>
          </p:cNvSpPr>
          <p:nvPr/>
        </p:nvSpPr>
        <p:spPr>
          <a:xfrm>
            <a:off x="571500" y="523875"/>
            <a:ext cx="2524125" cy="23812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B2A41-9153-471C-A67B-AC60592CD8A0}"/>
              </a:ext>
            </a:extLst>
          </p:cNvPr>
          <p:cNvSpPr>
            <a:spLocks noGrp="1"/>
          </p:cNvSpPr>
          <p:nvPr/>
        </p:nvSpPr>
        <p:spPr>
          <a:xfrm>
            <a:off x="666750" y="571500"/>
            <a:ext cx="23336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DOE FELLOWSHIP RESEARCH SCAFFOLD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4F5BF-0CAC-4198-B4DE-7EF0C7338875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7810500" cy="1476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Alaska North Slope</a:t>
            </a:r>
          </a:p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Gas Hydrate Wireline ML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1C229-DA2E-46C1-B953-5ABF49308676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752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9B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BD2D6"/>
                </a:solidFill>
                <a:latin typeface="Aptos"/>
                <a:ea typeface="Aptos"/>
                <a:cs typeface="Aptos"/>
              </a:rPr>
              <a:t>From approved log measurements to auditable interval decisions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05AB1-0CC0-4D28-9887-F26A6BA2CD5C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8810625" cy="190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A603C-672F-4AB2-8345-29F2F64ED228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1066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environment  -&gt;  tectonics  -&gt;  deposition  -&gt;  reservoir  -&gt;  physics  -&gt;  logs  -&gt;  interpretation  -&gt;  ML  -&gt;  exploitation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BD07B-9D46-4854-A030-DDACFBA8A253}"/>
              </a:ext>
            </a:extLst>
          </p:cNvPr>
          <p:cNvSpPr>
            <a:spLocks noGrp="1"/>
          </p:cNvSpPr>
          <p:nvPr/>
        </p:nvSpPr>
        <p:spPr>
          <a:xfrm>
            <a:off x="590550" y="4629150"/>
            <a:ext cx="3333750" cy="112395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3C841E-7794-4587-AD7E-F243F13ACA15}"/>
              </a:ext>
            </a:extLst>
          </p:cNvPr>
          <p:cNvSpPr>
            <a:spLocks noGrp="1"/>
          </p:cNvSpPr>
          <p:nvPr/>
        </p:nvSpPr>
        <p:spPr>
          <a:xfrm>
            <a:off x="590550" y="4629150"/>
            <a:ext cx="57150" cy="11239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4567DE-883D-4C79-9B32-12A2B3A7A91E}"/>
              </a:ext>
            </a:extLst>
          </p:cNvPr>
          <p:cNvSpPr>
            <a:spLocks noGrp="1"/>
          </p:cNvSpPr>
          <p:nvPr/>
        </p:nvSpPr>
        <p:spPr>
          <a:xfrm>
            <a:off x="762000" y="4781550"/>
            <a:ext cx="30099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Planning 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93B7A6-775B-4BDE-B1F1-E8EA7F2330AD}"/>
              </a:ext>
            </a:extLst>
          </p:cNvPr>
          <p:cNvSpPr>
            <a:spLocks noGrp="1"/>
          </p:cNvSpPr>
          <p:nvPr/>
        </p:nvSpPr>
        <p:spPr>
          <a:xfrm>
            <a:off x="762000" y="5114925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Build the model structure now so approved wireline data can be analyzed later inside the authorized environment.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234444-617B-4179-AF89-5C32049EB066}"/>
              </a:ext>
            </a:extLst>
          </p:cNvPr>
          <p:cNvSpPr>
            <a:spLocks noGrp="1"/>
          </p:cNvSpPr>
          <p:nvPr/>
        </p:nvSpPr>
        <p:spPr>
          <a:xfrm>
            <a:off x="4229100" y="4629150"/>
            <a:ext cx="3333750" cy="112395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579EF6-9BFA-42B4-B847-4EAB7FA9418C}"/>
              </a:ext>
            </a:extLst>
          </p:cNvPr>
          <p:cNvSpPr>
            <a:spLocks noGrp="1"/>
          </p:cNvSpPr>
          <p:nvPr/>
        </p:nvSpPr>
        <p:spPr>
          <a:xfrm>
            <a:off x="4229100" y="4629150"/>
            <a:ext cx="57150" cy="1123950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9FFA4D-2FD6-4461-A358-AB21CD02FF0C}"/>
              </a:ext>
            </a:extLst>
          </p:cNvPr>
          <p:cNvSpPr>
            <a:spLocks noGrp="1"/>
          </p:cNvSpPr>
          <p:nvPr/>
        </p:nvSpPr>
        <p:spPr>
          <a:xfrm>
            <a:off x="4400550" y="4781550"/>
            <a:ext cx="30099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Scientific discipline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D8095-8463-44C0-841F-816B65D984FA}"/>
              </a:ext>
            </a:extLst>
          </p:cNvPr>
          <p:cNvSpPr>
            <a:spLocks noGrp="1"/>
          </p:cNvSpPr>
          <p:nvPr/>
        </p:nvSpPr>
        <p:spPr>
          <a:xfrm>
            <a:off x="4400550" y="5114925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Keep hydrate admissibility, occurrence, saturation, and producibility as separate outputs.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67BB78-BEAF-4813-98A6-E2939F5D80AD}"/>
              </a:ext>
            </a:extLst>
          </p:cNvPr>
          <p:cNvSpPr>
            <a:spLocks noGrp="1"/>
          </p:cNvSpPr>
          <p:nvPr/>
        </p:nvSpPr>
        <p:spPr>
          <a:xfrm>
            <a:off x="7867650" y="4629150"/>
            <a:ext cx="3333750" cy="112395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C89DC8-FB58-4EBE-99D9-C443BEF7108B}"/>
              </a:ext>
            </a:extLst>
          </p:cNvPr>
          <p:cNvSpPr>
            <a:spLocks noGrp="1"/>
          </p:cNvSpPr>
          <p:nvPr/>
        </p:nvSpPr>
        <p:spPr>
          <a:xfrm>
            <a:off x="7867650" y="4629150"/>
            <a:ext cx="57150" cy="1123950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4BD701-3122-47CB-9D2C-F3377B55A361}"/>
              </a:ext>
            </a:extLst>
          </p:cNvPr>
          <p:cNvSpPr>
            <a:spLocks noGrp="1"/>
          </p:cNvSpPr>
          <p:nvPr/>
        </p:nvSpPr>
        <p:spPr>
          <a:xfrm>
            <a:off x="8039100" y="4781550"/>
            <a:ext cx="30099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Boundary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A9FE83-B018-4041-A34D-E980EABF91DD}"/>
              </a:ext>
            </a:extLst>
          </p:cNvPr>
          <p:cNvSpPr>
            <a:spLocks noGrp="1"/>
          </p:cNvSpPr>
          <p:nvPr/>
        </p:nvSpPr>
        <p:spPr>
          <a:xfrm>
            <a:off x="8039100" y="5114925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No restricted inputs, identifiers, or derived sensitive results belong in this scaffold or hosted atlas.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7906B7-F17A-4AC1-8ADD-C299E74603DC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F0089F-F49B-4890-BC8D-711E6759B51C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46B7F2-D718-483A-BA5C-10BEF3958CF2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7660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AA143C5-1559-477D-8D87-82AF056AF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DD84A8-9527-417F-82B7-04ADBD2696F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DECISION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9B9CAA-5957-4E47-8F6A-0B4875DD3B58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AE5040-C04F-4328-9EA5-3DD8D9142C72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Hydrate detection is four linked decisions, not one binary label.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9C1A7-8D3F-4032-84A4-A444A4069CE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Each decision needs different evidence and a different failure check.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E57F89-A0E7-4ACF-B598-A52FF709C525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E826-87BC-4EC5-94ED-1E83A6EA5A3C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2EFA64-AE17-47AA-BD2E-81141647F7D2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B0459-966C-489E-96EA-D1B2D06912F1}"/>
              </a:ext>
            </a:extLst>
          </p:cNvPr>
          <p:cNvSpPr>
            <a:spLocks noGrp="1"/>
          </p:cNvSpPr>
          <p:nvPr/>
        </p:nvSpPr>
        <p:spPr>
          <a:xfrm>
            <a:off x="600075" y="2238375"/>
            <a:ext cx="49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634FCF-997C-449B-BB74-1B4BFE4F873B}"/>
              </a:ext>
            </a:extLst>
          </p:cNvPr>
          <p:cNvSpPr>
            <a:spLocks noGrp="1"/>
          </p:cNvSpPr>
          <p:nvPr/>
        </p:nvSpPr>
        <p:spPr>
          <a:xfrm>
            <a:off x="600075" y="2686050"/>
            <a:ext cx="22860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F1CDB-DE6E-4C0F-8EE8-18E96F71E783}"/>
              </a:ext>
            </a:extLst>
          </p:cNvPr>
          <p:cNvSpPr>
            <a:spLocks noGrp="1"/>
          </p:cNvSpPr>
          <p:nvPr/>
        </p:nvSpPr>
        <p:spPr>
          <a:xfrm>
            <a:off x="600075" y="2905125"/>
            <a:ext cx="2428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Admissibility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23B93-8E71-4394-BD4F-F22861E04B98}"/>
              </a:ext>
            </a:extLst>
          </p:cNvPr>
          <p:cNvSpPr>
            <a:spLocks noGrp="1"/>
          </p:cNvSpPr>
          <p:nvPr/>
        </p:nvSpPr>
        <p:spPr>
          <a:xfrm>
            <a:off x="600075" y="3324225"/>
            <a:ext cx="23812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2E1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2E1E2"/>
                </a:solidFill>
                <a:latin typeface="Aptos"/>
                <a:ea typeface="Aptos"/>
                <a:cs typeface="Aptos"/>
              </a:rPr>
              <a:t>Can hydrate physically exist here?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731F0-FCEE-459D-852C-553C9882C7F6}"/>
              </a:ext>
            </a:extLst>
          </p:cNvPr>
          <p:cNvSpPr>
            <a:spLocks noGrp="1"/>
          </p:cNvSpPr>
          <p:nvPr/>
        </p:nvSpPr>
        <p:spPr>
          <a:xfrm>
            <a:off x="600075" y="424815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P-T and depth context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B85282-CB0F-4646-8299-993AFB886903}"/>
              </a:ext>
            </a:extLst>
          </p:cNvPr>
          <p:cNvSpPr>
            <a:spLocks noGrp="1"/>
          </p:cNvSpPr>
          <p:nvPr/>
        </p:nvSpPr>
        <p:spPr>
          <a:xfrm>
            <a:off x="3438525" y="2238375"/>
            <a:ext cx="49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C5FCF5-2381-44D2-835C-A35C011D9879}"/>
              </a:ext>
            </a:extLst>
          </p:cNvPr>
          <p:cNvSpPr>
            <a:spLocks noGrp="1"/>
          </p:cNvSpPr>
          <p:nvPr/>
        </p:nvSpPr>
        <p:spPr>
          <a:xfrm>
            <a:off x="3438525" y="2686050"/>
            <a:ext cx="22860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A53FE0-7828-49D7-B2E9-BEDAB8D08854}"/>
              </a:ext>
            </a:extLst>
          </p:cNvPr>
          <p:cNvSpPr>
            <a:spLocks noGrp="1"/>
          </p:cNvSpPr>
          <p:nvPr/>
        </p:nvSpPr>
        <p:spPr>
          <a:xfrm>
            <a:off x="3438525" y="2905125"/>
            <a:ext cx="2428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Occurrence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51EFF-519E-4E7E-A6A6-DB2A4D8DA539}"/>
              </a:ext>
            </a:extLst>
          </p:cNvPr>
          <p:cNvSpPr>
            <a:spLocks noGrp="1"/>
          </p:cNvSpPr>
          <p:nvPr/>
        </p:nvSpPr>
        <p:spPr>
          <a:xfrm>
            <a:off x="3438525" y="3324225"/>
            <a:ext cx="23812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2E1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2E1E2"/>
                </a:solidFill>
                <a:latin typeface="Aptos"/>
                <a:ea typeface="Aptos"/>
                <a:cs typeface="Aptos"/>
              </a:rPr>
              <a:t>Do the logs support hydrate-bearing reservoir?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156D6E-3262-4EDA-A669-744E78D9A382}"/>
              </a:ext>
            </a:extLst>
          </p:cNvPr>
          <p:cNvSpPr>
            <a:spLocks noGrp="1"/>
          </p:cNvSpPr>
          <p:nvPr/>
        </p:nvSpPr>
        <p:spPr>
          <a:xfrm>
            <a:off x="3438525" y="424815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Multi-log phase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B144D2-4C29-4ACB-A42F-E02E36249A76}"/>
              </a:ext>
            </a:extLst>
          </p:cNvPr>
          <p:cNvSpPr>
            <a:spLocks noGrp="1"/>
          </p:cNvSpPr>
          <p:nvPr/>
        </p:nvSpPr>
        <p:spPr>
          <a:xfrm>
            <a:off x="6276975" y="2238375"/>
            <a:ext cx="49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F3FE3E-E15F-4D45-BBB2-992F36243DE5}"/>
              </a:ext>
            </a:extLst>
          </p:cNvPr>
          <p:cNvSpPr>
            <a:spLocks noGrp="1"/>
          </p:cNvSpPr>
          <p:nvPr/>
        </p:nvSpPr>
        <p:spPr>
          <a:xfrm>
            <a:off x="6276975" y="2686050"/>
            <a:ext cx="22860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34A5D5-EFA2-46AB-84A1-1FE94CC3C584}"/>
              </a:ext>
            </a:extLst>
          </p:cNvPr>
          <p:cNvSpPr>
            <a:spLocks noGrp="1"/>
          </p:cNvSpPr>
          <p:nvPr/>
        </p:nvSpPr>
        <p:spPr>
          <a:xfrm>
            <a:off x="6276975" y="2905125"/>
            <a:ext cx="2428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Saturation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4B974D-E532-48B9-B73B-068FBADE39B5}"/>
              </a:ext>
            </a:extLst>
          </p:cNvPr>
          <p:cNvSpPr>
            <a:spLocks noGrp="1"/>
          </p:cNvSpPr>
          <p:nvPr/>
        </p:nvSpPr>
        <p:spPr>
          <a:xfrm>
            <a:off x="6276975" y="3324225"/>
            <a:ext cx="23812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2E1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2E1E2"/>
                </a:solidFill>
                <a:latin typeface="Aptos"/>
                <a:ea typeface="Aptos"/>
                <a:cs typeface="Aptos"/>
              </a:rPr>
              <a:t>How much pore space may be occupied?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8386DF-D551-4156-951C-AC0C727D80AF}"/>
              </a:ext>
            </a:extLst>
          </p:cNvPr>
          <p:cNvSpPr>
            <a:spLocks noGrp="1"/>
          </p:cNvSpPr>
          <p:nvPr/>
        </p:nvSpPr>
        <p:spPr>
          <a:xfrm>
            <a:off x="6276975" y="424815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NMR-density and Archie cross-checks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C80D32-13AE-4E3A-ACDF-64084A4CA300}"/>
              </a:ext>
            </a:extLst>
          </p:cNvPr>
          <p:cNvSpPr>
            <a:spLocks noGrp="1"/>
          </p:cNvSpPr>
          <p:nvPr/>
        </p:nvSpPr>
        <p:spPr>
          <a:xfrm>
            <a:off x="9115425" y="2238375"/>
            <a:ext cx="49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697C88-6EE2-471C-9FF7-BEA5DA1FCBCE}"/>
              </a:ext>
            </a:extLst>
          </p:cNvPr>
          <p:cNvSpPr>
            <a:spLocks noGrp="1"/>
          </p:cNvSpPr>
          <p:nvPr/>
        </p:nvSpPr>
        <p:spPr>
          <a:xfrm>
            <a:off x="9115425" y="2686050"/>
            <a:ext cx="22860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3387FF-3C5A-4B63-B00D-081E464E0E14}"/>
              </a:ext>
            </a:extLst>
          </p:cNvPr>
          <p:cNvSpPr>
            <a:spLocks noGrp="1"/>
          </p:cNvSpPr>
          <p:nvPr/>
        </p:nvSpPr>
        <p:spPr>
          <a:xfrm>
            <a:off x="9115425" y="2905125"/>
            <a:ext cx="2428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Producibility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EEC89B-925D-41EC-AE5F-D937E6CB58BB}"/>
              </a:ext>
            </a:extLst>
          </p:cNvPr>
          <p:cNvSpPr>
            <a:spLocks noGrp="1"/>
          </p:cNvSpPr>
          <p:nvPr/>
        </p:nvSpPr>
        <p:spPr>
          <a:xfrm>
            <a:off x="9115425" y="3324225"/>
            <a:ext cx="23812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2E1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2E1E2"/>
                </a:solidFill>
                <a:latin typeface="Aptos"/>
                <a:ea typeface="Aptos"/>
                <a:cs typeface="Aptos"/>
              </a:rPr>
              <a:t>Is there plausible retained flow and communication?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C95FF8-9166-4B09-A45C-6545F42A60D0}"/>
              </a:ext>
            </a:extLst>
          </p:cNvPr>
          <p:cNvSpPr>
            <a:spLocks noGrp="1"/>
          </p:cNvSpPr>
          <p:nvPr/>
        </p:nvSpPr>
        <p:spPr>
          <a:xfrm>
            <a:off x="9115425" y="424815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Permeability, continuity, mechanics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D5277C-24E7-46EE-918A-71E39B01F4D7}"/>
              </a:ext>
            </a:extLst>
          </p:cNvPr>
          <p:cNvSpPr>
            <a:spLocks noGrp="1"/>
          </p:cNvSpPr>
          <p:nvPr/>
        </p:nvSpPr>
        <p:spPr>
          <a:xfrm>
            <a:off x="600075" y="5534025"/>
            <a:ext cx="1047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model may abstain when evidence is incomplete or contradictory.</a:t>
            </a:r>
          </a:p>
        </p:txBody>
      </p:sp>
    </p:spTree>
    <p:extLst>
      <p:ext uri="{BB962C8B-B14F-4D97-AF65-F5344CB8AC3E}">
        <p14:creationId xmlns:p14="http://schemas.microsoft.com/office/powerpoint/2010/main" val="76533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31FB30A-3494-474C-AD83-4F319EEA45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B94B66-18F7-4D19-BD13-2FBF12562D1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RUNTIME CONTRACT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66525-0229-4F74-BAF8-006DCA7A2DAE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61319D-0F5F-4B3F-A1A8-F1EE1BF09A1B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approved-data workflow is wireline-centered and tool-aware.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8FEAD8-E72B-4C0C-8D78-ADF681B46407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Curve aliases remain configurable because mnemonics and coverage will vary by well.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773A5-B8C3-4575-B8C5-5A8F188815C9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4ECC54-0F53-4710-B1C4-7A8D7DBF63B8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E28BF-EEFA-4E67-AA55-796E2A2D13C2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7DA65F-4BB5-4936-A06C-7BC6C42F4BCA}"/>
              </a:ext>
            </a:extLst>
          </p:cNvPr>
          <p:cNvSpPr>
            <a:spLocks noGrp="1"/>
          </p:cNvSpPr>
          <p:nvPr/>
        </p:nvSpPr>
        <p:spPr>
          <a:xfrm>
            <a:off x="590550" y="2114550"/>
            <a:ext cx="3333750" cy="3476625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ill">
            <a:extLst>
              <a:ext uri="{FF2B5EF4-FFF2-40B4-BE49-F238E27FC236}">
                <a16:creationId xmlns:a16="http://schemas.microsoft.com/office/drawing/2014/main" id="{CE68F0EA-DCBB-4934-80EE-5CF9485BDE56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1952625" cy="238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807CF-BDB6-448C-8C0A-5EEA23AED053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1762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REQUIRED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850EAE-FCC7-4F35-A38D-94E04D26F38D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17145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171A1-AE8E-43D6-ACEF-E6040C17EC77}"/>
              </a:ext>
            </a:extLst>
          </p:cNvPr>
          <p:cNvSpPr>
            <a:spLocks noGrp="1"/>
          </p:cNvSpPr>
          <p:nvPr/>
        </p:nvSpPr>
        <p:spPr>
          <a:xfrm>
            <a:off x="1114425" y="28384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rPr>
              <a:t>Depth index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C4896E-C1EC-4F38-B11A-B0E5D38FF239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7145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9F36D8-D742-4D01-B263-AB4045C36D73}"/>
              </a:ext>
            </a:extLst>
          </p:cNvPr>
          <p:cNvSpPr>
            <a:spLocks noGrp="1"/>
          </p:cNvSpPr>
          <p:nvPr/>
        </p:nvSpPr>
        <p:spPr>
          <a:xfrm>
            <a:off x="1114425" y="32956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rPr>
              <a:t>Gamma ray  GR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1EE10C-9BC4-40E2-A6E9-AC49409C89F7}"/>
              </a:ext>
            </a:extLst>
          </p:cNvPr>
          <p:cNvSpPr>
            <a:spLocks noGrp="1"/>
          </p:cNvSpPr>
          <p:nvPr/>
        </p:nvSpPr>
        <p:spPr>
          <a:xfrm>
            <a:off x="800100" y="3867150"/>
            <a:ext cx="17145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1DDE24-C497-47CA-B66E-311D24005233}"/>
              </a:ext>
            </a:extLst>
          </p:cNvPr>
          <p:cNvSpPr>
            <a:spLocks noGrp="1"/>
          </p:cNvSpPr>
          <p:nvPr/>
        </p:nvSpPr>
        <p:spPr>
          <a:xfrm>
            <a:off x="1114425" y="37528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Density  RHOB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8DB04F-6630-472B-AA80-D5DFED485259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17145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7D7EF8-AF7D-4EEE-BE59-ECF1770C71D5}"/>
              </a:ext>
            </a:extLst>
          </p:cNvPr>
          <p:cNvSpPr>
            <a:spLocks noGrp="1"/>
          </p:cNvSpPr>
          <p:nvPr/>
        </p:nvSpPr>
        <p:spPr>
          <a:xfrm>
            <a:off x="1114425" y="42100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Compressional sonic  DT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BD1E05-0FFD-4AA2-8D7F-04D9CE3EE860}"/>
              </a:ext>
            </a:extLst>
          </p:cNvPr>
          <p:cNvSpPr>
            <a:spLocks noGrp="1"/>
          </p:cNvSpPr>
          <p:nvPr/>
        </p:nvSpPr>
        <p:spPr>
          <a:xfrm>
            <a:off x="800100" y="4781550"/>
            <a:ext cx="17145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371BE3-0CFD-4FE4-8536-C6BA0D61FA82}"/>
              </a:ext>
            </a:extLst>
          </p:cNvPr>
          <p:cNvSpPr>
            <a:spLocks noGrp="1"/>
          </p:cNvSpPr>
          <p:nvPr/>
        </p:nvSpPr>
        <p:spPr>
          <a:xfrm>
            <a:off x="1114425" y="46672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Resistivity  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D768F2-1802-4948-85B5-03F8A97F50ED}"/>
              </a:ext>
            </a:extLst>
          </p:cNvPr>
          <p:cNvSpPr>
            <a:spLocks noGrp="1"/>
          </p:cNvSpPr>
          <p:nvPr/>
        </p:nvSpPr>
        <p:spPr>
          <a:xfrm>
            <a:off x="4362450" y="2114550"/>
            <a:ext cx="3333750" cy="3476625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ill">
            <a:extLst>
              <a:ext uri="{FF2B5EF4-FFF2-40B4-BE49-F238E27FC236}">
                <a16:creationId xmlns:a16="http://schemas.microsoft.com/office/drawing/2014/main" id="{0B6B0BE0-0865-4CDE-80E5-15EB7FFDC96C}"/>
              </a:ext>
            </a:extLst>
          </p:cNvPr>
          <p:cNvSpPr>
            <a:spLocks noGrp="1"/>
          </p:cNvSpPr>
          <p:nvPr/>
        </p:nvSpPr>
        <p:spPr>
          <a:xfrm>
            <a:off x="4552950" y="2333625"/>
            <a:ext cx="1952625" cy="23812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0A4F8C-4BD8-4BBA-98B5-57CE848007D7}"/>
              </a:ext>
            </a:extLst>
          </p:cNvPr>
          <p:cNvSpPr>
            <a:spLocks noGrp="1"/>
          </p:cNvSpPr>
          <p:nvPr/>
        </p:nvSpPr>
        <p:spPr>
          <a:xfrm>
            <a:off x="4648200" y="2381250"/>
            <a:ext cx="1762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STRONGLY PREFERRED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292F58-DD88-477B-AC65-6421CA895489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1714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8D51E8-EA6A-476F-AD8E-91D81C6BC236}"/>
              </a:ext>
            </a:extLst>
          </p:cNvPr>
          <p:cNvSpPr>
            <a:spLocks noGrp="1"/>
          </p:cNvSpPr>
          <p:nvPr/>
        </p:nvSpPr>
        <p:spPr>
          <a:xfrm>
            <a:off x="4886325" y="28384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rPr>
              <a:t>Shear sonic  DTS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43083C-197D-4E80-B195-51EF67167450}"/>
              </a:ext>
            </a:extLst>
          </p:cNvPr>
          <p:cNvSpPr>
            <a:spLocks noGrp="1"/>
          </p:cNvSpPr>
          <p:nvPr/>
        </p:nvSpPr>
        <p:spPr>
          <a:xfrm>
            <a:off x="4572000" y="3409950"/>
            <a:ext cx="1714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AFF676-113C-42DE-B48B-A22651AF5ADF}"/>
              </a:ext>
            </a:extLst>
          </p:cNvPr>
          <p:cNvSpPr>
            <a:spLocks noGrp="1"/>
          </p:cNvSpPr>
          <p:nvPr/>
        </p:nvSpPr>
        <p:spPr>
          <a:xfrm>
            <a:off x="4886325" y="32956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rPr>
              <a:t>Porosity curves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E68A16-B42A-4B7D-9CE3-18305A430B27}"/>
              </a:ext>
            </a:extLst>
          </p:cNvPr>
          <p:cNvSpPr>
            <a:spLocks noGrp="1"/>
          </p:cNvSpPr>
          <p:nvPr/>
        </p:nvSpPr>
        <p:spPr>
          <a:xfrm>
            <a:off x="4572000" y="3867150"/>
            <a:ext cx="1714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5D7D51-4D96-4AD8-AE9F-3DD76F6ACCA9}"/>
              </a:ext>
            </a:extLst>
          </p:cNvPr>
          <p:cNvSpPr>
            <a:spLocks noGrp="1"/>
          </p:cNvSpPr>
          <p:nvPr/>
        </p:nvSpPr>
        <p:spPr>
          <a:xfrm>
            <a:off x="4886325" y="37528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Caliper / bad-hole QC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367EFB-5BBE-4B30-9366-F901DCCF862B}"/>
              </a:ext>
            </a:extLst>
          </p:cNvPr>
          <p:cNvSpPr>
            <a:spLocks noGrp="1"/>
          </p:cNvSpPr>
          <p:nvPr/>
        </p:nvSpPr>
        <p:spPr>
          <a:xfrm>
            <a:off x="4572000" y="4324350"/>
            <a:ext cx="1714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C44683-2A7E-4457-A9DB-5AC128BA67B3}"/>
              </a:ext>
            </a:extLst>
          </p:cNvPr>
          <p:cNvSpPr>
            <a:spLocks noGrp="1"/>
          </p:cNvSpPr>
          <p:nvPr/>
        </p:nvSpPr>
        <p:spPr>
          <a:xfrm>
            <a:off x="4886325" y="42100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Local P-T context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2A2193-1731-404A-A6CF-662B8EA68EC9}"/>
              </a:ext>
            </a:extLst>
          </p:cNvPr>
          <p:cNvSpPr>
            <a:spLocks noGrp="1"/>
          </p:cNvSpPr>
          <p:nvPr/>
        </p:nvSpPr>
        <p:spPr>
          <a:xfrm>
            <a:off x="8134350" y="2114550"/>
            <a:ext cx="3333750" cy="3476625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pill">
            <a:extLst>
              <a:ext uri="{FF2B5EF4-FFF2-40B4-BE49-F238E27FC236}">
                <a16:creationId xmlns:a16="http://schemas.microsoft.com/office/drawing/2014/main" id="{8AD6BF9E-F02C-4AF1-8F68-1E56C4E386D4}"/>
              </a:ext>
            </a:extLst>
          </p:cNvPr>
          <p:cNvSpPr>
            <a:spLocks noGrp="1"/>
          </p:cNvSpPr>
          <p:nvPr/>
        </p:nvSpPr>
        <p:spPr>
          <a:xfrm>
            <a:off x="8324850" y="2333625"/>
            <a:ext cx="1952625" cy="23812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31A0C7-4A44-4598-86E0-22E20A968684}"/>
              </a:ext>
            </a:extLst>
          </p:cNvPr>
          <p:cNvSpPr>
            <a:spLocks noGrp="1"/>
          </p:cNvSpPr>
          <p:nvPr/>
        </p:nvSpPr>
        <p:spPr>
          <a:xfrm>
            <a:off x="8420100" y="2381250"/>
            <a:ext cx="1762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OPTIONAL ENHANCEMENT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98668F-7069-4A09-B933-BCBDDF355A02}"/>
              </a:ext>
            </a:extLst>
          </p:cNvPr>
          <p:cNvSpPr>
            <a:spLocks noGrp="1"/>
          </p:cNvSpPr>
          <p:nvPr/>
        </p:nvSpPr>
        <p:spPr>
          <a:xfrm>
            <a:off x="8343900" y="2952750"/>
            <a:ext cx="17145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FEEEDB-F1C4-4BCD-AEA1-CB0BD48016C3}"/>
              </a:ext>
            </a:extLst>
          </p:cNvPr>
          <p:cNvSpPr>
            <a:spLocks noGrp="1"/>
          </p:cNvSpPr>
          <p:nvPr/>
        </p:nvSpPr>
        <p:spPr>
          <a:xfrm>
            <a:off x="8658225" y="28384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rPr>
              <a:t>NMR porosity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009739-887E-4095-8B76-8959ED307B77}"/>
              </a:ext>
            </a:extLst>
          </p:cNvPr>
          <p:cNvSpPr>
            <a:spLocks noGrp="1"/>
          </p:cNvSpPr>
          <p:nvPr/>
        </p:nvSpPr>
        <p:spPr>
          <a:xfrm>
            <a:off x="8343900" y="3409950"/>
            <a:ext cx="17145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B39CA1-90F5-4ABE-B98A-687505DA3C96}"/>
              </a:ext>
            </a:extLst>
          </p:cNvPr>
          <p:cNvSpPr>
            <a:spLocks noGrp="1"/>
          </p:cNvSpPr>
          <p:nvPr/>
        </p:nvSpPr>
        <p:spPr>
          <a:xfrm>
            <a:off x="8658225" y="32956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323F"/>
                </a:solidFill>
                <a:latin typeface="Aptos Display"/>
                <a:ea typeface="Aptos Display"/>
                <a:cs typeface="Aptos Display"/>
              </a:rPr>
              <a:t>Pressure-core labels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BA716A-8E7D-450D-AD1C-153D3B3B199F}"/>
              </a:ext>
            </a:extLst>
          </p:cNvPr>
          <p:cNvSpPr>
            <a:spLocks noGrp="1"/>
          </p:cNvSpPr>
          <p:nvPr/>
        </p:nvSpPr>
        <p:spPr>
          <a:xfrm>
            <a:off x="8343900" y="3867150"/>
            <a:ext cx="17145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BE3C44-1FDC-477F-9A29-8A00C428BB37}"/>
              </a:ext>
            </a:extLst>
          </p:cNvPr>
          <p:cNvSpPr>
            <a:spLocks noGrp="1"/>
          </p:cNvSpPr>
          <p:nvPr/>
        </p:nvSpPr>
        <p:spPr>
          <a:xfrm>
            <a:off x="8658225" y="37528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Image-log review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1B1E18-9669-445A-B3E2-B5811AD83B3D}"/>
              </a:ext>
            </a:extLst>
          </p:cNvPr>
          <p:cNvSpPr>
            <a:spLocks noGrp="1"/>
          </p:cNvSpPr>
          <p:nvPr/>
        </p:nvSpPr>
        <p:spPr>
          <a:xfrm>
            <a:off x="8343900" y="4324350"/>
            <a:ext cx="17145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30BB93-A400-42AF-B036-11459DFD58E1}"/>
              </a:ext>
            </a:extLst>
          </p:cNvPr>
          <p:cNvSpPr>
            <a:spLocks noGrp="1"/>
          </p:cNvSpPr>
          <p:nvPr/>
        </p:nvSpPr>
        <p:spPr>
          <a:xfrm>
            <a:off x="8658225" y="421005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Mapped structure flags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357324-EA38-4C1B-B5BC-DADEA8B1B719}"/>
              </a:ext>
            </a:extLst>
          </p:cNvPr>
          <p:cNvSpPr>
            <a:spLocks noGrp="1"/>
          </p:cNvSpPr>
          <p:nvPr/>
        </p:nvSpPr>
        <p:spPr>
          <a:xfrm>
            <a:off x="590550" y="5886450"/>
            <a:ext cx="10668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Runtime-only: approved files, identifiers, curve inventory, and predictions stay inside the authorized environment.</a:t>
            </a:r>
          </a:p>
        </p:txBody>
      </p:sp>
    </p:spTree>
    <p:extLst>
      <p:ext uri="{BB962C8B-B14F-4D97-AF65-F5344CB8AC3E}">
        <p14:creationId xmlns:p14="http://schemas.microsoft.com/office/powerpoint/2010/main" val="62604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EF5F914-034A-410E-814A-844DCFA8A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736A90-ACC1-4458-9506-5292312192C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FEATURE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F1DF1D-81E3-4C79-8103-0AB0B5DE5082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01ED0-542C-434C-A299-196D61A5B496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Physics transforms measurements into interpretable model evidence.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7BB549-1F06-4832-B1F3-A1B60CEF68E2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The workflow stays auditable because every feature family answers a physical question.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FCA757-70F7-4DFC-9AA5-EE3CD40D1B6D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0A2813-23A4-497B-A3C0-7B9382DEEA26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FE718-E571-49E1-A735-2A532169F23A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021AD-7823-4E4A-BB41-1F97C4ED20B0}"/>
              </a:ext>
            </a:extLst>
          </p:cNvPr>
          <p:cNvSpPr>
            <a:spLocks noGrp="1"/>
          </p:cNvSpPr>
          <p:nvPr/>
        </p:nvSpPr>
        <p:spPr>
          <a:xfrm>
            <a:off x="552450" y="2552700"/>
            <a:ext cx="1905000" cy="1381125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75D3DE-64F8-4A59-B3D3-94F70020F668}"/>
              </a:ext>
            </a:extLst>
          </p:cNvPr>
          <p:cNvSpPr>
            <a:spLocks noGrp="1"/>
          </p:cNvSpPr>
          <p:nvPr/>
        </p:nvSpPr>
        <p:spPr>
          <a:xfrm>
            <a:off x="552450" y="2552700"/>
            <a:ext cx="66675" cy="138112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DE991C-AC8A-4A98-A601-E2691D61276E}"/>
              </a:ext>
            </a:extLst>
          </p:cNvPr>
          <p:cNvSpPr>
            <a:spLocks noGrp="1"/>
          </p:cNvSpPr>
          <p:nvPr/>
        </p:nvSpPr>
        <p:spPr>
          <a:xfrm>
            <a:off x="714375" y="26765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RAW LOGS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ED4E35-09C3-49F7-8F35-D0E25D690880}"/>
              </a:ext>
            </a:extLst>
          </p:cNvPr>
          <p:cNvSpPr>
            <a:spLocks noGrp="1"/>
          </p:cNvSpPr>
          <p:nvPr/>
        </p:nvSpPr>
        <p:spPr>
          <a:xfrm>
            <a:off x="714375" y="2971800"/>
            <a:ext cx="1619250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GR  RHOB  DT  DTS  Rt  NMR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33FE8-AA64-4AF3-B9E1-5A959FFF8C40}"/>
              </a:ext>
            </a:extLst>
          </p:cNvPr>
          <p:cNvSpPr>
            <a:spLocks noGrp="1"/>
          </p:cNvSpPr>
          <p:nvPr/>
        </p:nvSpPr>
        <p:spPr>
          <a:xfrm>
            <a:off x="2466975" y="3219450"/>
            <a:ext cx="228600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E18426-0968-4042-AFFA-D8A8A69810D9}"/>
              </a:ext>
            </a:extLst>
          </p:cNvPr>
          <p:cNvSpPr>
            <a:spLocks noGrp="1"/>
          </p:cNvSpPr>
          <p:nvPr/>
        </p:nvSpPr>
        <p:spPr>
          <a:xfrm>
            <a:off x="2676525" y="3171825"/>
            <a:ext cx="114300" cy="1333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BFABD4-33B7-4EC7-8ED2-CF75821A6AD6}"/>
              </a:ext>
            </a:extLst>
          </p:cNvPr>
          <p:cNvSpPr>
            <a:spLocks noGrp="1"/>
          </p:cNvSpPr>
          <p:nvPr/>
        </p:nvSpPr>
        <p:spPr>
          <a:xfrm>
            <a:off x="2867025" y="2552700"/>
            <a:ext cx="1905000" cy="1381125"/>
          </a:xfrm>
          <a:prstGeom prst="rect">
            <a:avLst/>
          </a:prstGeom>
          <a:solidFill>
            <a:srgbClr val="E9F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233F8-8139-4815-A1C9-01355BDFE1DA}"/>
              </a:ext>
            </a:extLst>
          </p:cNvPr>
          <p:cNvSpPr>
            <a:spLocks noGrp="1"/>
          </p:cNvSpPr>
          <p:nvPr/>
        </p:nvSpPr>
        <p:spPr>
          <a:xfrm>
            <a:off x="2867025" y="2552700"/>
            <a:ext cx="66675" cy="1381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FC7AC9-F284-4352-8FC5-A57DB94F54A9}"/>
              </a:ext>
            </a:extLst>
          </p:cNvPr>
          <p:cNvSpPr>
            <a:spLocks noGrp="1"/>
          </p:cNvSpPr>
          <p:nvPr/>
        </p:nvSpPr>
        <p:spPr>
          <a:xfrm>
            <a:off x="3028950" y="26765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RESERVOIR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663673-1895-4A4E-A31C-1D4F9FBBB2E3}"/>
              </a:ext>
            </a:extLst>
          </p:cNvPr>
          <p:cNvSpPr>
            <a:spLocks noGrp="1"/>
          </p:cNvSpPr>
          <p:nvPr/>
        </p:nvSpPr>
        <p:spPr>
          <a:xfrm>
            <a:off x="3028950" y="2971800"/>
            <a:ext cx="1619250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Vsh  phi  clean-sand flag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03FC21-BB76-42F4-ABA4-B1294EAB1DE7}"/>
              </a:ext>
            </a:extLst>
          </p:cNvPr>
          <p:cNvSpPr>
            <a:spLocks noGrp="1"/>
          </p:cNvSpPr>
          <p:nvPr/>
        </p:nvSpPr>
        <p:spPr>
          <a:xfrm>
            <a:off x="4781550" y="3219450"/>
            <a:ext cx="228600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4F33B3-6209-4D69-97F2-0B1D0ACCF4B7}"/>
              </a:ext>
            </a:extLst>
          </p:cNvPr>
          <p:cNvSpPr>
            <a:spLocks noGrp="1"/>
          </p:cNvSpPr>
          <p:nvPr/>
        </p:nvSpPr>
        <p:spPr>
          <a:xfrm>
            <a:off x="4991100" y="3171825"/>
            <a:ext cx="114300" cy="1333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8FBF63-DC59-476A-BC88-A937E2AC8A90}"/>
              </a:ext>
            </a:extLst>
          </p:cNvPr>
          <p:cNvSpPr>
            <a:spLocks noGrp="1"/>
          </p:cNvSpPr>
          <p:nvPr/>
        </p:nvSpPr>
        <p:spPr>
          <a:xfrm>
            <a:off x="5181600" y="2552700"/>
            <a:ext cx="1905000" cy="1381125"/>
          </a:xfrm>
          <a:prstGeom prst="rect">
            <a:avLst/>
          </a:prstGeom>
          <a:solidFill>
            <a:srgbClr val="EDF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5D2B69-7785-42BE-A733-4F3AB9390BDC}"/>
              </a:ext>
            </a:extLst>
          </p:cNvPr>
          <p:cNvSpPr>
            <a:spLocks noGrp="1"/>
          </p:cNvSpPr>
          <p:nvPr/>
        </p:nvSpPr>
        <p:spPr>
          <a:xfrm>
            <a:off x="5181600" y="2552700"/>
            <a:ext cx="66675" cy="1381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DFD-7F81-49C5-B4F4-18D60D85FD8F}"/>
              </a:ext>
            </a:extLst>
          </p:cNvPr>
          <p:cNvSpPr>
            <a:spLocks noGrp="1"/>
          </p:cNvSpPr>
          <p:nvPr/>
        </p:nvSpPr>
        <p:spPr>
          <a:xfrm>
            <a:off x="5343525" y="26765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PHASE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210A05-FFD5-4400-A328-3AE09AEFA104}"/>
              </a:ext>
            </a:extLst>
          </p:cNvPr>
          <p:cNvSpPr>
            <a:spLocks noGrp="1"/>
          </p:cNvSpPr>
          <p:nvPr/>
        </p:nvSpPr>
        <p:spPr>
          <a:xfrm>
            <a:off x="5343525" y="2971800"/>
            <a:ext cx="1619250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Vp  Vs  K  G  lambda-rho  mu-rho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A758AD-5BA6-4F57-A0AE-09F4AAE2FD4B}"/>
              </a:ext>
            </a:extLst>
          </p:cNvPr>
          <p:cNvSpPr>
            <a:spLocks noGrp="1"/>
          </p:cNvSpPr>
          <p:nvPr/>
        </p:nvSpPr>
        <p:spPr>
          <a:xfrm>
            <a:off x="7096125" y="3219450"/>
            <a:ext cx="228600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F61015-13AC-4768-A856-483FF753D119}"/>
              </a:ext>
            </a:extLst>
          </p:cNvPr>
          <p:cNvSpPr>
            <a:spLocks noGrp="1"/>
          </p:cNvSpPr>
          <p:nvPr/>
        </p:nvSpPr>
        <p:spPr>
          <a:xfrm>
            <a:off x="7305675" y="3171825"/>
            <a:ext cx="114300" cy="1333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514942-2A8A-4697-8EAC-58D89174004A}"/>
              </a:ext>
            </a:extLst>
          </p:cNvPr>
          <p:cNvSpPr>
            <a:spLocks noGrp="1"/>
          </p:cNvSpPr>
          <p:nvPr/>
        </p:nvSpPr>
        <p:spPr>
          <a:xfrm>
            <a:off x="7496175" y="2552700"/>
            <a:ext cx="1905000" cy="1381125"/>
          </a:xfrm>
          <a:prstGeom prst="rect">
            <a:avLst/>
          </a:prstGeom>
          <a:solidFill>
            <a:srgbClr val="F6EE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FDBF9A-17FE-400D-8EBD-F59ADF0807C7}"/>
              </a:ext>
            </a:extLst>
          </p:cNvPr>
          <p:cNvSpPr>
            <a:spLocks noGrp="1"/>
          </p:cNvSpPr>
          <p:nvPr/>
        </p:nvSpPr>
        <p:spPr>
          <a:xfrm>
            <a:off x="7496175" y="2552700"/>
            <a:ext cx="66675" cy="1381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1A2612-2865-47DD-AFBF-19E30E011C80}"/>
              </a:ext>
            </a:extLst>
          </p:cNvPr>
          <p:cNvSpPr>
            <a:spLocks noGrp="1"/>
          </p:cNvSpPr>
          <p:nvPr/>
        </p:nvSpPr>
        <p:spPr>
          <a:xfrm>
            <a:off x="7658100" y="26765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SATURATION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551460-01CB-49E5-B600-49B5782C3CBC}"/>
              </a:ext>
            </a:extLst>
          </p:cNvPr>
          <p:cNvSpPr>
            <a:spLocks noGrp="1"/>
          </p:cNvSpPr>
          <p:nvPr/>
        </p:nvSpPr>
        <p:spPr>
          <a:xfrm>
            <a:off x="7658100" y="2971800"/>
            <a:ext cx="1619250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Sh_NMRDEN  Sh_Archie  FF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4D58B-62B4-4491-A7E6-60B9EFBE8636}"/>
              </a:ext>
            </a:extLst>
          </p:cNvPr>
          <p:cNvSpPr>
            <a:spLocks noGrp="1"/>
          </p:cNvSpPr>
          <p:nvPr/>
        </p:nvSpPr>
        <p:spPr>
          <a:xfrm>
            <a:off x="9410700" y="3219450"/>
            <a:ext cx="228600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199544-A090-4130-9A97-038DF34FF9AB}"/>
              </a:ext>
            </a:extLst>
          </p:cNvPr>
          <p:cNvSpPr>
            <a:spLocks noGrp="1"/>
          </p:cNvSpPr>
          <p:nvPr/>
        </p:nvSpPr>
        <p:spPr>
          <a:xfrm>
            <a:off x="9620250" y="3171825"/>
            <a:ext cx="114300" cy="1333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16E314-0807-40A2-AD85-9C518CA3F058}"/>
              </a:ext>
            </a:extLst>
          </p:cNvPr>
          <p:cNvSpPr>
            <a:spLocks noGrp="1"/>
          </p:cNvSpPr>
          <p:nvPr/>
        </p:nvSpPr>
        <p:spPr>
          <a:xfrm>
            <a:off x="9810750" y="2552700"/>
            <a:ext cx="1905000" cy="1381125"/>
          </a:xfrm>
          <a:prstGeom prst="rect">
            <a:avLst/>
          </a:prstGeom>
          <a:solidFill>
            <a:srgbClr val="F1E9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C50436-4774-47B2-9863-BD36A81F42D8}"/>
              </a:ext>
            </a:extLst>
          </p:cNvPr>
          <p:cNvSpPr>
            <a:spLocks noGrp="1"/>
          </p:cNvSpPr>
          <p:nvPr/>
        </p:nvSpPr>
        <p:spPr>
          <a:xfrm>
            <a:off x="9810750" y="2552700"/>
            <a:ext cx="66675" cy="1381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6850CD-B33A-4958-B0A6-F5D9DA4898C5}"/>
              </a:ext>
            </a:extLst>
          </p:cNvPr>
          <p:cNvSpPr>
            <a:spLocks noGrp="1"/>
          </p:cNvSpPr>
          <p:nvPr/>
        </p:nvSpPr>
        <p:spPr>
          <a:xfrm>
            <a:off x="9972675" y="26765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RANKING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0ADB539-ABCB-4C2F-914E-08718954DEF4}"/>
              </a:ext>
            </a:extLst>
          </p:cNvPr>
          <p:cNvSpPr>
            <a:spLocks noGrp="1"/>
          </p:cNvSpPr>
          <p:nvPr/>
        </p:nvSpPr>
        <p:spPr>
          <a:xfrm>
            <a:off x="9972675" y="2971800"/>
            <a:ext cx="1619250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k-retention  stress  continuity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BFE871-2BFD-4822-9AB2-F914404B3ED0}"/>
              </a:ext>
            </a:extLst>
          </p:cNvPr>
          <p:cNvSpPr>
            <a:spLocks noGrp="1"/>
          </p:cNvSpPr>
          <p:nvPr/>
        </p:nvSpPr>
        <p:spPr>
          <a:xfrm>
            <a:off x="552450" y="45243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Context lane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BCEAA0-D080-42D4-9883-EFBD2922DEC8}"/>
              </a:ext>
            </a:extLst>
          </p:cNvPr>
          <p:cNvSpPr>
            <a:spLocks noGrp="1"/>
          </p:cNvSpPr>
          <p:nvPr/>
        </p:nvSpPr>
        <p:spPr>
          <a:xfrm>
            <a:off x="552450" y="4905375"/>
            <a:ext cx="10715625" cy="190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0CB3A5-864D-4595-8AE6-C83A2D2891D8}"/>
              </a:ext>
            </a:extLst>
          </p:cNvPr>
          <p:cNvSpPr>
            <a:spLocks noGrp="1"/>
          </p:cNvSpPr>
          <p:nvPr/>
        </p:nvSpPr>
        <p:spPr>
          <a:xfrm>
            <a:off x="552450" y="509587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GHSZ distance   |   named unit   |   fault block   |   water-contact flag   |   borehole quality   |   missing-tool state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E98D92F-BAFA-487F-9F51-32E0B5106A6D}"/>
              </a:ext>
            </a:extLst>
          </p:cNvPr>
          <p:cNvSpPr>
            <a:spLocks noGrp="1"/>
          </p:cNvSpPr>
          <p:nvPr/>
        </p:nvSpPr>
        <p:spPr>
          <a:xfrm>
            <a:off x="552450" y="5648325"/>
            <a:ext cx="952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Context modifies confidence. It does not become a shortcut positive label.</a:t>
            </a:r>
          </a:p>
        </p:txBody>
      </p:sp>
    </p:spTree>
    <p:extLst>
      <p:ext uri="{BB962C8B-B14F-4D97-AF65-F5344CB8AC3E}">
        <p14:creationId xmlns:p14="http://schemas.microsoft.com/office/powerpoint/2010/main" val="96796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DC02624-DF1C-47B3-AC14-113AE55022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21439-E8E7-460B-891D-AA6CD4660B11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REGIONAL CONSTRAINTS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7EBFFA-993E-43C2-B032-E1D6CEB7FEF5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A73352-1E33-4E6F-BF1E-175CFB0CA483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Geology constrains confidence without becoming a shortcut label.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EF8A41-CF7A-4357-A130-D0691BF41117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The public-source atlas provides regional context; interval classification remains log-centered.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84FDE-87CA-4C92-85DA-E7C3FC9AA151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0255D-C741-404C-A68C-8FD68B38C950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A4DC5-3A5B-420C-9B98-E5D0FDEC27EE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231E82-7369-45B3-A7A5-6B736DE5FA97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5286375" cy="3476625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14D4FB-D20A-4143-AD98-50D0DC6E1ABD}"/>
              </a:ext>
            </a:extLst>
          </p:cNvPr>
          <p:cNvSpPr>
            <a:spLocks noGrp="1"/>
          </p:cNvSpPr>
          <p:nvPr/>
        </p:nvSpPr>
        <p:spPr>
          <a:xfrm>
            <a:off x="828675" y="2390775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A98A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A98A5"/>
                </a:solidFill>
                <a:latin typeface="Aptos Display"/>
                <a:ea typeface="Aptos Display"/>
                <a:cs typeface="Aptos Display"/>
              </a:rPr>
              <a:t>PUBLIC-SOURCE ATLAS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C8540B-B341-47BF-B470-E42820ABD5C8}"/>
              </a:ext>
            </a:extLst>
          </p:cNvPr>
          <p:cNvSpPr>
            <a:spLocks noGrp="1"/>
          </p:cNvSpPr>
          <p:nvPr/>
        </p:nvSpPr>
        <p:spPr>
          <a:xfrm>
            <a:off x="876300" y="2981325"/>
            <a:ext cx="361950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F67F66-034B-40CA-AF29-589A5A56ACAB}"/>
              </a:ext>
            </a:extLst>
          </p:cNvPr>
          <p:cNvSpPr>
            <a:spLocks noGrp="1"/>
          </p:cNvSpPr>
          <p:nvPr/>
        </p:nvSpPr>
        <p:spPr>
          <a:xfrm>
            <a:off x="1438275" y="284797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North Slope extent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21402-EEEE-425F-8128-AF236B2D08B2}"/>
              </a:ext>
            </a:extLst>
          </p:cNvPr>
          <p:cNvSpPr>
            <a:spLocks noGrp="1"/>
          </p:cNvSpPr>
          <p:nvPr/>
        </p:nvSpPr>
        <p:spPr>
          <a:xfrm>
            <a:off x="3429000" y="2867025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70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7078"/>
                </a:solidFill>
                <a:latin typeface="Aptos"/>
                <a:ea typeface="Aptos"/>
                <a:cs typeface="Aptos"/>
              </a:rPr>
              <a:t>Study-area orientation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26CDF7-A751-4E8C-83E8-017D2F6C22EA}"/>
              </a:ext>
            </a:extLst>
          </p:cNvPr>
          <p:cNvSpPr>
            <a:spLocks noGrp="1"/>
          </p:cNvSpPr>
          <p:nvPr/>
        </p:nvSpPr>
        <p:spPr>
          <a:xfrm>
            <a:off x="876300" y="3552825"/>
            <a:ext cx="361950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FEB99E-A73F-487D-BEC2-72B6DB6E3842}"/>
              </a:ext>
            </a:extLst>
          </p:cNvPr>
          <p:cNvSpPr>
            <a:spLocks noGrp="1"/>
          </p:cNvSpPr>
          <p:nvPr/>
        </p:nvSpPr>
        <p:spPr>
          <a:xfrm>
            <a:off x="1438275" y="341947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Assessment units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1D005A-5D74-4021-B3EC-7994EBD8AAC1}"/>
              </a:ext>
            </a:extLst>
          </p:cNvPr>
          <p:cNvSpPr>
            <a:spLocks noGrp="1"/>
          </p:cNvSpPr>
          <p:nvPr/>
        </p:nvSpPr>
        <p:spPr>
          <a:xfrm>
            <a:off x="3429000" y="3438525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70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7078"/>
                </a:solidFill>
                <a:latin typeface="Aptos"/>
                <a:ea typeface="Aptos"/>
                <a:cs typeface="Aptos"/>
              </a:rPr>
              <a:t>Petroleum-system framework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E078CF-3566-4575-AB80-8377B866634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361950" cy="38100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1678B7-458E-4727-BCD4-B90883DAC208}"/>
              </a:ext>
            </a:extLst>
          </p:cNvPr>
          <p:cNvSpPr>
            <a:spLocks noGrp="1"/>
          </p:cNvSpPr>
          <p:nvPr/>
        </p:nvSpPr>
        <p:spPr>
          <a:xfrm>
            <a:off x="1438275" y="399097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Structural horizons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2C811E-8868-4716-B29A-67E6F8A604B4}"/>
              </a:ext>
            </a:extLst>
          </p:cNvPr>
          <p:cNvSpPr>
            <a:spLocks noGrp="1"/>
          </p:cNvSpPr>
          <p:nvPr/>
        </p:nvSpPr>
        <p:spPr>
          <a:xfrm>
            <a:off x="3429000" y="4010025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70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7078"/>
                </a:solidFill>
                <a:latin typeface="Aptos"/>
                <a:ea typeface="Aptos"/>
                <a:cs typeface="Aptos"/>
              </a:rPr>
              <a:t>Regional basin geometry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1F5797-E870-43A3-9259-37D3D806A4F3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361950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6DBA59-32FE-410B-ABDB-AF747D5E3B50}"/>
              </a:ext>
            </a:extLst>
          </p:cNvPr>
          <p:cNvSpPr>
            <a:spLocks noGrp="1"/>
          </p:cNvSpPr>
          <p:nvPr/>
        </p:nvSpPr>
        <p:spPr>
          <a:xfrm>
            <a:off x="1438275" y="456247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Public wells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86E439-7111-4900-8058-8BBE7A52C7E5}"/>
              </a:ext>
            </a:extLst>
          </p:cNvPr>
          <p:cNvSpPr>
            <a:spLocks noGrp="1"/>
          </p:cNvSpPr>
          <p:nvPr/>
        </p:nvSpPr>
        <p:spPr>
          <a:xfrm>
            <a:off x="3429000" y="4581525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70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7078"/>
                </a:solidFill>
                <a:latin typeface="Aptos"/>
                <a:ea typeface="Aptos"/>
                <a:cs typeface="Aptos"/>
              </a:rPr>
              <a:t>Regional inventory only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C524A5-60EC-4C9A-B1B9-7175DFF31DBC}"/>
              </a:ext>
            </a:extLst>
          </p:cNvPr>
          <p:cNvSpPr>
            <a:spLocks noGrp="1"/>
          </p:cNvSpPr>
          <p:nvPr/>
        </p:nvSpPr>
        <p:spPr>
          <a:xfrm>
            <a:off x="6315075" y="2133600"/>
            <a:ext cx="5238750" cy="3476625"/>
          </a:xfrm>
          <a:prstGeom prst="rect">
            <a:avLst/>
          </a:prstGeom>
          <a:solidFill>
            <a:srgbClr val="173F50"/>
          </a:solidFill>
          <a:ln w="19050">
            <a:solidFill>
              <a:srgbClr val="2A98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AFA8BF-C7EB-46B4-AB32-9D7766364172}"/>
              </a:ext>
            </a:extLst>
          </p:cNvPr>
          <p:cNvSpPr>
            <a:spLocks noGrp="1"/>
          </p:cNvSpPr>
          <p:nvPr/>
        </p:nvSpPr>
        <p:spPr>
          <a:xfrm>
            <a:off x="6591300" y="2390775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MODEL USE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CFBD68-5207-4AE2-AC92-1F2A10F1718E}"/>
              </a:ext>
            </a:extLst>
          </p:cNvPr>
          <p:cNvSpPr>
            <a:spLocks noGrp="1"/>
          </p:cNvSpPr>
          <p:nvPr/>
        </p:nvSpPr>
        <p:spPr>
          <a:xfrm>
            <a:off x="6591300" y="290512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Use regional geology as...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DB61F6-99A7-444D-B736-7BB7DCE66BDD}"/>
              </a:ext>
            </a:extLst>
          </p:cNvPr>
          <p:cNvSpPr>
            <a:spLocks noGrp="1"/>
          </p:cNvSpPr>
          <p:nvPr/>
        </p:nvSpPr>
        <p:spPr>
          <a:xfrm>
            <a:off x="6591300" y="3333750"/>
            <a:ext cx="2000250" cy="1495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prior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 uncertainty modifier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compartment flag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review prompt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8D3586-D4B3-4558-955B-59B5CF80D21D}"/>
              </a:ext>
            </a:extLst>
          </p:cNvPr>
          <p:cNvSpPr>
            <a:spLocks noGrp="1"/>
          </p:cNvSpPr>
          <p:nvPr/>
        </p:nvSpPr>
        <p:spPr>
          <a:xfrm>
            <a:off x="8982075" y="2905125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Never use it as...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1A6879-B2E5-474A-A9C2-D8A74C9A1BE0}"/>
              </a:ext>
            </a:extLst>
          </p:cNvPr>
          <p:cNvSpPr>
            <a:spLocks noGrp="1"/>
          </p:cNvSpPr>
          <p:nvPr/>
        </p:nvSpPr>
        <p:spPr>
          <a:xfrm>
            <a:off x="8982075" y="3333750"/>
            <a:ext cx="2190750" cy="1495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replacement for logs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direct hydrate label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of saturation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of producibility</a:t>
            </a:r>
          </a:p>
        </p:txBody>
      </p:sp>
    </p:spTree>
    <p:extLst>
      <p:ext uri="{BB962C8B-B14F-4D97-AF65-F5344CB8AC3E}">
        <p14:creationId xmlns:p14="http://schemas.microsoft.com/office/powerpoint/2010/main" val="211748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FB9D60E-4A02-4A7C-88A3-33D0D52A21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D39819-4F5E-4348-94CC-39A866ECB69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QUALITY ROUTING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6CF4E-D598-4F6E-B6A0-B2A2F7688EE4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8E3A9-3794-44B9-8535-B18DBF076760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Quality control is a modeling input, not a preprocessing footnote.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9286A8-DC82-4AD0-987F-7EA563238922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Missing curves and bad-hole conditions should route the model and change confidence.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1A9CB6-731B-4460-84D5-2EFD718BDBC8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440EA0-410E-4649-BD1E-A6E5E6FE93E1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D9ADDC-97CE-403A-A8AC-6E096DF47723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BB76B4-57EF-4984-98E9-49B9D1DEF303}"/>
              </a:ext>
            </a:extLst>
          </p:cNvPr>
          <p:cNvSpPr>
            <a:spLocks noGrp="1"/>
          </p:cNvSpPr>
          <p:nvPr/>
        </p:nvSpPr>
        <p:spPr>
          <a:xfrm>
            <a:off x="514350" y="2533650"/>
            <a:ext cx="1952625" cy="123825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B912E-6850-4478-A5E4-5FEF41ED42F5}"/>
              </a:ext>
            </a:extLst>
          </p:cNvPr>
          <p:cNvSpPr>
            <a:spLocks noGrp="1"/>
          </p:cNvSpPr>
          <p:nvPr/>
        </p:nvSpPr>
        <p:spPr>
          <a:xfrm>
            <a:off x="514350" y="2533650"/>
            <a:ext cx="66675" cy="12382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CA6382-C0F3-4A4B-96E1-4F4E1A3A2427}"/>
              </a:ext>
            </a:extLst>
          </p:cNvPr>
          <p:cNvSpPr>
            <a:spLocks noGrp="1"/>
          </p:cNvSpPr>
          <p:nvPr/>
        </p:nvSpPr>
        <p:spPr>
          <a:xfrm>
            <a:off x="676275" y="2657475"/>
            <a:ext cx="1666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INGEST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A62CA9-E4E1-4E75-9B63-37AB97F17277}"/>
              </a:ext>
            </a:extLst>
          </p:cNvPr>
          <p:cNvSpPr>
            <a:spLocks noGrp="1"/>
          </p:cNvSpPr>
          <p:nvPr/>
        </p:nvSpPr>
        <p:spPr>
          <a:xfrm>
            <a:off x="676275" y="2952750"/>
            <a:ext cx="1666875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Normalize depth and units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DA7351-79DB-46C8-96F0-5588E5351300}"/>
              </a:ext>
            </a:extLst>
          </p:cNvPr>
          <p:cNvSpPr>
            <a:spLocks noGrp="1"/>
          </p:cNvSpPr>
          <p:nvPr/>
        </p:nvSpPr>
        <p:spPr>
          <a:xfrm>
            <a:off x="2476500" y="3124200"/>
            <a:ext cx="219075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0090D0-1873-4410-A97A-B12E3C26D02D}"/>
              </a:ext>
            </a:extLst>
          </p:cNvPr>
          <p:cNvSpPr>
            <a:spLocks noGrp="1"/>
          </p:cNvSpPr>
          <p:nvPr/>
        </p:nvSpPr>
        <p:spPr>
          <a:xfrm>
            <a:off x="2676525" y="3076575"/>
            <a:ext cx="114300" cy="1333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19D30A-AD08-4197-8361-FDE6C1E71F78}"/>
              </a:ext>
            </a:extLst>
          </p:cNvPr>
          <p:cNvSpPr>
            <a:spLocks noGrp="1"/>
          </p:cNvSpPr>
          <p:nvPr/>
        </p:nvSpPr>
        <p:spPr>
          <a:xfrm>
            <a:off x="2847975" y="2533650"/>
            <a:ext cx="1952625" cy="123825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0BC04B-CC28-4FC8-94C4-F37B66B6E6B4}"/>
              </a:ext>
            </a:extLst>
          </p:cNvPr>
          <p:cNvSpPr>
            <a:spLocks noGrp="1"/>
          </p:cNvSpPr>
          <p:nvPr/>
        </p:nvSpPr>
        <p:spPr>
          <a:xfrm>
            <a:off x="2847975" y="2533650"/>
            <a:ext cx="66675" cy="12382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89A642-4FB6-4F46-B528-83CEF3C95867}"/>
              </a:ext>
            </a:extLst>
          </p:cNvPr>
          <p:cNvSpPr>
            <a:spLocks noGrp="1"/>
          </p:cNvSpPr>
          <p:nvPr/>
        </p:nvSpPr>
        <p:spPr>
          <a:xfrm>
            <a:off x="3009900" y="2657475"/>
            <a:ext cx="1666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CURVE QC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539E7A-F2AD-4D79-8077-57F09874352A}"/>
              </a:ext>
            </a:extLst>
          </p:cNvPr>
          <p:cNvSpPr>
            <a:spLocks noGrp="1"/>
          </p:cNvSpPr>
          <p:nvPr/>
        </p:nvSpPr>
        <p:spPr>
          <a:xfrm>
            <a:off x="3009900" y="2952750"/>
            <a:ext cx="1666875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Coverage, spikes, impossible values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E6386-D42B-40F6-8A7E-5387BFFDD3B7}"/>
              </a:ext>
            </a:extLst>
          </p:cNvPr>
          <p:cNvSpPr>
            <a:spLocks noGrp="1"/>
          </p:cNvSpPr>
          <p:nvPr/>
        </p:nvSpPr>
        <p:spPr>
          <a:xfrm>
            <a:off x="4810125" y="3124200"/>
            <a:ext cx="219075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C38C67-8C61-4717-8780-196ECC4356D5}"/>
              </a:ext>
            </a:extLst>
          </p:cNvPr>
          <p:cNvSpPr>
            <a:spLocks noGrp="1"/>
          </p:cNvSpPr>
          <p:nvPr/>
        </p:nvSpPr>
        <p:spPr>
          <a:xfrm>
            <a:off x="5010150" y="3076575"/>
            <a:ext cx="114300" cy="1333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CCF776-C920-4D86-A651-0802E14F1E31}"/>
              </a:ext>
            </a:extLst>
          </p:cNvPr>
          <p:cNvSpPr>
            <a:spLocks noGrp="1"/>
          </p:cNvSpPr>
          <p:nvPr/>
        </p:nvSpPr>
        <p:spPr>
          <a:xfrm>
            <a:off x="5181600" y="2533650"/>
            <a:ext cx="1952625" cy="123825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1E895-D88F-4AA7-9163-254A4F7139E7}"/>
              </a:ext>
            </a:extLst>
          </p:cNvPr>
          <p:cNvSpPr>
            <a:spLocks noGrp="1"/>
          </p:cNvSpPr>
          <p:nvPr/>
        </p:nvSpPr>
        <p:spPr>
          <a:xfrm>
            <a:off x="5181600" y="2533650"/>
            <a:ext cx="66675" cy="12382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52F247-67AF-4333-8B84-4D79F5D2C97C}"/>
              </a:ext>
            </a:extLst>
          </p:cNvPr>
          <p:cNvSpPr>
            <a:spLocks noGrp="1"/>
          </p:cNvSpPr>
          <p:nvPr/>
        </p:nvSpPr>
        <p:spPr>
          <a:xfrm>
            <a:off x="5343525" y="2657475"/>
            <a:ext cx="1666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BOREHOLE QC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7ADACB-5859-4208-A56E-0C17EEFAE450}"/>
              </a:ext>
            </a:extLst>
          </p:cNvPr>
          <p:cNvSpPr>
            <a:spLocks noGrp="1"/>
          </p:cNvSpPr>
          <p:nvPr/>
        </p:nvSpPr>
        <p:spPr>
          <a:xfrm>
            <a:off x="5343525" y="2952750"/>
            <a:ext cx="1666875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Caliper and density reliability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950FEE-3E53-4F31-8622-41088CB4449D}"/>
              </a:ext>
            </a:extLst>
          </p:cNvPr>
          <p:cNvSpPr>
            <a:spLocks noGrp="1"/>
          </p:cNvSpPr>
          <p:nvPr/>
        </p:nvSpPr>
        <p:spPr>
          <a:xfrm>
            <a:off x="7143750" y="3124200"/>
            <a:ext cx="219075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95CF2D-A93D-48D1-BE58-936F126ABBE3}"/>
              </a:ext>
            </a:extLst>
          </p:cNvPr>
          <p:cNvSpPr>
            <a:spLocks noGrp="1"/>
          </p:cNvSpPr>
          <p:nvPr/>
        </p:nvSpPr>
        <p:spPr>
          <a:xfrm>
            <a:off x="7343775" y="3076575"/>
            <a:ext cx="114300" cy="1333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2CD634-C0FE-46C5-9C27-F4EF14B765DF}"/>
              </a:ext>
            </a:extLst>
          </p:cNvPr>
          <p:cNvSpPr>
            <a:spLocks noGrp="1"/>
          </p:cNvSpPr>
          <p:nvPr/>
        </p:nvSpPr>
        <p:spPr>
          <a:xfrm>
            <a:off x="7515225" y="2533650"/>
            <a:ext cx="1952625" cy="1238250"/>
          </a:xfrm>
          <a:prstGeom prst="rect">
            <a:avLst/>
          </a:prstGeom>
          <a:solidFill>
            <a:srgbClr val="F7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CE8BDD-57A4-46E1-B2D6-B8265DCF2C86}"/>
              </a:ext>
            </a:extLst>
          </p:cNvPr>
          <p:cNvSpPr>
            <a:spLocks noGrp="1"/>
          </p:cNvSpPr>
          <p:nvPr/>
        </p:nvSpPr>
        <p:spPr>
          <a:xfrm>
            <a:off x="7515225" y="2533650"/>
            <a:ext cx="66675" cy="1238250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0AC50-6B31-4D78-BB87-C11541BC5643}"/>
              </a:ext>
            </a:extLst>
          </p:cNvPr>
          <p:cNvSpPr>
            <a:spLocks noGrp="1"/>
          </p:cNvSpPr>
          <p:nvPr/>
        </p:nvSpPr>
        <p:spPr>
          <a:xfrm>
            <a:off x="7677150" y="2657475"/>
            <a:ext cx="1666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ROUTING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C84703-B12E-4021-9309-EABAA687AF44}"/>
              </a:ext>
            </a:extLst>
          </p:cNvPr>
          <p:cNvSpPr>
            <a:spLocks noGrp="1"/>
          </p:cNvSpPr>
          <p:nvPr/>
        </p:nvSpPr>
        <p:spPr>
          <a:xfrm>
            <a:off x="7677150" y="2952750"/>
            <a:ext cx="1666875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Full evidence / reduced evidence / review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31C36B-2E6B-484C-9552-CB27252839E3}"/>
              </a:ext>
            </a:extLst>
          </p:cNvPr>
          <p:cNvSpPr>
            <a:spLocks noGrp="1"/>
          </p:cNvSpPr>
          <p:nvPr/>
        </p:nvSpPr>
        <p:spPr>
          <a:xfrm>
            <a:off x="9477375" y="3124200"/>
            <a:ext cx="219075" cy="381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942562-77F3-4772-AFA4-24D7C0BB9452}"/>
              </a:ext>
            </a:extLst>
          </p:cNvPr>
          <p:cNvSpPr>
            <a:spLocks noGrp="1"/>
          </p:cNvSpPr>
          <p:nvPr/>
        </p:nvSpPr>
        <p:spPr>
          <a:xfrm>
            <a:off x="9677400" y="3076575"/>
            <a:ext cx="114300" cy="1333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AC646F-60B1-42DF-BF9A-E13AAC7FDF62}"/>
              </a:ext>
            </a:extLst>
          </p:cNvPr>
          <p:cNvSpPr>
            <a:spLocks noGrp="1"/>
          </p:cNvSpPr>
          <p:nvPr/>
        </p:nvSpPr>
        <p:spPr>
          <a:xfrm>
            <a:off x="9848850" y="2533650"/>
            <a:ext cx="1952625" cy="123825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11CBDC-29E1-4289-9B9F-2B30D66106AE}"/>
              </a:ext>
            </a:extLst>
          </p:cNvPr>
          <p:cNvSpPr>
            <a:spLocks noGrp="1"/>
          </p:cNvSpPr>
          <p:nvPr/>
        </p:nvSpPr>
        <p:spPr>
          <a:xfrm>
            <a:off x="9848850" y="2533650"/>
            <a:ext cx="66675" cy="12382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6B36D9-2F26-4A4D-A253-4E2AE776F394}"/>
              </a:ext>
            </a:extLst>
          </p:cNvPr>
          <p:cNvSpPr>
            <a:spLocks noGrp="1"/>
          </p:cNvSpPr>
          <p:nvPr/>
        </p:nvSpPr>
        <p:spPr>
          <a:xfrm>
            <a:off x="10010775" y="2657475"/>
            <a:ext cx="1666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1B1DD8-61AC-4DBA-BA17-33FA27C06CA2}"/>
              </a:ext>
            </a:extLst>
          </p:cNvPr>
          <p:cNvSpPr>
            <a:spLocks noGrp="1"/>
          </p:cNvSpPr>
          <p:nvPr/>
        </p:nvSpPr>
        <p:spPr>
          <a:xfrm>
            <a:off x="10010775" y="2952750"/>
            <a:ext cx="1666875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Predict with explicit uncertainty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EF561B-3EC9-495B-A48A-DD79C65F9A73}"/>
              </a:ext>
            </a:extLst>
          </p:cNvPr>
          <p:cNvSpPr>
            <a:spLocks noGrp="1"/>
          </p:cNvSpPr>
          <p:nvPr/>
        </p:nvSpPr>
        <p:spPr>
          <a:xfrm>
            <a:off x="571500" y="4543425"/>
            <a:ext cx="3238500" cy="1066800"/>
          </a:xfrm>
          <a:prstGeom prst="rect">
            <a:avLst/>
          </a:prstGeom>
          <a:solidFill>
            <a:srgbClr val="EAF5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FA2A64-C57D-4342-8ED9-431991722A4F}"/>
              </a:ext>
            </a:extLst>
          </p:cNvPr>
          <p:cNvSpPr>
            <a:spLocks noGrp="1"/>
          </p:cNvSpPr>
          <p:nvPr/>
        </p:nvSpPr>
        <p:spPr>
          <a:xfrm>
            <a:off x="571500" y="4543425"/>
            <a:ext cx="57150" cy="106680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5E0865-5935-4A37-9794-5084C0223507}"/>
              </a:ext>
            </a:extLst>
          </p:cNvPr>
          <p:cNvSpPr>
            <a:spLocks noGrp="1"/>
          </p:cNvSpPr>
          <p:nvPr/>
        </p:nvSpPr>
        <p:spPr>
          <a:xfrm>
            <a:off x="742950" y="4695825"/>
            <a:ext cx="2914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Example flags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99DDDE-7241-40AE-8C87-236BFB56B2D9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2895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missing_DTS</a:t>
            </a:r>
          </a:p>
          <a:p>
            <a:pPr algn="l">
              <a:defRPr sz="120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bad_hole_density</a:t>
            </a:r>
          </a:p>
          <a:p>
            <a:pPr algn="l">
              <a:defRPr sz="120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thin_bed_risk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77A637-8FDF-4262-9F57-922E4BC2E0DD}"/>
              </a:ext>
            </a:extLst>
          </p:cNvPr>
          <p:cNvSpPr>
            <a:spLocks noGrp="1"/>
          </p:cNvSpPr>
          <p:nvPr/>
        </p:nvSpPr>
        <p:spPr>
          <a:xfrm>
            <a:off x="4476750" y="4543425"/>
            <a:ext cx="3238500" cy="10668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F3C490-E45C-43E2-A3D4-0F73E00C492C}"/>
              </a:ext>
            </a:extLst>
          </p:cNvPr>
          <p:cNvSpPr>
            <a:spLocks noGrp="1"/>
          </p:cNvSpPr>
          <p:nvPr/>
        </p:nvSpPr>
        <p:spPr>
          <a:xfrm>
            <a:off x="4476750" y="4543425"/>
            <a:ext cx="57150" cy="1066800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DBC342-00DC-4393-9517-4CF2E28F5F12}"/>
              </a:ext>
            </a:extLst>
          </p:cNvPr>
          <p:cNvSpPr>
            <a:spLocks noGrp="1"/>
          </p:cNvSpPr>
          <p:nvPr/>
        </p:nvSpPr>
        <p:spPr>
          <a:xfrm>
            <a:off x="4648200" y="4695825"/>
            <a:ext cx="2914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Routing behavior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A29348A-8B05-4E09-8067-C2764A01376A}"/>
              </a:ext>
            </a:extLst>
          </p:cNvPr>
          <p:cNvSpPr>
            <a:spLocks noGrp="1"/>
          </p:cNvSpPr>
          <p:nvPr/>
        </p:nvSpPr>
        <p:spPr>
          <a:xfrm>
            <a:off x="4648200" y="5029200"/>
            <a:ext cx="2895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NMR absent -&gt; Archie remains a cross-check</a:t>
            </a:r>
          </a:p>
          <a:p>
            <a:pPr algn="l">
              <a:defRPr sz="105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DTS absent -&gt; reduce hydrate/gas confidence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1F8BDE-824B-4FC1-A8F0-91F58C1CB0E6}"/>
              </a:ext>
            </a:extLst>
          </p:cNvPr>
          <p:cNvSpPr>
            <a:spLocks noGrp="1"/>
          </p:cNvSpPr>
          <p:nvPr/>
        </p:nvSpPr>
        <p:spPr>
          <a:xfrm>
            <a:off x="8382000" y="4543425"/>
            <a:ext cx="3238500" cy="1066800"/>
          </a:xfrm>
          <a:prstGeom prst="rect">
            <a:avLst/>
          </a:prstGeom>
          <a:solidFill>
            <a:srgbClr val="F2EA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BDD9349-8B33-4EC2-8408-427E7B13E96F}"/>
              </a:ext>
            </a:extLst>
          </p:cNvPr>
          <p:cNvSpPr>
            <a:spLocks noGrp="1"/>
          </p:cNvSpPr>
          <p:nvPr/>
        </p:nvSpPr>
        <p:spPr>
          <a:xfrm>
            <a:off x="8382000" y="4543425"/>
            <a:ext cx="57150" cy="1066800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22F48E-F8D5-498E-AFD3-BAC4280CD561}"/>
              </a:ext>
            </a:extLst>
          </p:cNvPr>
          <p:cNvSpPr>
            <a:spLocks noGrp="1"/>
          </p:cNvSpPr>
          <p:nvPr/>
        </p:nvSpPr>
        <p:spPr>
          <a:xfrm>
            <a:off x="8553450" y="4695825"/>
            <a:ext cx="2914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Operational rule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10358B-CB6A-4A02-872E-340ABABAD6B9}"/>
              </a:ext>
            </a:extLst>
          </p:cNvPr>
          <p:cNvSpPr>
            <a:spLocks noGrp="1"/>
          </p:cNvSpPr>
          <p:nvPr/>
        </p:nvSpPr>
        <p:spPr>
          <a:xfrm>
            <a:off x="8553450" y="5029200"/>
            <a:ext cx="2895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323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23F"/>
                </a:solidFill>
                <a:latin typeface="Aptos"/>
                <a:ea typeface="Aptos"/>
                <a:cs typeface="Aptos"/>
              </a:rPr>
              <a:t>Do not silently impute evidence that was never measured.</a:t>
            </a:r>
          </a:p>
        </p:txBody>
      </p:sp>
    </p:spTree>
    <p:extLst>
      <p:ext uri="{BB962C8B-B14F-4D97-AF65-F5344CB8AC3E}">
        <p14:creationId xmlns:p14="http://schemas.microsoft.com/office/powerpoint/2010/main" val="124358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23C853C-5FFF-47C6-AF94-DD752371AF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C47969-7B0E-4E3D-8B56-30FA84DF0E7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MODEL LADDER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591175-68C7-4518-9D77-708386E78723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E48A0-E745-441C-91CA-AE949E3D4B47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Staged models keep presence, saturation, and producibility separate.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7FEA3-E8CD-41C2-A760-70823F1BD15E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Start interpretable. Add complexity only when error review shows that it earns its place.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50290-4EDC-4F47-B17A-E2F153E4CD5D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7C3B4-20E9-4A94-BDA1-797B1DB63483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65BF8E-F8AB-4D0C-806B-48422F391302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567A14-7909-465E-9F51-A30CC885EB6B}"/>
              </a:ext>
            </a:extLst>
          </p:cNvPr>
          <p:cNvSpPr>
            <a:spLocks noGrp="1"/>
          </p:cNvSpPr>
          <p:nvPr/>
        </p:nvSpPr>
        <p:spPr>
          <a:xfrm>
            <a:off x="695325" y="2209800"/>
            <a:ext cx="3333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102ED4-A9ED-4070-9300-7F2C5814D390}"/>
              </a:ext>
            </a:extLst>
          </p:cNvPr>
          <p:cNvSpPr>
            <a:spLocks noGrp="1"/>
          </p:cNvSpPr>
          <p:nvPr/>
        </p:nvSpPr>
        <p:spPr>
          <a:xfrm>
            <a:off x="1228725" y="2381250"/>
            <a:ext cx="8763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AC6436-5B1A-42DE-B3E3-84B2CC595777}"/>
              </a:ext>
            </a:extLst>
          </p:cNvPr>
          <p:cNvSpPr>
            <a:spLocks noGrp="1"/>
          </p:cNvSpPr>
          <p:nvPr/>
        </p:nvSpPr>
        <p:spPr>
          <a:xfrm>
            <a:off x="2324100" y="217170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ADMISSIBILITY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55F842-70F3-4AE2-9841-9911FFE6F9CF}"/>
              </a:ext>
            </a:extLst>
          </p:cNvPr>
          <p:cNvSpPr>
            <a:spLocks noGrp="1"/>
          </p:cNvSpPr>
          <p:nvPr/>
        </p:nvSpPr>
        <p:spPr>
          <a:xfrm>
            <a:off x="4705350" y="2181225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D4E3E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4E3E3"/>
                </a:solidFill>
                <a:latin typeface="Aptos"/>
                <a:ea typeface="Aptos"/>
                <a:cs typeface="Aptos"/>
              </a:rPr>
              <a:t>stable / unstable / uncertain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64FFAC-0E14-46E3-BD47-40CE8DD2D318}"/>
              </a:ext>
            </a:extLst>
          </p:cNvPr>
          <p:cNvSpPr>
            <a:spLocks noGrp="1"/>
          </p:cNvSpPr>
          <p:nvPr/>
        </p:nvSpPr>
        <p:spPr>
          <a:xfrm>
            <a:off x="695325" y="2962275"/>
            <a:ext cx="3333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E05CC9-141E-42ED-8D62-F7E9E136F047}"/>
              </a:ext>
            </a:extLst>
          </p:cNvPr>
          <p:cNvSpPr>
            <a:spLocks noGrp="1"/>
          </p:cNvSpPr>
          <p:nvPr/>
        </p:nvSpPr>
        <p:spPr>
          <a:xfrm>
            <a:off x="1228725" y="3133725"/>
            <a:ext cx="8763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05083B-21A7-4EB0-ADFB-229846CB9959}"/>
              </a:ext>
            </a:extLst>
          </p:cNvPr>
          <p:cNvSpPr>
            <a:spLocks noGrp="1"/>
          </p:cNvSpPr>
          <p:nvPr/>
        </p:nvSpPr>
        <p:spPr>
          <a:xfrm>
            <a:off x="2324100" y="2924175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RESERVOIR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78BCAA-69BB-42C5-8FC3-2170EFC74596}"/>
              </a:ext>
            </a:extLst>
          </p:cNvPr>
          <p:cNvSpPr>
            <a:spLocks noGrp="1"/>
          </p:cNvSpPr>
          <p:nvPr/>
        </p:nvSpPr>
        <p:spPr>
          <a:xfrm>
            <a:off x="4705350" y="2933700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D4E3E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4E3E3"/>
                </a:solidFill>
                <a:latin typeface="Aptos"/>
                <a:ea typeface="Aptos"/>
                <a:cs typeface="Aptos"/>
              </a:rPr>
              <a:t>reservoir / marginal / non-reservoir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D41E82-D6A2-4B84-B0DA-DE4A7E71DDA2}"/>
              </a:ext>
            </a:extLst>
          </p:cNvPr>
          <p:cNvSpPr>
            <a:spLocks noGrp="1"/>
          </p:cNvSpPr>
          <p:nvPr/>
        </p:nvSpPr>
        <p:spPr>
          <a:xfrm>
            <a:off x="695325" y="3714750"/>
            <a:ext cx="3333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D212D6-3ACB-4D01-99B8-EF50310449B6}"/>
              </a:ext>
            </a:extLst>
          </p:cNvPr>
          <p:cNvSpPr>
            <a:spLocks noGrp="1"/>
          </p:cNvSpPr>
          <p:nvPr/>
        </p:nvSpPr>
        <p:spPr>
          <a:xfrm>
            <a:off x="1228725" y="3886200"/>
            <a:ext cx="8763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4C9975-EA8A-479B-831F-176936BAF8E8}"/>
              </a:ext>
            </a:extLst>
          </p:cNvPr>
          <p:cNvSpPr>
            <a:spLocks noGrp="1"/>
          </p:cNvSpPr>
          <p:nvPr/>
        </p:nvSpPr>
        <p:spPr>
          <a:xfrm>
            <a:off x="2324100" y="36766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33B443-A00B-4248-A6DC-E60D92492046}"/>
              </a:ext>
            </a:extLst>
          </p:cNvPr>
          <p:cNvSpPr>
            <a:spLocks noGrp="1"/>
          </p:cNvSpPr>
          <p:nvPr/>
        </p:nvSpPr>
        <p:spPr>
          <a:xfrm>
            <a:off x="4705350" y="3686175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D4E3E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4E3E3"/>
                </a:solidFill>
                <a:latin typeface="Aptos"/>
                <a:ea typeface="Aptos"/>
                <a:cs typeface="Aptos"/>
              </a:rPr>
              <a:t>hydrate / gas / water / mixed / ambiguous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637D33-4B3F-49A8-8193-F8D915C6A69A}"/>
              </a:ext>
            </a:extLst>
          </p:cNvPr>
          <p:cNvSpPr>
            <a:spLocks noGrp="1"/>
          </p:cNvSpPr>
          <p:nvPr/>
        </p:nvSpPr>
        <p:spPr>
          <a:xfrm>
            <a:off x="695325" y="4467225"/>
            <a:ext cx="3333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C87F43-9DCF-4CBD-AD1D-C25B1F5ECB8F}"/>
              </a:ext>
            </a:extLst>
          </p:cNvPr>
          <p:cNvSpPr>
            <a:spLocks noGrp="1"/>
          </p:cNvSpPr>
          <p:nvPr/>
        </p:nvSpPr>
        <p:spPr>
          <a:xfrm>
            <a:off x="1228725" y="4638675"/>
            <a:ext cx="8763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6A36E7-B6DB-44C6-8466-ED75519E50D0}"/>
              </a:ext>
            </a:extLst>
          </p:cNvPr>
          <p:cNvSpPr>
            <a:spLocks noGrp="1"/>
          </p:cNvSpPr>
          <p:nvPr/>
        </p:nvSpPr>
        <p:spPr>
          <a:xfrm>
            <a:off x="2324100" y="4429125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LOCALIZATION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01BC27-C0A2-4141-978D-12B71888A1C6}"/>
              </a:ext>
            </a:extLst>
          </p:cNvPr>
          <p:cNvSpPr>
            <a:spLocks noGrp="1"/>
          </p:cNvSpPr>
          <p:nvPr/>
        </p:nvSpPr>
        <p:spPr>
          <a:xfrm>
            <a:off x="4705350" y="4438650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D4E3E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4E3E3"/>
                </a:solidFill>
                <a:latin typeface="Aptos"/>
                <a:ea typeface="Aptos"/>
                <a:cs typeface="Aptos"/>
              </a:rPr>
              <a:t>charged probability + compartment flags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5B0B37-6645-4337-BECB-FD74F7677545}"/>
              </a:ext>
            </a:extLst>
          </p:cNvPr>
          <p:cNvSpPr>
            <a:spLocks noGrp="1"/>
          </p:cNvSpPr>
          <p:nvPr/>
        </p:nvSpPr>
        <p:spPr>
          <a:xfrm>
            <a:off x="695325" y="5219700"/>
            <a:ext cx="33337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9696D9-A488-4B79-BB41-42CDD87D6C0A}"/>
              </a:ext>
            </a:extLst>
          </p:cNvPr>
          <p:cNvSpPr>
            <a:spLocks noGrp="1"/>
          </p:cNvSpPr>
          <p:nvPr/>
        </p:nvSpPr>
        <p:spPr>
          <a:xfrm>
            <a:off x="1228725" y="5391150"/>
            <a:ext cx="8763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27C0C2-8887-479A-8B13-FC0D077C9C4F}"/>
              </a:ext>
            </a:extLst>
          </p:cNvPr>
          <p:cNvSpPr>
            <a:spLocks noGrp="1"/>
          </p:cNvSpPr>
          <p:nvPr/>
        </p:nvSpPr>
        <p:spPr>
          <a:xfrm>
            <a:off x="2324100" y="518160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RANKING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759941-B1F9-4754-9276-2B0F02FC2E7F}"/>
              </a:ext>
            </a:extLst>
          </p:cNvPr>
          <p:cNvSpPr>
            <a:spLocks noGrp="1"/>
          </p:cNvSpPr>
          <p:nvPr/>
        </p:nvSpPr>
        <p:spPr>
          <a:xfrm>
            <a:off x="4705350" y="5191125"/>
            <a:ext cx="600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D4E3E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4E3E3"/>
                </a:solidFill>
                <a:latin typeface="Aptos"/>
                <a:ea typeface="Aptos"/>
                <a:cs typeface="Aptos"/>
              </a:rPr>
              <a:t>priority + confidence + reasons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6597B6-2DE6-4A8F-BA8C-060514A6D6F9}"/>
              </a:ext>
            </a:extLst>
          </p:cNvPr>
          <p:cNvSpPr>
            <a:spLocks noGrp="1"/>
          </p:cNvSpPr>
          <p:nvPr/>
        </p:nvSpPr>
        <p:spPr>
          <a:xfrm>
            <a:off x="8534400" y="56102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VALID OUTPUT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D25B70-A66F-49EC-B80E-0E3FECBA8514}"/>
              </a:ext>
            </a:extLst>
          </p:cNvPr>
          <p:cNvSpPr>
            <a:spLocks noGrp="1"/>
          </p:cNvSpPr>
          <p:nvPr/>
        </p:nvSpPr>
        <p:spPr>
          <a:xfrm>
            <a:off x="8534400" y="5819775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 interval can be reservoir-grade, inside the stability window, and still contain no hydrate.</a:t>
            </a:r>
          </a:p>
        </p:txBody>
      </p:sp>
    </p:spTree>
    <p:extLst>
      <p:ext uri="{BB962C8B-B14F-4D97-AF65-F5344CB8AC3E}">
        <p14:creationId xmlns:p14="http://schemas.microsoft.com/office/powerpoint/2010/main" val="1992687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4CA3052-C4A9-4A92-9394-294065E9F4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EE9494-11DA-4EB4-B51E-F92762CA963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13945C-3620-4E08-86FC-CBA0F1A02372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4FA27B-FA25-411B-94D8-2F0D72F6BF07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Validation must split by well to avoid depth-sample leakage.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1BA781-0C47-4523-938A-52C33094F02F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Thousands of neighboring depth samples from one well are correlated; random row splits can overstate performance.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0FC0D4-A067-498A-8DB3-E8A5D94FF628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33D2F-0941-4AE1-8BA8-31F079554557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5797C-D1C8-406D-9BFF-1B0C94EC5684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EAF67-AA72-4262-9E36-F8F0943269E5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4953000" cy="3238500"/>
          </a:xfrm>
          <a:prstGeom prst="rect">
            <a:avLst/>
          </a:prstGeom>
          <a:solidFill>
            <a:srgbClr val="F6E8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3E20-E1C0-45CE-B700-4E0D4C09DB77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57150" cy="3238500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4DF36-99E1-4388-97A3-8073D42FE420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4629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Unsafe: random depth-row split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FD882A-9FE6-42B4-A334-4D01FA143A08}"/>
              </a:ext>
            </a:extLst>
          </p:cNvPr>
          <p:cNvSpPr>
            <a:spLocks noGrp="1"/>
          </p:cNvSpPr>
          <p:nvPr/>
        </p:nvSpPr>
        <p:spPr>
          <a:xfrm>
            <a:off x="762000" y="2657475"/>
            <a:ext cx="4610100" cy="2647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CE791F-AFF1-4FFD-BB49-05FDD507673B}"/>
              </a:ext>
            </a:extLst>
          </p:cNvPr>
          <p:cNvSpPr>
            <a:spLocks noGrp="1"/>
          </p:cNvSpPr>
          <p:nvPr/>
        </p:nvSpPr>
        <p:spPr>
          <a:xfrm>
            <a:off x="6638925" y="2171700"/>
            <a:ext cx="4953000" cy="3238500"/>
          </a:xfrm>
          <a:prstGeom prst="rect">
            <a:avLst/>
          </a:prstGeom>
          <a:solidFill>
            <a:srgbClr val="E8F3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8C5F8A-FC39-4F57-946B-F807DB539109}"/>
              </a:ext>
            </a:extLst>
          </p:cNvPr>
          <p:cNvSpPr>
            <a:spLocks noGrp="1"/>
          </p:cNvSpPr>
          <p:nvPr/>
        </p:nvSpPr>
        <p:spPr>
          <a:xfrm>
            <a:off x="6638925" y="2171700"/>
            <a:ext cx="57150" cy="3238500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60F2F5-D55D-427B-BEE5-DF130EC017B7}"/>
              </a:ext>
            </a:extLst>
          </p:cNvPr>
          <p:cNvSpPr>
            <a:spLocks noGrp="1"/>
          </p:cNvSpPr>
          <p:nvPr/>
        </p:nvSpPr>
        <p:spPr>
          <a:xfrm>
            <a:off x="6810375" y="2324100"/>
            <a:ext cx="4629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Required: grouped well split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48CB19-CA7F-4644-B8B0-C3D8F80631A2}"/>
              </a:ext>
            </a:extLst>
          </p:cNvPr>
          <p:cNvSpPr>
            <a:spLocks noGrp="1"/>
          </p:cNvSpPr>
          <p:nvPr/>
        </p:nvSpPr>
        <p:spPr>
          <a:xfrm>
            <a:off x="6810375" y="2657475"/>
            <a:ext cx="4610100" cy="2647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69ADA-D810-43F9-A687-4D0887E8907D}"/>
              </a:ext>
            </a:extLst>
          </p:cNvPr>
          <p:cNvSpPr>
            <a:spLocks noGrp="1"/>
          </p:cNvSpPr>
          <p:nvPr/>
        </p:nvSpPr>
        <p:spPr>
          <a:xfrm>
            <a:off x="971550" y="2924175"/>
            <a:ext cx="4000500" cy="161925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0AE4CC-08C0-4F1B-92A8-B6DADDD10BED}"/>
              </a:ext>
            </a:extLst>
          </p:cNvPr>
          <p:cNvSpPr>
            <a:spLocks noGrp="1"/>
          </p:cNvSpPr>
          <p:nvPr/>
        </p:nvSpPr>
        <p:spPr>
          <a:xfrm>
            <a:off x="7077075" y="2924175"/>
            <a:ext cx="1000125" cy="16192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3E5AF1-9C9A-4659-B926-3DD7EC66E0C8}"/>
              </a:ext>
            </a:extLst>
          </p:cNvPr>
          <p:cNvSpPr>
            <a:spLocks noGrp="1"/>
          </p:cNvSpPr>
          <p:nvPr/>
        </p:nvSpPr>
        <p:spPr>
          <a:xfrm>
            <a:off x="971550" y="3200400"/>
            <a:ext cx="4000500" cy="16192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DA75D4-1478-4047-830C-D1E9FBEBCF0E}"/>
              </a:ext>
            </a:extLst>
          </p:cNvPr>
          <p:cNvSpPr>
            <a:spLocks noGrp="1"/>
          </p:cNvSpPr>
          <p:nvPr/>
        </p:nvSpPr>
        <p:spPr>
          <a:xfrm>
            <a:off x="8362950" y="3200400"/>
            <a:ext cx="1000125" cy="16192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736817-CFDD-4EB3-87F4-66755EA4559D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4000500" cy="16192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397606-4D50-46F6-84DE-4900E71B92D4}"/>
              </a:ext>
            </a:extLst>
          </p:cNvPr>
          <p:cNvSpPr>
            <a:spLocks noGrp="1"/>
          </p:cNvSpPr>
          <p:nvPr/>
        </p:nvSpPr>
        <p:spPr>
          <a:xfrm>
            <a:off x="9648825" y="3476625"/>
            <a:ext cx="1000125" cy="16192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377697-26C3-4692-B3AC-19A5004DC216}"/>
              </a:ext>
            </a:extLst>
          </p:cNvPr>
          <p:cNvSpPr>
            <a:spLocks noGrp="1"/>
          </p:cNvSpPr>
          <p:nvPr/>
        </p:nvSpPr>
        <p:spPr>
          <a:xfrm>
            <a:off x="971550" y="3752850"/>
            <a:ext cx="4000500" cy="161925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5B49C9-A91C-4C31-B8B1-ED84BD4A4A6E}"/>
              </a:ext>
            </a:extLst>
          </p:cNvPr>
          <p:cNvSpPr>
            <a:spLocks noGrp="1"/>
          </p:cNvSpPr>
          <p:nvPr/>
        </p:nvSpPr>
        <p:spPr>
          <a:xfrm>
            <a:off x="7077075" y="3752850"/>
            <a:ext cx="1000125" cy="16192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5BA1EC-6F19-4EDD-9F5D-832B4AE82565}"/>
              </a:ext>
            </a:extLst>
          </p:cNvPr>
          <p:cNvSpPr>
            <a:spLocks noGrp="1"/>
          </p:cNvSpPr>
          <p:nvPr/>
        </p:nvSpPr>
        <p:spPr>
          <a:xfrm>
            <a:off x="971550" y="4029075"/>
            <a:ext cx="4000500" cy="16192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E4B6C1-C86C-4C8F-A44C-464B1AAF2D45}"/>
              </a:ext>
            </a:extLst>
          </p:cNvPr>
          <p:cNvSpPr>
            <a:spLocks noGrp="1"/>
          </p:cNvSpPr>
          <p:nvPr/>
        </p:nvSpPr>
        <p:spPr>
          <a:xfrm>
            <a:off x="8362950" y="4029075"/>
            <a:ext cx="1000125" cy="1619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990AC1-900C-4290-920B-360C0B35295E}"/>
              </a:ext>
            </a:extLst>
          </p:cNvPr>
          <p:cNvSpPr>
            <a:spLocks noGrp="1"/>
          </p:cNvSpPr>
          <p:nvPr/>
        </p:nvSpPr>
        <p:spPr>
          <a:xfrm>
            <a:off x="971550" y="4305300"/>
            <a:ext cx="4000500" cy="16192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BDFF22-D8AC-42E8-BAC3-179D42EC562C}"/>
              </a:ext>
            </a:extLst>
          </p:cNvPr>
          <p:cNvSpPr>
            <a:spLocks noGrp="1"/>
          </p:cNvSpPr>
          <p:nvPr/>
        </p:nvSpPr>
        <p:spPr>
          <a:xfrm>
            <a:off x="9648825" y="4305300"/>
            <a:ext cx="1000125" cy="1619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4990C1-6F69-4EEE-A265-B601AC20F0DB}"/>
              </a:ext>
            </a:extLst>
          </p:cNvPr>
          <p:cNvSpPr>
            <a:spLocks noGrp="1"/>
          </p:cNvSpPr>
          <p:nvPr/>
        </p:nvSpPr>
        <p:spPr>
          <a:xfrm>
            <a:off x="971550" y="4581525"/>
            <a:ext cx="4000500" cy="161925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2D212B-494B-4969-8699-C6D2D52367E3}"/>
              </a:ext>
            </a:extLst>
          </p:cNvPr>
          <p:cNvSpPr>
            <a:spLocks noGrp="1"/>
          </p:cNvSpPr>
          <p:nvPr/>
        </p:nvSpPr>
        <p:spPr>
          <a:xfrm>
            <a:off x="7077075" y="4581525"/>
            <a:ext cx="1000125" cy="1619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F34531-E127-4359-9FFC-32A9F6FDD519}"/>
              </a:ext>
            </a:extLst>
          </p:cNvPr>
          <p:cNvSpPr>
            <a:spLocks noGrp="1"/>
          </p:cNvSpPr>
          <p:nvPr/>
        </p:nvSpPr>
        <p:spPr>
          <a:xfrm>
            <a:off x="981075" y="4972050"/>
            <a:ext cx="3905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95D5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95D56"/>
                </a:solidFill>
                <a:latin typeface="Aptos Display"/>
                <a:ea typeface="Aptos Display"/>
                <a:cs typeface="Aptos Display"/>
              </a:rPr>
              <a:t>Rows from the same well leak across train and test.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695515-9751-4BF5-857E-BDF438CAF579}"/>
              </a:ext>
            </a:extLst>
          </p:cNvPr>
          <p:cNvSpPr>
            <a:spLocks noGrp="1"/>
          </p:cNvSpPr>
          <p:nvPr/>
        </p:nvSpPr>
        <p:spPr>
          <a:xfrm>
            <a:off x="7086600" y="4972050"/>
            <a:ext cx="1143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B9B7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B9B78"/>
                </a:solidFill>
                <a:latin typeface="Aptos Display"/>
                <a:ea typeface="Aptos Display"/>
                <a:cs typeface="Aptos Display"/>
              </a:rPr>
              <a:t>Train wells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9D7766-C1AA-487D-B52B-07EB1E4DFF91}"/>
              </a:ext>
            </a:extLst>
          </p:cNvPr>
          <p:cNvSpPr>
            <a:spLocks noGrp="1"/>
          </p:cNvSpPr>
          <p:nvPr/>
        </p:nvSpPr>
        <p:spPr>
          <a:xfrm>
            <a:off x="9267825" y="4972050"/>
            <a:ext cx="152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A98A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A98A5"/>
                </a:solidFill>
                <a:latin typeface="Aptos Display"/>
                <a:ea typeface="Aptos Display"/>
                <a:cs typeface="Aptos Display"/>
              </a:rPr>
              <a:t>Held-out wells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3C7CEA-4A70-4604-8E8F-12F1CE500EB1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10477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Review: grouped metrics  |  calibration  |  abstention rate  |  failure-mode table</a:t>
            </a:r>
          </a:p>
        </p:txBody>
      </p:sp>
    </p:spTree>
    <p:extLst>
      <p:ext uri="{BB962C8B-B14F-4D97-AF65-F5344CB8AC3E}">
        <p14:creationId xmlns:p14="http://schemas.microsoft.com/office/powerpoint/2010/main" val="192597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6F86AEBB-E384-40DA-BB8F-7A33E802B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1BDC4D-188F-469A-B137-41AD8452F06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RESULT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D8032-4209-44F2-9AC3-EBED1C0A84DC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839F7F-05FC-4ACE-A391-163D2FFA7456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primary result view should explain each flagged interval in log space.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74E2E-D6AD-4A10-973E-0EE60E4BBC23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Populate this editable structure only after the approved runtime analysis.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020F3-06BC-408C-BE7B-D53032DAB4D4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711C2D-4E5E-4C23-A165-BE92FADF887C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448B63-261B-4E28-9929-E7E290DEA35D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4E7505-C445-4E50-ABE1-8FC4C7BD4207}"/>
              </a:ext>
            </a:extLst>
          </p:cNvPr>
          <p:cNvSpPr>
            <a:spLocks noGrp="1"/>
          </p:cNvSpPr>
          <p:nvPr/>
        </p:nvSpPr>
        <p:spPr>
          <a:xfrm>
            <a:off x="638175" y="2381250"/>
            <a:ext cx="1200150" cy="3143250"/>
          </a:xfrm>
          <a:prstGeom prst="rect">
            <a:avLst/>
          </a:prstGeom>
          <a:solidFill>
            <a:srgbClr val="F7F3EA"/>
          </a:solidFill>
          <a:ln w="19050">
            <a:solidFill>
              <a:srgbClr val="2A98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C77B39-39C8-43AB-AD2B-02D1E09E5B2F}"/>
              </a:ext>
            </a:extLst>
          </p:cNvPr>
          <p:cNvSpPr>
            <a:spLocks noGrp="1"/>
          </p:cNvSpPr>
          <p:nvPr/>
        </p:nvSpPr>
        <p:spPr>
          <a:xfrm>
            <a:off x="733425" y="2524125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GR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FDD051-D4D7-4E25-93D6-E151CA6C079D}"/>
              </a:ext>
            </a:extLst>
          </p:cNvPr>
          <p:cNvSpPr>
            <a:spLocks noGrp="1"/>
          </p:cNvSpPr>
          <p:nvPr/>
        </p:nvSpPr>
        <p:spPr>
          <a:xfrm>
            <a:off x="790575" y="2914650"/>
            <a:ext cx="885825" cy="19050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AA8ACD-894D-45C1-A734-C3F8E1FF8AA7}"/>
              </a:ext>
            </a:extLst>
          </p:cNvPr>
          <p:cNvSpPr>
            <a:spLocks noGrp="1"/>
          </p:cNvSpPr>
          <p:nvPr/>
        </p:nvSpPr>
        <p:spPr>
          <a:xfrm>
            <a:off x="847725" y="3276600"/>
            <a:ext cx="4572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2188DE-3FCC-4ACC-8872-9B5F038AE6E2}"/>
              </a:ext>
            </a:extLst>
          </p:cNvPr>
          <p:cNvSpPr>
            <a:spLocks noGrp="1"/>
          </p:cNvSpPr>
          <p:nvPr/>
        </p:nvSpPr>
        <p:spPr>
          <a:xfrm>
            <a:off x="971550" y="3676650"/>
            <a:ext cx="4572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36A80E-2E9A-4FFD-AD0F-736032C56FD1}"/>
              </a:ext>
            </a:extLst>
          </p:cNvPr>
          <p:cNvSpPr>
            <a:spLocks noGrp="1"/>
          </p:cNvSpPr>
          <p:nvPr/>
        </p:nvSpPr>
        <p:spPr>
          <a:xfrm>
            <a:off x="1095375" y="4076700"/>
            <a:ext cx="4572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43560C-156B-4483-A751-437D546D2DFA}"/>
              </a:ext>
            </a:extLst>
          </p:cNvPr>
          <p:cNvSpPr>
            <a:spLocks noGrp="1"/>
          </p:cNvSpPr>
          <p:nvPr/>
        </p:nvSpPr>
        <p:spPr>
          <a:xfrm>
            <a:off x="1219200" y="4476750"/>
            <a:ext cx="4572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313505-8169-4FDE-B87A-350874BF4E07}"/>
              </a:ext>
            </a:extLst>
          </p:cNvPr>
          <p:cNvSpPr>
            <a:spLocks noGrp="1"/>
          </p:cNvSpPr>
          <p:nvPr/>
        </p:nvSpPr>
        <p:spPr>
          <a:xfrm>
            <a:off x="1343025" y="4876800"/>
            <a:ext cx="4572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E575C3-ED89-4B60-AEA1-5E7E4CE0BB30}"/>
              </a:ext>
            </a:extLst>
          </p:cNvPr>
          <p:cNvSpPr>
            <a:spLocks noGrp="1"/>
          </p:cNvSpPr>
          <p:nvPr/>
        </p:nvSpPr>
        <p:spPr>
          <a:xfrm>
            <a:off x="2105025" y="2381250"/>
            <a:ext cx="1200150" cy="3143250"/>
          </a:xfrm>
          <a:prstGeom prst="rect">
            <a:avLst/>
          </a:prstGeom>
          <a:solidFill>
            <a:srgbClr val="F7F3EA"/>
          </a:solidFill>
          <a:ln w="19050">
            <a:solidFill>
              <a:srgbClr val="D979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C4726-84B4-41BF-9A59-973C90B5EB8B}"/>
              </a:ext>
            </a:extLst>
          </p:cNvPr>
          <p:cNvSpPr>
            <a:spLocks noGrp="1"/>
          </p:cNvSpPr>
          <p:nvPr/>
        </p:nvSpPr>
        <p:spPr>
          <a:xfrm>
            <a:off x="2200275" y="2524125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F2FF10-9043-4CCA-8111-6ECB8A201686}"/>
              </a:ext>
            </a:extLst>
          </p:cNvPr>
          <p:cNvSpPr>
            <a:spLocks noGrp="1"/>
          </p:cNvSpPr>
          <p:nvPr/>
        </p:nvSpPr>
        <p:spPr>
          <a:xfrm>
            <a:off x="2257425" y="2914650"/>
            <a:ext cx="885825" cy="19050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FB752B-A3BA-4F4C-B4A0-EF259BC66168}"/>
              </a:ext>
            </a:extLst>
          </p:cNvPr>
          <p:cNvSpPr>
            <a:spLocks noGrp="1"/>
          </p:cNvSpPr>
          <p:nvPr/>
        </p:nvSpPr>
        <p:spPr>
          <a:xfrm>
            <a:off x="2381250" y="3276600"/>
            <a:ext cx="45720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9DDA08-C196-413C-BEF7-D7972EB4BB5A}"/>
              </a:ext>
            </a:extLst>
          </p:cNvPr>
          <p:cNvSpPr>
            <a:spLocks noGrp="1"/>
          </p:cNvSpPr>
          <p:nvPr/>
        </p:nvSpPr>
        <p:spPr>
          <a:xfrm>
            <a:off x="2505075" y="3676650"/>
            <a:ext cx="45720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ABDC25-0AB8-47D1-A211-6E8DFE11AD2A}"/>
              </a:ext>
            </a:extLst>
          </p:cNvPr>
          <p:cNvSpPr>
            <a:spLocks noGrp="1"/>
          </p:cNvSpPr>
          <p:nvPr/>
        </p:nvSpPr>
        <p:spPr>
          <a:xfrm>
            <a:off x="2628900" y="4076700"/>
            <a:ext cx="45720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12064F-0AEF-4954-8CAA-07759C570C45}"/>
              </a:ext>
            </a:extLst>
          </p:cNvPr>
          <p:cNvSpPr>
            <a:spLocks noGrp="1"/>
          </p:cNvSpPr>
          <p:nvPr/>
        </p:nvSpPr>
        <p:spPr>
          <a:xfrm>
            <a:off x="2752725" y="4476750"/>
            <a:ext cx="45720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CEBEA3-AE91-475F-9F45-81329A8C7F89}"/>
              </a:ext>
            </a:extLst>
          </p:cNvPr>
          <p:cNvSpPr>
            <a:spLocks noGrp="1"/>
          </p:cNvSpPr>
          <p:nvPr/>
        </p:nvSpPr>
        <p:spPr>
          <a:xfrm>
            <a:off x="2371725" y="4876800"/>
            <a:ext cx="45720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3897A7-7835-4639-8B67-3E5F0BB42FA9}"/>
              </a:ext>
            </a:extLst>
          </p:cNvPr>
          <p:cNvSpPr>
            <a:spLocks noGrp="1"/>
          </p:cNvSpPr>
          <p:nvPr/>
        </p:nvSpPr>
        <p:spPr>
          <a:xfrm>
            <a:off x="3571875" y="2381250"/>
            <a:ext cx="1200150" cy="3143250"/>
          </a:xfrm>
          <a:prstGeom prst="rect">
            <a:avLst/>
          </a:prstGeom>
          <a:solidFill>
            <a:srgbClr val="F7F3EA"/>
          </a:solidFill>
          <a:ln w="19050">
            <a:solidFill>
              <a:srgbClr val="C9A6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F1D364-9FF9-4C47-8C7B-C0C1D2978CD0}"/>
              </a:ext>
            </a:extLst>
          </p:cNvPr>
          <p:cNvSpPr>
            <a:spLocks noGrp="1"/>
          </p:cNvSpPr>
          <p:nvPr/>
        </p:nvSpPr>
        <p:spPr>
          <a:xfrm>
            <a:off x="3667125" y="2524125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RHOB / phi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52AE49-2318-4E96-8A62-A03B342FCCED}"/>
              </a:ext>
            </a:extLst>
          </p:cNvPr>
          <p:cNvSpPr>
            <a:spLocks noGrp="1"/>
          </p:cNvSpPr>
          <p:nvPr/>
        </p:nvSpPr>
        <p:spPr>
          <a:xfrm>
            <a:off x="3724275" y="2914650"/>
            <a:ext cx="885825" cy="19050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612BDD-054D-49DB-B8EE-BF80B0E27F84}"/>
              </a:ext>
            </a:extLst>
          </p:cNvPr>
          <p:cNvSpPr>
            <a:spLocks noGrp="1"/>
          </p:cNvSpPr>
          <p:nvPr/>
        </p:nvSpPr>
        <p:spPr>
          <a:xfrm>
            <a:off x="3914775" y="3276600"/>
            <a:ext cx="45720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22FFD1-278A-4482-82B9-1328123F239B}"/>
              </a:ext>
            </a:extLst>
          </p:cNvPr>
          <p:cNvSpPr>
            <a:spLocks noGrp="1"/>
          </p:cNvSpPr>
          <p:nvPr/>
        </p:nvSpPr>
        <p:spPr>
          <a:xfrm>
            <a:off x="4038600" y="3676650"/>
            <a:ext cx="45720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CCDCA2-2AA2-4586-A827-5C17671F72D6}"/>
              </a:ext>
            </a:extLst>
          </p:cNvPr>
          <p:cNvSpPr>
            <a:spLocks noGrp="1"/>
          </p:cNvSpPr>
          <p:nvPr/>
        </p:nvSpPr>
        <p:spPr>
          <a:xfrm>
            <a:off x="4162425" y="4076700"/>
            <a:ext cx="45720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0983E4-89E3-4A77-9DCC-D93FFCBFE153}"/>
              </a:ext>
            </a:extLst>
          </p:cNvPr>
          <p:cNvSpPr>
            <a:spLocks noGrp="1"/>
          </p:cNvSpPr>
          <p:nvPr/>
        </p:nvSpPr>
        <p:spPr>
          <a:xfrm>
            <a:off x="3781425" y="4476750"/>
            <a:ext cx="45720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058262-D6F0-4637-A395-EDBE874EF2E7}"/>
              </a:ext>
            </a:extLst>
          </p:cNvPr>
          <p:cNvSpPr>
            <a:spLocks noGrp="1"/>
          </p:cNvSpPr>
          <p:nvPr/>
        </p:nvSpPr>
        <p:spPr>
          <a:xfrm>
            <a:off x="3905250" y="4876800"/>
            <a:ext cx="457200" cy="28575"/>
          </a:xfrm>
          <a:prstGeom prst="rect">
            <a:avLst/>
          </a:prstGeom>
          <a:solidFill>
            <a:srgbClr val="C9A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A38433-E36D-4AEA-B8F2-CB9C65B66EAC}"/>
              </a:ext>
            </a:extLst>
          </p:cNvPr>
          <p:cNvSpPr>
            <a:spLocks noGrp="1"/>
          </p:cNvSpPr>
          <p:nvPr/>
        </p:nvSpPr>
        <p:spPr>
          <a:xfrm>
            <a:off x="5038725" y="2381250"/>
            <a:ext cx="1200150" cy="3143250"/>
          </a:xfrm>
          <a:prstGeom prst="rect">
            <a:avLst/>
          </a:prstGeom>
          <a:solidFill>
            <a:srgbClr val="F7F3EA"/>
          </a:solidFill>
          <a:ln w="19050">
            <a:solidFill>
              <a:srgbClr val="5B9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D4FED6-A284-4BE2-AF83-BC30B9FB1D75}"/>
              </a:ext>
            </a:extLst>
          </p:cNvPr>
          <p:cNvSpPr>
            <a:spLocks noGrp="1"/>
          </p:cNvSpPr>
          <p:nvPr/>
        </p:nvSpPr>
        <p:spPr>
          <a:xfrm>
            <a:off x="5133975" y="2524125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Vp / Vs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84DD11-C2C5-4C06-AFF1-5D1D9BE808BF}"/>
              </a:ext>
            </a:extLst>
          </p:cNvPr>
          <p:cNvSpPr>
            <a:spLocks noGrp="1"/>
          </p:cNvSpPr>
          <p:nvPr/>
        </p:nvSpPr>
        <p:spPr>
          <a:xfrm>
            <a:off x="5191125" y="2914650"/>
            <a:ext cx="885825" cy="19050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4155B0-989F-432B-A4F6-0CE8BC2B5605}"/>
              </a:ext>
            </a:extLst>
          </p:cNvPr>
          <p:cNvSpPr>
            <a:spLocks noGrp="1"/>
          </p:cNvSpPr>
          <p:nvPr/>
        </p:nvSpPr>
        <p:spPr>
          <a:xfrm>
            <a:off x="5448300" y="3276600"/>
            <a:ext cx="457200" cy="2857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3EE4A4-AD0B-48A3-8701-5D804CE60E24}"/>
              </a:ext>
            </a:extLst>
          </p:cNvPr>
          <p:cNvSpPr>
            <a:spLocks noGrp="1"/>
          </p:cNvSpPr>
          <p:nvPr/>
        </p:nvSpPr>
        <p:spPr>
          <a:xfrm>
            <a:off x="5572125" y="3676650"/>
            <a:ext cx="457200" cy="2857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16627E-DE67-42C0-A5A2-B15583A9F19C}"/>
              </a:ext>
            </a:extLst>
          </p:cNvPr>
          <p:cNvSpPr>
            <a:spLocks noGrp="1"/>
          </p:cNvSpPr>
          <p:nvPr/>
        </p:nvSpPr>
        <p:spPr>
          <a:xfrm>
            <a:off x="5695950" y="4076700"/>
            <a:ext cx="457200" cy="2857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382155F-5D02-45EB-AEDE-5F14BFA8F8E2}"/>
              </a:ext>
            </a:extLst>
          </p:cNvPr>
          <p:cNvSpPr>
            <a:spLocks noGrp="1"/>
          </p:cNvSpPr>
          <p:nvPr/>
        </p:nvSpPr>
        <p:spPr>
          <a:xfrm>
            <a:off x="5314950" y="4476750"/>
            <a:ext cx="457200" cy="2857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C0913B-2BF9-4232-8B28-B663FAE15600}"/>
              </a:ext>
            </a:extLst>
          </p:cNvPr>
          <p:cNvSpPr>
            <a:spLocks noGrp="1"/>
          </p:cNvSpPr>
          <p:nvPr/>
        </p:nvSpPr>
        <p:spPr>
          <a:xfrm>
            <a:off x="5438775" y="4876800"/>
            <a:ext cx="457200" cy="28575"/>
          </a:xfrm>
          <a:prstGeom prst="rect">
            <a:avLst/>
          </a:prstGeom>
          <a:solidFill>
            <a:srgbClr val="5B9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81E335-CE16-49C5-9268-D5D69E8C5238}"/>
              </a:ext>
            </a:extLst>
          </p:cNvPr>
          <p:cNvSpPr>
            <a:spLocks noGrp="1"/>
          </p:cNvSpPr>
          <p:nvPr/>
        </p:nvSpPr>
        <p:spPr>
          <a:xfrm>
            <a:off x="6505575" y="2381250"/>
            <a:ext cx="1200150" cy="3143250"/>
          </a:xfrm>
          <a:prstGeom prst="rect">
            <a:avLst/>
          </a:prstGeom>
          <a:solidFill>
            <a:srgbClr val="F7F3EA"/>
          </a:solidFill>
          <a:ln w="19050">
            <a:solidFill>
              <a:srgbClr val="9066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ABD810-825F-4371-8145-E7366982F536}"/>
              </a:ext>
            </a:extLst>
          </p:cNvPr>
          <p:cNvSpPr>
            <a:spLocks noGrp="1"/>
          </p:cNvSpPr>
          <p:nvPr/>
        </p:nvSpPr>
        <p:spPr>
          <a:xfrm>
            <a:off x="6600825" y="2524125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Sh proxies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EE3B17-3EFC-4B41-961B-22F20ACF2C4F}"/>
              </a:ext>
            </a:extLst>
          </p:cNvPr>
          <p:cNvSpPr>
            <a:spLocks noGrp="1"/>
          </p:cNvSpPr>
          <p:nvPr/>
        </p:nvSpPr>
        <p:spPr>
          <a:xfrm>
            <a:off x="6657975" y="2914650"/>
            <a:ext cx="885825" cy="19050"/>
          </a:xfrm>
          <a:prstGeom prst="rect">
            <a:avLst/>
          </a:prstGeom>
          <a:solidFill>
            <a:srgbClr val="906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13C8608-D7EA-42CD-82EB-3CBDF3F1C1E5}"/>
              </a:ext>
            </a:extLst>
          </p:cNvPr>
          <p:cNvSpPr>
            <a:spLocks noGrp="1"/>
          </p:cNvSpPr>
          <p:nvPr/>
        </p:nvSpPr>
        <p:spPr>
          <a:xfrm>
            <a:off x="6981825" y="3276600"/>
            <a:ext cx="457200" cy="28575"/>
          </a:xfrm>
          <a:prstGeom prst="rect">
            <a:avLst/>
          </a:prstGeom>
          <a:solidFill>
            <a:srgbClr val="906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3AEC44-C6EF-46FF-97A7-8D09AF6F0304}"/>
              </a:ext>
            </a:extLst>
          </p:cNvPr>
          <p:cNvSpPr>
            <a:spLocks noGrp="1"/>
          </p:cNvSpPr>
          <p:nvPr/>
        </p:nvSpPr>
        <p:spPr>
          <a:xfrm>
            <a:off x="7105650" y="3676650"/>
            <a:ext cx="457200" cy="28575"/>
          </a:xfrm>
          <a:prstGeom prst="rect">
            <a:avLst/>
          </a:prstGeom>
          <a:solidFill>
            <a:srgbClr val="906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14E5B2-A94A-4B98-B207-E40808205C0D}"/>
              </a:ext>
            </a:extLst>
          </p:cNvPr>
          <p:cNvSpPr>
            <a:spLocks noGrp="1"/>
          </p:cNvSpPr>
          <p:nvPr/>
        </p:nvSpPr>
        <p:spPr>
          <a:xfrm>
            <a:off x="6724650" y="4076700"/>
            <a:ext cx="457200" cy="28575"/>
          </a:xfrm>
          <a:prstGeom prst="rect">
            <a:avLst/>
          </a:prstGeom>
          <a:solidFill>
            <a:srgbClr val="906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F30064D-42E1-417D-B007-F091F560C86A}"/>
              </a:ext>
            </a:extLst>
          </p:cNvPr>
          <p:cNvSpPr>
            <a:spLocks noGrp="1"/>
          </p:cNvSpPr>
          <p:nvPr/>
        </p:nvSpPr>
        <p:spPr>
          <a:xfrm>
            <a:off x="6848475" y="4476750"/>
            <a:ext cx="457200" cy="28575"/>
          </a:xfrm>
          <a:prstGeom prst="rect">
            <a:avLst/>
          </a:prstGeom>
          <a:solidFill>
            <a:srgbClr val="906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2700BC4-0565-45D0-8695-7FBDA8ED24E7}"/>
              </a:ext>
            </a:extLst>
          </p:cNvPr>
          <p:cNvSpPr>
            <a:spLocks noGrp="1"/>
          </p:cNvSpPr>
          <p:nvPr/>
        </p:nvSpPr>
        <p:spPr>
          <a:xfrm>
            <a:off x="6972300" y="4876800"/>
            <a:ext cx="457200" cy="28575"/>
          </a:xfrm>
          <a:prstGeom prst="rect">
            <a:avLst/>
          </a:prstGeom>
          <a:solidFill>
            <a:srgbClr val="906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523820-B7AD-496E-9B86-0D42FF21E7F6}"/>
              </a:ext>
            </a:extLst>
          </p:cNvPr>
          <p:cNvSpPr>
            <a:spLocks noGrp="1"/>
          </p:cNvSpPr>
          <p:nvPr/>
        </p:nvSpPr>
        <p:spPr>
          <a:xfrm>
            <a:off x="7972425" y="2381250"/>
            <a:ext cx="1200150" cy="3143250"/>
          </a:xfrm>
          <a:prstGeom prst="rect">
            <a:avLst/>
          </a:prstGeom>
          <a:solidFill>
            <a:srgbClr val="F7F3EA"/>
          </a:solidFill>
          <a:ln w="19050">
            <a:solidFill>
              <a:srgbClr val="B95D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CF8077-05C4-4C0B-A652-9C8D03F8FAFD}"/>
              </a:ext>
            </a:extLst>
          </p:cNvPr>
          <p:cNvSpPr>
            <a:spLocks noGrp="1"/>
          </p:cNvSpPr>
          <p:nvPr/>
        </p:nvSpPr>
        <p:spPr>
          <a:xfrm>
            <a:off x="8067675" y="2524125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Class + flags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52B8753-656B-41EC-AFAD-A68852E6CF6B}"/>
              </a:ext>
            </a:extLst>
          </p:cNvPr>
          <p:cNvSpPr>
            <a:spLocks noGrp="1"/>
          </p:cNvSpPr>
          <p:nvPr/>
        </p:nvSpPr>
        <p:spPr>
          <a:xfrm>
            <a:off x="8124825" y="2914650"/>
            <a:ext cx="885825" cy="19050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2A598C-05F3-47F5-B4C6-22370E19BF50}"/>
              </a:ext>
            </a:extLst>
          </p:cNvPr>
          <p:cNvSpPr>
            <a:spLocks noGrp="1"/>
          </p:cNvSpPr>
          <p:nvPr/>
        </p:nvSpPr>
        <p:spPr>
          <a:xfrm>
            <a:off x="8515350" y="3276600"/>
            <a:ext cx="457200" cy="28575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CF6A5B1-6DA9-48E1-AB7B-820990D85E47}"/>
              </a:ext>
            </a:extLst>
          </p:cNvPr>
          <p:cNvSpPr>
            <a:spLocks noGrp="1"/>
          </p:cNvSpPr>
          <p:nvPr/>
        </p:nvSpPr>
        <p:spPr>
          <a:xfrm>
            <a:off x="8639175" y="3676650"/>
            <a:ext cx="457200" cy="28575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9E3FE3-4090-4EF6-B08A-6D79A438B0DE}"/>
              </a:ext>
            </a:extLst>
          </p:cNvPr>
          <p:cNvSpPr>
            <a:spLocks noGrp="1"/>
          </p:cNvSpPr>
          <p:nvPr/>
        </p:nvSpPr>
        <p:spPr>
          <a:xfrm>
            <a:off x="8258175" y="4076700"/>
            <a:ext cx="457200" cy="28575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F9380B-9F7D-4390-A154-14185805291B}"/>
              </a:ext>
            </a:extLst>
          </p:cNvPr>
          <p:cNvSpPr>
            <a:spLocks noGrp="1"/>
          </p:cNvSpPr>
          <p:nvPr/>
        </p:nvSpPr>
        <p:spPr>
          <a:xfrm>
            <a:off x="8382000" y="4476750"/>
            <a:ext cx="457200" cy="28575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93902CC-4BCC-4E1C-9C57-1F80DF3AB3F7}"/>
              </a:ext>
            </a:extLst>
          </p:cNvPr>
          <p:cNvSpPr>
            <a:spLocks noGrp="1"/>
          </p:cNvSpPr>
          <p:nvPr/>
        </p:nvSpPr>
        <p:spPr>
          <a:xfrm>
            <a:off x="8505825" y="4876800"/>
            <a:ext cx="457200" cy="28575"/>
          </a:xfrm>
          <a:prstGeom prst="rect">
            <a:avLst/>
          </a:prstGeom>
          <a:solidFill>
            <a:srgbClr val="B95D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0CD3550-69EF-4628-8876-5C170B40F34F}"/>
              </a:ext>
            </a:extLst>
          </p:cNvPr>
          <p:cNvSpPr>
            <a:spLocks noGrp="1"/>
          </p:cNvSpPr>
          <p:nvPr/>
        </p:nvSpPr>
        <p:spPr>
          <a:xfrm>
            <a:off x="9763125" y="2381250"/>
            <a:ext cx="1809750" cy="3143250"/>
          </a:xfrm>
          <a:prstGeom prst="rect">
            <a:avLst/>
          </a:prstGeom>
          <a:solidFill>
            <a:srgbClr val="173F50"/>
          </a:solidFill>
          <a:ln w="19050">
            <a:solidFill>
              <a:srgbClr val="2A98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2F286D5-8146-45CF-A2FF-C755DDC6AD3E}"/>
              </a:ext>
            </a:extLst>
          </p:cNvPr>
          <p:cNvSpPr>
            <a:spLocks noGrp="1"/>
          </p:cNvSpPr>
          <p:nvPr/>
        </p:nvSpPr>
        <p:spPr>
          <a:xfrm>
            <a:off x="9934575" y="25908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INTERVAL NOTE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AE058A-6123-459C-A752-D39E9C1013A0}"/>
              </a:ext>
            </a:extLst>
          </p:cNvPr>
          <p:cNvSpPr>
            <a:spLocks noGrp="1"/>
          </p:cNvSpPr>
          <p:nvPr/>
        </p:nvSpPr>
        <p:spPr>
          <a:xfrm>
            <a:off x="9934575" y="3048000"/>
            <a:ext cx="1428750" cy="2143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[depth window]</a:t>
            </a:r>
          </a:p>
          <a:p>
            <a:endParaRPr sz="112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[predicted phase]</a:t>
            </a:r>
          </a:p>
          <a:p>
            <a:endParaRPr sz="112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[confidence]</a:t>
            </a:r>
          </a:p>
          <a:p>
            <a:endParaRPr sz="112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[key evidence]</a:t>
            </a:r>
          </a:p>
          <a:p>
            <a:endParaRPr sz="112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[uncertainty flags]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1757D9F-EB87-44AA-A831-6D14ED04A109}"/>
              </a:ext>
            </a:extLst>
          </p:cNvPr>
          <p:cNvSpPr>
            <a:spLocks noGrp="1"/>
          </p:cNvSpPr>
          <p:nvPr/>
        </p:nvSpPr>
        <p:spPr>
          <a:xfrm>
            <a:off x="647700" y="5848350"/>
            <a:ext cx="904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PLACEHOLDER ONLY - no approved result values are embedded.</a:t>
            </a:r>
          </a:p>
        </p:txBody>
      </p:sp>
    </p:spTree>
    <p:extLst>
      <p:ext uri="{BB962C8B-B14F-4D97-AF65-F5344CB8AC3E}">
        <p14:creationId xmlns:p14="http://schemas.microsoft.com/office/powerpoint/2010/main" val="191328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23F5FA2-1DC8-4336-B767-ADCDC9329A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417D6-CE17-444F-8D06-71A713039DB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REPORTING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B9C95A-9876-4F40-ADE2-245C712572D6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FB41BE-55DD-47D5-9A52-A102B14393FC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Performance reporting must show calibration and failure behavior.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1451F1-9DB0-4638-9F21-4215B078CB01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Accuracy alone is not enough for a scientific interpretation workflow.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E48C7-601F-4129-9E55-4FD1DA293640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CA603-13A5-4A37-813F-73B65D2D2A57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F6AAA4-13B4-42CB-8460-50FA9636C98E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323E5E-7927-45E7-9463-8A7D72374BAA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3476625" cy="3143250"/>
          </a:xfrm>
          <a:prstGeom prst="rect">
            <a:avLst/>
          </a:prstGeom>
          <a:solidFill>
            <a:srgbClr val="F5F0E6"/>
          </a:solidFill>
          <a:ln w="19050">
            <a:solidFill>
              <a:srgbClr val="D9794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698E84-95A4-4DE0-94C0-AB1E21C660AA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31337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FUTURE APPROVED-DATA 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A09491-489C-438A-A490-F9022184F4D0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3133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Grouped performance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27F4E2-D07B-42DE-B194-C66E3C59D467}"/>
              </a:ext>
            </a:extLst>
          </p:cNvPr>
          <p:cNvSpPr>
            <a:spLocks noGrp="1"/>
          </p:cNvSpPr>
          <p:nvPr/>
        </p:nvSpPr>
        <p:spPr>
          <a:xfrm>
            <a:off x="762000" y="3076575"/>
            <a:ext cx="3133725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70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7078"/>
                </a:solidFill>
                <a:latin typeface="Aptos"/>
                <a:ea typeface="Aptos"/>
                <a:cs typeface="Aptos"/>
              </a:rPr>
              <a:t>Populate per-class precision, recall, macro F1, and held-out-well summary.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CC55DF-658E-42F5-817E-151657647F3B}"/>
              </a:ext>
            </a:extLst>
          </p:cNvPr>
          <p:cNvSpPr>
            <a:spLocks noGrp="1"/>
          </p:cNvSpPr>
          <p:nvPr/>
        </p:nvSpPr>
        <p:spPr>
          <a:xfrm>
            <a:off x="4362450" y="2209800"/>
            <a:ext cx="3476625" cy="3143250"/>
          </a:xfrm>
          <a:prstGeom prst="rect">
            <a:avLst/>
          </a:prstGeom>
          <a:solidFill>
            <a:srgbClr val="F5F0E6"/>
          </a:solidFill>
          <a:ln w="19050">
            <a:solidFill>
              <a:srgbClr val="D9794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A6BE02-1690-4438-9BDE-DB3D6BB0F3C1}"/>
              </a:ext>
            </a:extLst>
          </p:cNvPr>
          <p:cNvSpPr>
            <a:spLocks noGrp="1"/>
          </p:cNvSpPr>
          <p:nvPr/>
        </p:nvSpPr>
        <p:spPr>
          <a:xfrm>
            <a:off x="4533900" y="2352675"/>
            <a:ext cx="31337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FUTURE APPROVED-DATA OUTPUT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2A7BF8-FFE0-4670-B83E-4BBAFFA83047}"/>
              </a:ext>
            </a:extLst>
          </p:cNvPr>
          <p:cNvSpPr>
            <a:spLocks noGrp="1"/>
          </p:cNvSpPr>
          <p:nvPr/>
        </p:nvSpPr>
        <p:spPr>
          <a:xfrm>
            <a:off x="4533900" y="2686050"/>
            <a:ext cx="3133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Calibration + abstention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D85C4B-63EC-49D7-8EED-50B50586FAD8}"/>
              </a:ext>
            </a:extLst>
          </p:cNvPr>
          <p:cNvSpPr>
            <a:spLocks noGrp="1"/>
          </p:cNvSpPr>
          <p:nvPr/>
        </p:nvSpPr>
        <p:spPr>
          <a:xfrm>
            <a:off x="4533900" y="3076575"/>
            <a:ext cx="3133725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70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7078"/>
                </a:solidFill>
                <a:latin typeface="Aptos"/>
                <a:ea typeface="Aptos"/>
                <a:cs typeface="Aptos"/>
              </a:rPr>
              <a:t>Populate probability calibration curve, review threshold, and uncertain-class rate.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AB5DB1-5CF8-4AA7-8B78-9B024552463B}"/>
              </a:ext>
            </a:extLst>
          </p:cNvPr>
          <p:cNvSpPr>
            <a:spLocks noGrp="1"/>
          </p:cNvSpPr>
          <p:nvPr/>
        </p:nvSpPr>
        <p:spPr>
          <a:xfrm>
            <a:off x="8134350" y="2209800"/>
            <a:ext cx="3476625" cy="3143250"/>
          </a:xfrm>
          <a:prstGeom prst="rect">
            <a:avLst/>
          </a:prstGeom>
          <a:solidFill>
            <a:srgbClr val="F5F0E6"/>
          </a:solidFill>
          <a:ln w="19050">
            <a:solidFill>
              <a:srgbClr val="D9794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B14D54-6A93-4401-9AE8-19514308E935}"/>
              </a:ext>
            </a:extLst>
          </p:cNvPr>
          <p:cNvSpPr>
            <a:spLocks noGrp="1"/>
          </p:cNvSpPr>
          <p:nvPr/>
        </p:nvSpPr>
        <p:spPr>
          <a:xfrm>
            <a:off x="8305800" y="2352675"/>
            <a:ext cx="31337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FUTURE APPROVED-DATA 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775939-EEC3-4250-9650-B30746EB5ADB}"/>
              </a:ext>
            </a:extLst>
          </p:cNvPr>
          <p:cNvSpPr>
            <a:spLocks noGrp="1"/>
          </p:cNvSpPr>
          <p:nvPr/>
        </p:nvSpPr>
        <p:spPr>
          <a:xfrm>
            <a:off x="8305800" y="2686050"/>
            <a:ext cx="3133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Error review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FA7ED9-A9FF-4DE7-A59A-F375B86E35C9}"/>
              </a:ext>
            </a:extLst>
          </p:cNvPr>
          <p:cNvSpPr>
            <a:spLocks noGrp="1"/>
          </p:cNvSpPr>
          <p:nvPr/>
        </p:nvSpPr>
        <p:spPr>
          <a:xfrm>
            <a:off x="8305800" y="3076575"/>
            <a:ext cx="3133725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C70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7078"/>
                </a:solidFill>
                <a:latin typeface="Aptos"/>
                <a:ea typeface="Aptos"/>
                <a:cs typeface="Aptos"/>
              </a:rPr>
              <a:t>Populate confusion matrix and a short table of physically meaningful false positives.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4EEA4-5998-4895-BC09-208BC112B1F6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1000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Report phase classification separately from producibility ranking.</a:t>
            </a:r>
          </a:p>
        </p:txBody>
      </p:sp>
    </p:spTree>
    <p:extLst>
      <p:ext uri="{BB962C8B-B14F-4D97-AF65-F5344CB8AC3E}">
        <p14:creationId xmlns:p14="http://schemas.microsoft.com/office/powerpoint/2010/main" val="180533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B706CF4-FFBF-4557-B392-4452E1066C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D138-FDE9-4DFE-AE11-16613476D8C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SAFEGUARDS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796EB6-8EBC-481C-A3DF-4429CB0B4F6A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198273-ADB4-447A-B35F-D2C3EF44EC58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Known false signals become explicit model rules.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983DC3-7516-4FD3-91B4-B35880D74882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The manuscript already names the failure cases that the implementation must preserve.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1812C5-08B7-417F-9B35-D49E9F96C8A6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05D978-63C1-4FB1-9BEF-12D1016F9B78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47B46B-D486-4F5A-9FC2-4947DB1E687D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4D35AF-6611-497E-8A80-0506D2EC2663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FALSE SHORTCUT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7B3AC3-8A3A-4695-B961-8B091807E0A1}"/>
              </a:ext>
            </a:extLst>
          </p:cNvPr>
          <p:cNvSpPr>
            <a:spLocks noGrp="1"/>
          </p:cNvSpPr>
          <p:nvPr/>
        </p:nvSpPr>
        <p:spPr>
          <a:xfrm>
            <a:off x="3314700" y="2171700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WHY IT FAILS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3C715-EE96-4C1A-8B8D-FBFC44271449}"/>
              </a:ext>
            </a:extLst>
          </p:cNvPr>
          <p:cNvSpPr>
            <a:spLocks noGrp="1"/>
          </p:cNvSpPr>
          <p:nvPr/>
        </p:nvSpPr>
        <p:spPr>
          <a:xfrm>
            <a:off x="8667750" y="21717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MODEL SAFEGUARD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342C0D-932F-4FB0-9640-F3AE910D03D8}"/>
              </a:ext>
            </a:extLst>
          </p:cNvPr>
          <p:cNvSpPr>
            <a:spLocks noGrp="1"/>
          </p:cNvSpPr>
          <p:nvPr/>
        </p:nvSpPr>
        <p:spPr>
          <a:xfrm>
            <a:off x="723900" y="3000375"/>
            <a:ext cx="10382250" cy="9525"/>
          </a:xfrm>
          <a:prstGeom prst="rect">
            <a:avLst/>
          </a:prstGeom>
          <a:solidFill>
            <a:srgbClr val="4E6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DD4F25-B0CA-435B-ABA8-C3B1795B3033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2383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GHSZ != hydrate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B55F80-B7DC-4503-ABB0-FE6A632E64B6}"/>
              </a:ext>
            </a:extLst>
          </p:cNvPr>
          <p:cNvSpPr>
            <a:spLocks noGrp="1"/>
          </p:cNvSpPr>
          <p:nvPr/>
        </p:nvSpPr>
        <p:spPr>
          <a:xfrm>
            <a:off x="3314700" y="2647950"/>
            <a:ext cx="466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3E2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3E2E2"/>
                </a:solidFill>
                <a:latin typeface="Aptos"/>
                <a:ea typeface="Aptos"/>
                <a:cs typeface="Aptos"/>
              </a:rPr>
              <a:t>Stability defines possibility, not occupancy.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330B63-497A-4B51-B3BB-EA3FAA8A1175}"/>
              </a:ext>
            </a:extLst>
          </p:cNvPr>
          <p:cNvSpPr>
            <a:spLocks noGrp="1"/>
          </p:cNvSpPr>
          <p:nvPr/>
        </p:nvSpPr>
        <p:spPr>
          <a:xfrm>
            <a:off x="8667750" y="26479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Admissibility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F20E91-3958-432C-BD0C-26E9C7E6C026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10382250" cy="9525"/>
          </a:xfrm>
          <a:prstGeom prst="rect">
            <a:avLst/>
          </a:prstGeom>
          <a:solidFill>
            <a:srgbClr val="4E6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71A5EF-9889-4E09-A9D9-E3EAE78A60F7}"/>
              </a:ext>
            </a:extLst>
          </p:cNvPr>
          <p:cNvSpPr>
            <a:spLocks noGrp="1"/>
          </p:cNvSpPr>
          <p:nvPr/>
        </p:nvSpPr>
        <p:spPr>
          <a:xfrm>
            <a:off x="742950" y="3248025"/>
            <a:ext cx="22383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Rt != hydrate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66238C-F8B4-421E-A52D-F8FE68E45B8D}"/>
              </a:ext>
            </a:extLst>
          </p:cNvPr>
          <p:cNvSpPr>
            <a:spLocks noGrp="1"/>
          </p:cNvSpPr>
          <p:nvPr/>
        </p:nvSpPr>
        <p:spPr>
          <a:xfrm>
            <a:off x="3314700" y="3248025"/>
            <a:ext cx="466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3E2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3E2E2"/>
                </a:solidFill>
                <a:latin typeface="Aptos"/>
                <a:ea typeface="Aptos"/>
                <a:cs typeface="Aptos"/>
              </a:rPr>
              <a:t>Gas, low porosity, clay, carbonate, and coal can raise Rt.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507E04-73A1-4514-91C3-AEBDA30B2B50}"/>
              </a:ext>
            </a:extLst>
          </p:cNvPr>
          <p:cNvSpPr>
            <a:spLocks noGrp="1"/>
          </p:cNvSpPr>
          <p:nvPr/>
        </p:nvSpPr>
        <p:spPr>
          <a:xfrm>
            <a:off x="8667750" y="3248025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Require multi-log agreement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D6684E-5BCD-44C3-A19C-514D9D52852B}"/>
              </a:ext>
            </a:extLst>
          </p:cNvPr>
          <p:cNvSpPr>
            <a:spLocks noGrp="1"/>
          </p:cNvSpPr>
          <p:nvPr/>
        </p:nvSpPr>
        <p:spPr>
          <a:xfrm>
            <a:off x="723900" y="4200525"/>
            <a:ext cx="10382250" cy="9525"/>
          </a:xfrm>
          <a:prstGeom prst="rect">
            <a:avLst/>
          </a:prstGeom>
          <a:solidFill>
            <a:srgbClr val="4E6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3092DF-2113-4362-90BB-702F7973EDD3}"/>
              </a:ext>
            </a:extLst>
          </p:cNvPr>
          <p:cNvSpPr>
            <a:spLocks noGrp="1"/>
          </p:cNvSpPr>
          <p:nvPr/>
        </p:nvSpPr>
        <p:spPr>
          <a:xfrm>
            <a:off x="742950" y="3848100"/>
            <a:ext cx="22383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Good sand != hydrate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B63AE2-2754-4A58-ACB5-4A6E1F328D37}"/>
              </a:ext>
            </a:extLst>
          </p:cNvPr>
          <p:cNvSpPr>
            <a:spLocks noGrp="1"/>
          </p:cNvSpPr>
          <p:nvPr/>
        </p:nvSpPr>
        <p:spPr>
          <a:xfrm>
            <a:off x="3314700" y="3848100"/>
            <a:ext cx="466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3E2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3E2E2"/>
                </a:solidFill>
                <a:latin typeface="Aptos"/>
                <a:ea typeface="Aptos"/>
                <a:cs typeface="Aptos"/>
              </a:rPr>
              <a:t>Reservoir quality can exist without charge.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9C854E-333D-4409-9ABB-408CE1BC973D}"/>
              </a:ext>
            </a:extLst>
          </p:cNvPr>
          <p:cNvSpPr>
            <a:spLocks noGrp="1"/>
          </p:cNvSpPr>
          <p:nvPr/>
        </p:nvSpPr>
        <p:spPr>
          <a:xfrm>
            <a:off x="8667750" y="38481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Allow valid no-hydrate class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890F7E-C334-45BA-BF57-BFAE729C1C2F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10382250" cy="9525"/>
          </a:xfrm>
          <a:prstGeom prst="rect">
            <a:avLst/>
          </a:prstGeom>
          <a:solidFill>
            <a:srgbClr val="4E6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10F476-3BB3-4C19-BB46-46AB9CEA5B78}"/>
              </a:ext>
            </a:extLst>
          </p:cNvPr>
          <p:cNvSpPr>
            <a:spLocks noGrp="1"/>
          </p:cNvSpPr>
          <p:nvPr/>
        </p:nvSpPr>
        <p:spPr>
          <a:xfrm>
            <a:off x="742950" y="4448175"/>
            <a:ext cx="22383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Velocity != hydrate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093E07-9664-4614-9C1D-1FDFAC0F8927}"/>
              </a:ext>
            </a:extLst>
          </p:cNvPr>
          <p:cNvSpPr>
            <a:spLocks noGrp="1"/>
          </p:cNvSpPr>
          <p:nvPr/>
        </p:nvSpPr>
        <p:spPr>
          <a:xfrm>
            <a:off x="3314700" y="4448175"/>
            <a:ext cx="466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3E2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3E2E2"/>
                </a:solidFill>
                <a:latin typeface="Aptos"/>
                <a:ea typeface="Aptos"/>
                <a:cs typeface="Aptos"/>
              </a:rPr>
              <a:t>Stress or competent lithology can stiffen the frame.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473619-1F30-4179-A179-A3B602C61DF0}"/>
              </a:ext>
            </a:extLst>
          </p:cNvPr>
          <p:cNvSpPr>
            <a:spLocks noGrp="1"/>
          </p:cNvSpPr>
          <p:nvPr/>
        </p:nvSpPr>
        <p:spPr>
          <a:xfrm>
            <a:off x="8667750" y="4448175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Normalize and flag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B90DDE-6861-4C58-860B-62425615F525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10382250" cy="9525"/>
          </a:xfrm>
          <a:prstGeom prst="rect">
            <a:avLst/>
          </a:prstGeom>
          <a:solidFill>
            <a:srgbClr val="4E6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91513D-47FF-4186-9870-645CC270201A}"/>
              </a:ext>
            </a:extLst>
          </p:cNvPr>
          <p:cNvSpPr>
            <a:spLocks noGrp="1"/>
          </p:cNvSpPr>
          <p:nvPr/>
        </p:nvSpPr>
        <p:spPr>
          <a:xfrm>
            <a:off x="742950" y="5048250"/>
            <a:ext cx="22383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High Sh != best target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B87537-2ECA-443F-BD8D-5766B71418A4}"/>
              </a:ext>
            </a:extLst>
          </p:cNvPr>
          <p:cNvSpPr>
            <a:spLocks noGrp="1"/>
          </p:cNvSpPr>
          <p:nvPr/>
        </p:nvSpPr>
        <p:spPr>
          <a:xfrm>
            <a:off x="3314700" y="5048250"/>
            <a:ext cx="466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3E2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3E2E2"/>
                </a:solidFill>
                <a:latin typeface="Aptos"/>
                <a:ea typeface="Aptos"/>
                <a:cs typeface="Aptos"/>
              </a:rPr>
              <a:t>Permeability may collapse as hydrate occupancy rises.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553FB4-54AA-4850-9AC7-F7E12DD76A83}"/>
              </a:ext>
            </a:extLst>
          </p:cNvPr>
          <p:cNvSpPr>
            <a:spLocks noGrp="1"/>
          </p:cNvSpPr>
          <p:nvPr/>
        </p:nvSpPr>
        <p:spPr>
          <a:xfrm>
            <a:off x="8667750" y="5048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Rank producibility separately</a:t>
            </a:r>
          </a:p>
        </p:txBody>
      </p:sp>
    </p:spTree>
    <p:extLst>
      <p:ext uri="{BB962C8B-B14F-4D97-AF65-F5344CB8AC3E}">
        <p14:creationId xmlns:p14="http://schemas.microsoft.com/office/powerpoint/2010/main" val="70114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A89B9AA-45B0-4EB7-9EC2-E46A07DE22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8C92EB-3C48-42BB-9438-2632E8AAED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BD2D6"/>
                </a:solidFill>
                <a:latin typeface="Aptos Display"/>
                <a:ea typeface="Aptos Display"/>
                <a:cs typeface="Aptos Display"/>
              </a:rPr>
              <a:t>EXECUTION ROADMAP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011449-F85F-426C-94DD-3C1490DA6287}"/>
              </a:ext>
            </a:extLst>
          </p:cNvPr>
          <p:cNvSpPr>
            <a:spLocks noGrp="1"/>
          </p:cNvSpPr>
          <p:nvPr/>
        </p:nvSpPr>
        <p:spPr>
          <a:xfrm>
            <a:off x="533400" y="619125"/>
            <a:ext cx="51435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61C8A-AC69-4361-8A7C-40F2E846DB49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scaffold is ready for approved-environment implementation.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A68068-0D01-4F66-B4B1-67AA34455016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0572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7DAD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ADB"/>
                </a:solidFill>
                <a:latin typeface="Aptos"/>
                <a:ea typeface="Aptos"/>
                <a:cs typeface="Aptos"/>
              </a:rPr>
              <a:t>Transfer reusable code and templates through the authorized process; keep runtime inputs and outputs local.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DFF9B0-B248-48FF-8AB0-8A9DEBA37A2B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11163300" cy="9525"/>
          </a:xfrm>
          <a:prstGeom prst="rect">
            <a:avLst/>
          </a:prstGeom>
          <a:solidFill>
            <a:srgbClr val="8DA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B89B0D-29A5-4E24-9700-6335B38AEC52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9BEC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EC1"/>
                </a:solidFill>
                <a:latin typeface="Aptos"/>
                <a:ea typeface="Aptos"/>
                <a:cs typeface="Aptos"/>
              </a:rPr>
              <a:t>PUBLIC-SOURCE PLANNING SCAFFOLD  |  APPROVED-DATA RESULTS STAY IN AUTHORIZED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E9D93C-3E12-4913-A416-8E00AB0386D2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419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9BEC1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9" name="pill">
            <a:extLst>
              <a:ext uri="{FF2B5EF4-FFF2-40B4-BE49-F238E27FC236}">
                <a16:creationId xmlns:a16="http://schemas.microsoft.com/office/drawing/2014/main" id="{4F3C12A1-4059-452F-B065-3A0836991C49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990600" cy="23812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5E3ED5-F1E4-4002-835A-2BAE891CFD00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F9598B-9AD4-4CE2-A704-7731F5DBA65C}"/>
              </a:ext>
            </a:extLst>
          </p:cNvPr>
          <p:cNvSpPr>
            <a:spLocks noGrp="1"/>
          </p:cNvSpPr>
          <p:nvPr/>
        </p:nvSpPr>
        <p:spPr>
          <a:xfrm>
            <a:off x="590550" y="2828925"/>
            <a:ext cx="1790700" cy="28575"/>
          </a:xfrm>
          <a:prstGeom prst="rect">
            <a:avLst/>
          </a:prstGeom>
          <a:solidFill>
            <a:srgbClr val="D97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1FAAA9-CFF1-4B69-8C95-23596F7717AF}"/>
              </a:ext>
            </a:extLst>
          </p:cNvPr>
          <p:cNvSpPr>
            <a:spLocks noGrp="1"/>
          </p:cNvSpPr>
          <p:nvPr/>
        </p:nvSpPr>
        <p:spPr>
          <a:xfrm>
            <a:off x="590550" y="3105150"/>
            <a:ext cx="1790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Public foundation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D444E5-51B4-4954-9C59-C55A9AACDB01}"/>
              </a:ext>
            </a:extLst>
          </p:cNvPr>
          <p:cNvSpPr>
            <a:spLocks noGrp="1"/>
          </p:cNvSpPr>
          <p:nvPr/>
        </p:nvSpPr>
        <p:spPr>
          <a:xfrm>
            <a:off x="590550" y="3667125"/>
            <a:ext cx="1809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5E2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E2E3"/>
                </a:solidFill>
                <a:latin typeface="Aptos"/>
                <a:ea typeface="Aptos"/>
                <a:cs typeface="Aptos"/>
              </a:rPr>
              <a:t>Atlas, manuscript blueprint, presentation scaffold</a:t>
            </a:r>
          </a:p>
        </p:txBody>
      </p:sp>
      <p:sp>
        <p:nvSpPr>
          <p:cNvPr id="14" name="pill">
            <a:extLst>
              <a:ext uri="{FF2B5EF4-FFF2-40B4-BE49-F238E27FC236}">
                <a16:creationId xmlns:a16="http://schemas.microsoft.com/office/drawing/2014/main" id="{F505995F-26E1-4BE6-840A-0D307ED28699}"/>
              </a:ext>
            </a:extLst>
          </p:cNvPr>
          <p:cNvSpPr>
            <a:spLocks noGrp="1"/>
          </p:cNvSpPr>
          <p:nvPr/>
        </p:nvSpPr>
        <p:spPr>
          <a:xfrm>
            <a:off x="2828925" y="2305050"/>
            <a:ext cx="990600" cy="238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4022F1-5FE2-4206-A3B7-25D1D9C23532}"/>
              </a:ext>
            </a:extLst>
          </p:cNvPr>
          <p:cNvSpPr>
            <a:spLocks noGrp="1"/>
          </p:cNvSpPr>
          <p:nvPr/>
        </p:nvSpPr>
        <p:spPr>
          <a:xfrm>
            <a:off x="2924175" y="23526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SESSION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CA20E1-5BDB-46E8-AE38-12E6B180EF5E}"/>
              </a:ext>
            </a:extLst>
          </p:cNvPr>
          <p:cNvSpPr>
            <a:spLocks noGrp="1"/>
          </p:cNvSpPr>
          <p:nvPr/>
        </p:nvSpPr>
        <p:spPr>
          <a:xfrm>
            <a:off x="2828925" y="2828925"/>
            <a:ext cx="17907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F520D7-5761-44C1-B472-07389B717FEF}"/>
              </a:ext>
            </a:extLst>
          </p:cNvPr>
          <p:cNvSpPr>
            <a:spLocks noGrp="1"/>
          </p:cNvSpPr>
          <p:nvPr/>
        </p:nvSpPr>
        <p:spPr>
          <a:xfrm>
            <a:off x="2828925" y="3105150"/>
            <a:ext cx="1790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Runtime schema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D19DF0-F45B-4104-B6D4-2F33246D97F6}"/>
              </a:ext>
            </a:extLst>
          </p:cNvPr>
          <p:cNvSpPr>
            <a:spLocks noGrp="1"/>
          </p:cNvSpPr>
          <p:nvPr/>
        </p:nvSpPr>
        <p:spPr>
          <a:xfrm>
            <a:off x="2828925" y="3667125"/>
            <a:ext cx="1809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5E2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E2E3"/>
                </a:solidFill>
                <a:latin typeface="Aptos"/>
                <a:ea typeface="Aptos"/>
                <a:cs typeface="Aptos"/>
              </a:rPr>
              <a:t>Inventory files, mnemonics, units, missing curves</a:t>
            </a:r>
          </a:p>
        </p:txBody>
      </p:sp>
      <p:sp>
        <p:nvSpPr>
          <p:cNvPr id="19" name="pill">
            <a:extLst>
              <a:ext uri="{FF2B5EF4-FFF2-40B4-BE49-F238E27FC236}">
                <a16:creationId xmlns:a16="http://schemas.microsoft.com/office/drawing/2014/main" id="{6BD2B7AE-346A-42C1-B0F2-1CD66BFB6B78}"/>
              </a:ext>
            </a:extLst>
          </p:cNvPr>
          <p:cNvSpPr>
            <a:spLocks noGrp="1"/>
          </p:cNvSpPr>
          <p:nvPr/>
        </p:nvSpPr>
        <p:spPr>
          <a:xfrm>
            <a:off x="5067300" y="2305050"/>
            <a:ext cx="990600" cy="238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229322-61A1-4163-BC35-59B17B385372}"/>
              </a:ext>
            </a:extLst>
          </p:cNvPr>
          <p:cNvSpPr>
            <a:spLocks noGrp="1"/>
          </p:cNvSpPr>
          <p:nvPr/>
        </p:nvSpPr>
        <p:spPr>
          <a:xfrm>
            <a:off x="5162550" y="23526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SESSION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FFBE6C-078E-42C5-AD64-F7AA3CEC1E16}"/>
              </a:ext>
            </a:extLst>
          </p:cNvPr>
          <p:cNvSpPr>
            <a:spLocks noGrp="1"/>
          </p:cNvSpPr>
          <p:nvPr/>
        </p:nvSpPr>
        <p:spPr>
          <a:xfrm>
            <a:off x="5067300" y="2828925"/>
            <a:ext cx="17907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3775C7-A47F-4672-832B-87F2B09B1B94}"/>
              </a:ext>
            </a:extLst>
          </p:cNvPr>
          <p:cNvSpPr>
            <a:spLocks noGrp="1"/>
          </p:cNvSpPr>
          <p:nvPr/>
        </p:nvSpPr>
        <p:spPr>
          <a:xfrm>
            <a:off x="5067300" y="3105150"/>
            <a:ext cx="1790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QC + features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BF5C40-53B2-4745-9CD1-5D22C6FA0327}"/>
              </a:ext>
            </a:extLst>
          </p:cNvPr>
          <p:cNvSpPr>
            <a:spLocks noGrp="1"/>
          </p:cNvSpPr>
          <p:nvPr/>
        </p:nvSpPr>
        <p:spPr>
          <a:xfrm>
            <a:off x="5067300" y="3667125"/>
            <a:ext cx="1809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5E2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E2E3"/>
                </a:solidFill>
                <a:latin typeface="Aptos"/>
                <a:ea typeface="Aptos"/>
                <a:cs typeface="Aptos"/>
              </a:rPr>
              <a:t>Run checks and manually review a calibration subset</a:t>
            </a:r>
          </a:p>
        </p:txBody>
      </p:sp>
      <p:sp>
        <p:nvSpPr>
          <p:cNvPr id="24" name="pill">
            <a:extLst>
              <a:ext uri="{FF2B5EF4-FFF2-40B4-BE49-F238E27FC236}">
                <a16:creationId xmlns:a16="http://schemas.microsoft.com/office/drawing/2014/main" id="{E2664A96-2FD3-489E-B003-108689F183FA}"/>
              </a:ext>
            </a:extLst>
          </p:cNvPr>
          <p:cNvSpPr>
            <a:spLocks noGrp="1"/>
          </p:cNvSpPr>
          <p:nvPr/>
        </p:nvSpPr>
        <p:spPr>
          <a:xfrm>
            <a:off x="7305675" y="2305050"/>
            <a:ext cx="990600" cy="238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F6D6ED-F2A0-4A37-97CB-86C0B6400111}"/>
              </a:ext>
            </a:extLst>
          </p:cNvPr>
          <p:cNvSpPr>
            <a:spLocks noGrp="1"/>
          </p:cNvSpPr>
          <p:nvPr/>
        </p:nvSpPr>
        <p:spPr>
          <a:xfrm>
            <a:off x="7400925" y="23526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SESSION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09978D-9C25-4CA6-BDC9-0BD6563042B0}"/>
              </a:ext>
            </a:extLst>
          </p:cNvPr>
          <p:cNvSpPr>
            <a:spLocks noGrp="1"/>
          </p:cNvSpPr>
          <p:nvPr/>
        </p:nvSpPr>
        <p:spPr>
          <a:xfrm>
            <a:off x="7305675" y="2828925"/>
            <a:ext cx="17907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F145C8-E90A-490A-AFD4-20FC84DCF6C7}"/>
              </a:ext>
            </a:extLst>
          </p:cNvPr>
          <p:cNvSpPr>
            <a:spLocks noGrp="1"/>
          </p:cNvSpPr>
          <p:nvPr/>
        </p:nvSpPr>
        <p:spPr>
          <a:xfrm>
            <a:off x="7305675" y="3105150"/>
            <a:ext cx="1790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Baselines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7E5EDA-5F2E-4AC8-B595-F017C04E810A}"/>
              </a:ext>
            </a:extLst>
          </p:cNvPr>
          <p:cNvSpPr>
            <a:spLocks noGrp="1"/>
          </p:cNvSpPr>
          <p:nvPr/>
        </p:nvSpPr>
        <p:spPr>
          <a:xfrm>
            <a:off x="7305675" y="3667125"/>
            <a:ext cx="1809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5E2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E2E3"/>
                </a:solidFill>
                <a:latin typeface="Aptos"/>
                <a:ea typeface="Aptos"/>
                <a:cs typeface="Aptos"/>
              </a:rPr>
              <a:t>Train interpretable models with grouped splits</a:t>
            </a:r>
          </a:p>
        </p:txBody>
      </p:sp>
      <p:sp>
        <p:nvSpPr>
          <p:cNvPr id="29" name="pill">
            <a:extLst>
              <a:ext uri="{FF2B5EF4-FFF2-40B4-BE49-F238E27FC236}">
                <a16:creationId xmlns:a16="http://schemas.microsoft.com/office/drawing/2014/main" id="{309419C7-2754-4FAF-AD4C-893E4FF21FF0}"/>
              </a:ext>
            </a:extLst>
          </p:cNvPr>
          <p:cNvSpPr>
            <a:spLocks noGrp="1"/>
          </p:cNvSpPr>
          <p:nvPr/>
        </p:nvSpPr>
        <p:spPr>
          <a:xfrm>
            <a:off x="9544050" y="2305050"/>
            <a:ext cx="990600" cy="23812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0D5009-CA76-4905-8B91-7E64FAFDC11A}"/>
              </a:ext>
            </a:extLst>
          </p:cNvPr>
          <p:cNvSpPr>
            <a:spLocks noGrp="1"/>
          </p:cNvSpPr>
          <p:nvPr/>
        </p:nvSpPr>
        <p:spPr>
          <a:xfrm>
            <a:off x="9639300" y="23526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SESSION 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A1093A-C834-40F4-89A4-55D254878CEF}"/>
              </a:ext>
            </a:extLst>
          </p:cNvPr>
          <p:cNvSpPr>
            <a:spLocks noGrp="1"/>
          </p:cNvSpPr>
          <p:nvPr/>
        </p:nvSpPr>
        <p:spPr>
          <a:xfrm>
            <a:off x="9544050" y="2828925"/>
            <a:ext cx="1790700" cy="28575"/>
          </a:xfrm>
          <a:prstGeom prst="rect">
            <a:avLst/>
          </a:prstGeom>
          <a:solidFill>
            <a:srgbClr val="2A98A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546180-DFE6-45AE-B825-D81A36897520}"/>
              </a:ext>
            </a:extLst>
          </p:cNvPr>
          <p:cNvSpPr>
            <a:spLocks noGrp="1"/>
          </p:cNvSpPr>
          <p:nvPr/>
        </p:nvSpPr>
        <p:spPr>
          <a:xfrm>
            <a:off x="9544050" y="3105150"/>
            <a:ext cx="1790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EEFA63-174B-4F27-886A-F4E8D26E763C}"/>
              </a:ext>
            </a:extLst>
          </p:cNvPr>
          <p:cNvSpPr>
            <a:spLocks noGrp="1"/>
          </p:cNvSpPr>
          <p:nvPr/>
        </p:nvSpPr>
        <p:spPr>
          <a:xfrm>
            <a:off x="9544050" y="3667125"/>
            <a:ext cx="1809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5E2E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E2E3"/>
                </a:solidFill>
                <a:latin typeface="Aptos"/>
                <a:ea typeface="Aptos"/>
                <a:cs typeface="Aptos"/>
              </a:rPr>
              <a:t>Generate approved figures, error review, and mentor readout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16E1AC-D2F0-40FC-8F9C-27DE7A3F27DE}"/>
              </a:ext>
            </a:extLst>
          </p:cNvPr>
          <p:cNvSpPr>
            <a:spLocks noGrp="1"/>
          </p:cNvSpPr>
          <p:nvPr/>
        </p:nvSpPr>
        <p:spPr>
          <a:xfrm>
            <a:off x="590550" y="5191125"/>
            <a:ext cx="10572750" cy="66675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D3594A-0C9C-45D1-BAC8-B0DA710325BB}"/>
              </a:ext>
            </a:extLst>
          </p:cNvPr>
          <p:cNvSpPr>
            <a:spLocks noGrp="1"/>
          </p:cNvSpPr>
          <p:nvPr/>
        </p:nvSpPr>
        <p:spPr>
          <a:xfrm>
            <a:off x="781050" y="538162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97943"/>
                </a:solidFill>
                <a:latin typeface="Aptos Display"/>
                <a:ea typeface="Aptos Display"/>
                <a:cs typeface="Aptos Display"/>
              </a:rPr>
              <a:t>BOUNDARY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B2F6613-859F-45D6-AE42-0D81B2D9A367}"/>
              </a:ext>
            </a:extLst>
          </p:cNvPr>
          <p:cNvSpPr>
            <a:spLocks noGrp="1"/>
          </p:cNvSpPr>
          <p:nvPr/>
        </p:nvSpPr>
        <p:spPr>
          <a:xfrm>
            <a:off x="2000250" y="5334000"/>
            <a:ext cx="8810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D"/>
                </a:solidFill>
                <a:latin typeface="Aptos Display"/>
                <a:ea typeface="Aptos Display"/>
                <a:cs typeface="Aptos Display"/>
              </a:rPr>
              <a:t>The hosted atlas remains public-source only. Approved wireline data and derived results remain inside the authorized DOE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196274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DocSecurity>0</DocSecurity>
  <PresentationFormat>Widescreen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Gargi Nanda</cp:lastModifiedBy>
  <cp:revision>1</cp:revision>
  <dcterms:created xsi:type="dcterms:W3CDTF">2026-06-02T19:34:09Z</dcterms:created>
  <dcterms:modified xsi:type="dcterms:W3CDTF">2026-06-02T20:03:31Z</dcterms:modified>
</cp:coreProperties>
</file>