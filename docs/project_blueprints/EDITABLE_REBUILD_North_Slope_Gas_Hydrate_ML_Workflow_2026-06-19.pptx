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02"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871342-71C6-43E5-8049-EC59C531EDB5}"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4EDDD6-32C9-461C-B1E6-559035E54DBB}" type="slidenum">
              <a:rPr lang="en-US" smtClean="0"/>
              <a:t>‹#›</a:t>
            </a:fld>
            <a:endParaRPr lang="en-US"/>
          </a:p>
        </p:txBody>
      </p:sp>
    </p:spTree>
    <p:extLst>
      <p:ext uri="{BB962C8B-B14F-4D97-AF65-F5344CB8AC3E}">
        <p14:creationId xmlns:p14="http://schemas.microsoft.com/office/powerpoint/2010/main" val="3251283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cleanly, establish the purpose, and tell the audience this is a workflow and review deck, not a final results deck. The photo slot is intentionally blank for manual replacement.</a:t>
            </a:r>
          </a:p>
        </p:txBody>
      </p:sp>
      <p:sp>
        <p:nvSpPr>
          <p:cNvPr id="4" name="Slide Number Placeholder 3"/>
          <p:cNvSpPr>
            <a:spLocks noGrp="1"/>
          </p:cNvSpPr>
          <p:nvPr>
            <p:ph type="sldNum" sz="quarter" idx="5"/>
          </p:nvPr>
        </p:nvSpPr>
        <p:spPr/>
        <p:txBody>
          <a:bodyPr/>
          <a:lstStyle/>
          <a:p>
            <a:fld id="{504EDDD6-32C9-461C-B1E6-559035E54DBB}" type="slidenum">
              <a:rPr lang="en-US" smtClean="0"/>
              <a:t>1</a:t>
            </a:fld>
            <a:endParaRPr lang="en-US"/>
          </a:p>
        </p:txBody>
      </p:sp>
    </p:spTree>
    <p:extLst>
      <p:ext uri="{BB962C8B-B14F-4D97-AF65-F5344CB8AC3E}">
        <p14:creationId xmlns:p14="http://schemas.microsoft.com/office/powerpoint/2010/main" val="129146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define methane hydrate, frame the Alaska North Slope, and explain that P-T stability is a necessary context screen, not proof. Detailed citations belong in the companion notes.</a:t>
            </a:r>
          </a:p>
        </p:txBody>
      </p:sp>
      <p:sp>
        <p:nvSpPr>
          <p:cNvPr id="4" name="Slide Number Placeholder 3"/>
          <p:cNvSpPr>
            <a:spLocks noGrp="1"/>
          </p:cNvSpPr>
          <p:nvPr>
            <p:ph type="sldNum" sz="quarter" idx="5"/>
          </p:nvPr>
        </p:nvSpPr>
        <p:spPr/>
        <p:txBody>
          <a:bodyPr/>
          <a:lstStyle/>
          <a:p>
            <a:fld id="{504EDDD6-32C9-461C-B1E6-559035E54DBB}" type="slidenum">
              <a:rPr lang="en-US" smtClean="0"/>
              <a:t>2</a:t>
            </a:fld>
            <a:endParaRPr lang="en-US"/>
          </a:p>
        </p:txBody>
      </p:sp>
    </p:spTree>
    <p:extLst>
      <p:ext uri="{BB962C8B-B14F-4D97-AF65-F5344CB8AC3E}">
        <p14:creationId xmlns:p14="http://schemas.microsoft.com/office/powerpoint/2010/main" val="452662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left to right: lithology first, then curve movement, then core calibration. Emphasize that signals are complementary and mimic-prone. No equation or ML architecture belongs on this slide.</a:t>
            </a:r>
          </a:p>
        </p:txBody>
      </p:sp>
      <p:sp>
        <p:nvSpPr>
          <p:cNvPr id="4" name="Slide Number Placeholder 3"/>
          <p:cNvSpPr>
            <a:spLocks noGrp="1"/>
          </p:cNvSpPr>
          <p:nvPr>
            <p:ph type="sldNum" sz="quarter" idx="5"/>
          </p:nvPr>
        </p:nvSpPr>
        <p:spPr/>
        <p:txBody>
          <a:bodyPr/>
          <a:lstStyle/>
          <a:p>
            <a:fld id="{504EDDD6-32C9-461C-B1E6-559035E54DBB}" type="slidenum">
              <a:rPr lang="en-US" smtClean="0"/>
              <a:t>3</a:t>
            </a:fld>
            <a:endParaRPr lang="en-US"/>
          </a:p>
        </p:txBody>
      </p:sp>
    </p:spTree>
    <p:extLst>
      <p:ext uri="{BB962C8B-B14F-4D97-AF65-F5344CB8AC3E}">
        <p14:creationId xmlns:p14="http://schemas.microsoft.com/office/powerpoint/2010/main" val="1158355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Two-minute script: First, the project takes public regional context and approved well data separately. Second, every curve keeps its original header and unit before normalization. Third, saturation and occurrence evidence are held behind a leakage barrier. Fourth, occurrence classification and saturation regression are separate model heads. Fifth, no metric is meaningful until the split is by complete well or geography. Finally, outputs are reviewed figures and uncertainty summaries, not automatic hydrate claims.</a:t>
            </a:r>
          </a:p>
        </p:txBody>
      </p:sp>
      <p:sp>
        <p:nvSpPr>
          <p:cNvPr id="4" name="Slide Number Placeholder 3"/>
          <p:cNvSpPr>
            <a:spLocks noGrp="1"/>
          </p:cNvSpPr>
          <p:nvPr>
            <p:ph type="sldNum" sz="quarter" idx="5"/>
          </p:nvPr>
        </p:nvSpPr>
        <p:spPr/>
        <p:txBody>
          <a:bodyPr/>
          <a:lstStyle/>
          <a:p>
            <a:fld id="{504EDDD6-32C9-461C-B1E6-559035E54DBB}" type="slidenum">
              <a:rPr lang="en-US" smtClean="0"/>
              <a:t>4</a:t>
            </a:fld>
            <a:endParaRPr lang="en-US"/>
          </a:p>
        </p:txBody>
      </p:sp>
    </p:spTree>
    <p:extLst>
      <p:ext uri="{BB962C8B-B14F-4D97-AF65-F5344CB8AC3E}">
        <p14:creationId xmlns:p14="http://schemas.microsoft.com/office/powerpoint/2010/main" val="1255804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this slide about what each equation converts. The user can edit every equation label and card. Saturation equations are deliberately not included until exact source equation, units, and target/input role are approved.</a:t>
            </a:r>
          </a:p>
        </p:txBody>
      </p:sp>
      <p:sp>
        <p:nvSpPr>
          <p:cNvPr id="4" name="Slide Number Placeholder 3"/>
          <p:cNvSpPr>
            <a:spLocks noGrp="1"/>
          </p:cNvSpPr>
          <p:nvPr>
            <p:ph type="sldNum" sz="quarter" idx="5"/>
          </p:nvPr>
        </p:nvSpPr>
        <p:spPr/>
        <p:txBody>
          <a:bodyPr/>
          <a:lstStyle/>
          <a:p>
            <a:fld id="{504EDDD6-32C9-461C-B1E6-559035E54DBB}" type="slidenum">
              <a:rPr lang="en-US" smtClean="0"/>
              <a:t>5</a:t>
            </a:fld>
            <a:endParaRPr lang="en-US"/>
          </a:p>
        </p:txBody>
      </p:sp>
    </p:spTree>
    <p:extLst>
      <p:ext uri="{BB962C8B-B14F-4D97-AF65-F5344CB8AC3E}">
        <p14:creationId xmlns:p14="http://schemas.microsoft.com/office/powerpoint/2010/main" val="962002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should be explained in less than one minute. Detailed source tables, exact screenshots, and header lists belong in the companion material.</a:t>
            </a:r>
          </a:p>
        </p:txBody>
      </p:sp>
      <p:sp>
        <p:nvSpPr>
          <p:cNvPr id="4" name="Slide Number Placeholder 3"/>
          <p:cNvSpPr>
            <a:spLocks noGrp="1"/>
          </p:cNvSpPr>
          <p:nvPr>
            <p:ph type="sldNum" sz="quarter" idx="5"/>
          </p:nvPr>
        </p:nvSpPr>
        <p:spPr/>
        <p:txBody>
          <a:bodyPr/>
          <a:lstStyle/>
          <a:p>
            <a:fld id="{504EDDD6-32C9-461C-B1E6-559035E54DBB}" type="slidenum">
              <a:rPr lang="en-US" smtClean="0"/>
              <a:t>6</a:t>
            </a:fld>
            <a:endParaRPr lang="en-US"/>
          </a:p>
        </p:txBody>
      </p:sp>
    </p:spTree>
    <p:extLst>
      <p:ext uri="{BB962C8B-B14F-4D97-AF65-F5344CB8AC3E}">
        <p14:creationId xmlns:p14="http://schemas.microsoft.com/office/powerpoint/2010/main" val="828271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that this map organizes public context: field labels, roads, TAPS, permafrost controls, hydrate AU outlines, and stability-screen status. Do not use it as a prediction or discovery map.</a:t>
            </a:r>
          </a:p>
        </p:txBody>
      </p:sp>
      <p:sp>
        <p:nvSpPr>
          <p:cNvPr id="4" name="Slide Number Placeholder 3"/>
          <p:cNvSpPr>
            <a:spLocks noGrp="1"/>
          </p:cNvSpPr>
          <p:nvPr>
            <p:ph type="sldNum" sz="quarter" idx="5"/>
          </p:nvPr>
        </p:nvSpPr>
        <p:spPr/>
        <p:txBody>
          <a:bodyPr/>
          <a:lstStyle/>
          <a:p>
            <a:fld id="{504EDDD6-32C9-461C-B1E6-559035E54DBB}" type="slidenum">
              <a:rPr lang="en-US" smtClean="0"/>
              <a:t>7</a:t>
            </a:fld>
            <a:endParaRPr lang="en-US"/>
          </a:p>
        </p:txBody>
      </p:sp>
    </p:spTree>
    <p:extLst>
      <p:ext uri="{BB962C8B-B14F-4D97-AF65-F5344CB8AC3E}">
        <p14:creationId xmlns:p14="http://schemas.microsoft.com/office/powerpoint/2010/main" val="1474956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 this as a results-review plan. The audience should understand what will be produced later, how false positives are controlled, and why occurrence and saturation remain separate.</a:t>
            </a:r>
          </a:p>
        </p:txBody>
      </p:sp>
      <p:sp>
        <p:nvSpPr>
          <p:cNvPr id="4" name="Slide Number Placeholder 3"/>
          <p:cNvSpPr>
            <a:spLocks noGrp="1"/>
          </p:cNvSpPr>
          <p:nvPr>
            <p:ph type="sldNum" sz="quarter" idx="5"/>
          </p:nvPr>
        </p:nvSpPr>
        <p:spPr/>
        <p:txBody>
          <a:bodyPr/>
          <a:lstStyle/>
          <a:p>
            <a:fld id="{504EDDD6-32C9-461C-B1E6-559035E54DBB}" type="slidenum">
              <a:rPr lang="en-US" smtClean="0"/>
              <a:t>8</a:t>
            </a:fld>
            <a:endParaRPr lang="en-US"/>
          </a:p>
        </p:txBody>
      </p:sp>
    </p:spTree>
    <p:extLst>
      <p:ext uri="{BB962C8B-B14F-4D97-AF65-F5344CB8AC3E}">
        <p14:creationId xmlns:p14="http://schemas.microsoft.com/office/powerpoint/2010/main" val="904324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by saying the project has the public context, source discipline, and workflow skeleton ready. The remaining step is approved runtime execution and mentor target authority, not embellishing results.</a:t>
            </a:r>
          </a:p>
        </p:txBody>
      </p:sp>
      <p:sp>
        <p:nvSpPr>
          <p:cNvPr id="4" name="Slide Number Placeholder 3"/>
          <p:cNvSpPr>
            <a:spLocks noGrp="1"/>
          </p:cNvSpPr>
          <p:nvPr>
            <p:ph type="sldNum" sz="quarter" idx="5"/>
          </p:nvPr>
        </p:nvSpPr>
        <p:spPr/>
        <p:txBody>
          <a:bodyPr/>
          <a:lstStyle/>
          <a:p>
            <a:fld id="{504EDDD6-32C9-461C-B1E6-559035E54DBB}" type="slidenum">
              <a:rPr lang="en-US" smtClean="0"/>
              <a:t>9</a:t>
            </a:fld>
            <a:endParaRPr lang="en-US"/>
          </a:p>
        </p:txBody>
      </p:sp>
    </p:spTree>
    <p:extLst>
      <p:ext uri="{BB962C8B-B14F-4D97-AF65-F5344CB8AC3E}">
        <p14:creationId xmlns:p14="http://schemas.microsoft.com/office/powerpoint/2010/main" val="2246895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E02BF-780B-BF31-D9B4-ACDBB21128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C663CC-037E-E3B7-E96B-1B27D07691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EFD0D5-2E6C-EFE9-03CB-2B074BBABE08}"/>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5" name="Footer Placeholder 4">
            <a:extLst>
              <a:ext uri="{FF2B5EF4-FFF2-40B4-BE49-F238E27FC236}">
                <a16:creationId xmlns:a16="http://schemas.microsoft.com/office/drawing/2014/main" id="{A248383F-94A2-8764-72E4-99C2BB5E28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04497-B8DF-696E-0771-7506B1382680}"/>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5226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1E67F-9CDF-9B2E-6DE2-340500D659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9799E1-7672-C98B-0711-5FA1C66A06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14B623-0451-9275-88F4-C4880AD2F1DC}"/>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5" name="Footer Placeholder 4">
            <a:extLst>
              <a:ext uri="{FF2B5EF4-FFF2-40B4-BE49-F238E27FC236}">
                <a16:creationId xmlns:a16="http://schemas.microsoft.com/office/drawing/2014/main" id="{80C97690-67A0-0E15-A4B9-39582E4C68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A73D1-8C61-614F-FDEB-328ECA110447}"/>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2095595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CD3D5-40AD-5B4E-C8F9-1E4EF8C4CA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78D52E-3B3B-1DFB-B1B6-558941A519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74D468-27C9-C8E9-8C5F-E8731F145DDA}"/>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5" name="Footer Placeholder 4">
            <a:extLst>
              <a:ext uri="{FF2B5EF4-FFF2-40B4-BE49-F238E27FC236}">
                <a16:creationId xmlns:a16="http://schemas.microsoft.com/office/drawing/2014/main" id="{E91CE1E6-F646-2B15-F126-E077883DC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3657A-D603-9CDC-DE96-4EE269C328EC}"/>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877699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6330E-002A-E503-19D0-04C0D3394D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DF08FA-703D-BDA7-A7F5-A768996066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BABD65-1BE6-B779-EF92-ED708AA2D9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B5751C-8C90-07E6-CC65-4D6CAE494220}"/>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6" name="Footer Placeholder 5">
            <a:extLst>
              <a:ext uri="{FF2B5EF4-FFF2-40B4-BE49-F238E27FC236}">
                <a16:creationId xmlns:a16="http://schemas.microsoft.com/office/drawing/2014/main" id="{5B5CAC51-F779-B2B2-7085-D7775D0523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F08D-CF5C-2A1D-8562-0D9306446638}"/>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3064546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BCAF6-DF9D-96C6-464C-36E742FC82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3DA41C-BB4C-6B02-DC59-2162E532E0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782766-C4F4-5D31-3286-801FFE37BE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53282E-CEBB-5623-8727-D8D67B1249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EC03F-9A07-B278-CB8A-3AC0B0557C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1682E0-7F65-F17F-C986-C0250AD7B521}"/>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8" name="Footer Placeholder 7">
            <a:extLst>
              <a:ext uri="{FF2B5EF4-FFF2-40B4-BE49-F238E27FC236}">
                <a16:creationId xmlns:a16="http://schemas.microsoft.com/office/drawing/2014/main" id="{5484664B-16BB-12F0-183B-04EDB9E50E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EF5C3A-3313-4B85-F24E-FC9889BBDA04}"/>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157602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40667-A345-A0BA-37A6-EBA3322495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80B907-47C1-7A6E-C656-0BB81A7BC300}"/>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4" name="Footer Placeholder 3">
            <a:extLst>
              <a:ext uri="{FF2B5EF4-FFF2-40B4-BE49-F238E27FC236}">
                <a16:creationId xmlns:a16="http://schemas.microsoft.com/office/drawing/2014/main" id="{6315D379-783C-28BD-CC6E-9206DC3914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5121EA-EBB8-5F7C-E93F-0E134E3B0A57}"/>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335272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5D1507-655A-EFC5-F9C2-87EC3A35EAB6}"/>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3" name="Footer Placeholder 2">
            <a:extLst>
              <a:ext uri="{FF2B5EF4-FFF2-40B4-BE49-F238E27FC236}">
                <a16:creationId xmlns:a16="http://schemas.microsoft.com/office/drawing/2014/main" id="{EE9FBF2E-96B4-628B-5512-654EEE6015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D79445-B428-1628-8734-90CC6A1503DB}"/>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1930151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7B354-0F77-137A-53EB-2D464285A6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B2E26F-DA66-333F-2345-782AF57AAF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720A65-6902-42B7-A507-F86A15240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F4114B-3595-8CCB-D79E-1F87CA710A34}"/>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6" name="Footer Placeholder 5">
            <a:extLst>
              <a:ext uri="{FF2B5EF4-FFF2-40B4-BE49-F238E27FC236}">
                <a16:creationId xmlns:a16="http://schemas.microsoft.com/office/drawing/2014/main" id="{66C49CE5-B134-C38A-275E-DC2DAA98C8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E77F4F-61A5-B186-7E09-2B78C42C6D6F}"/>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28901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A293-96AE-87FD-B22D-4AA00C652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A96385-3F22-0109-A8B0-3A83A08877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38B49D-20BF-85E1-3293-D9F9A2B9B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4DF791-EFF2-2B7D-9D6A-ABC3C0B233D3}"/>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6" name="Footer Placeholder 5">
            <a:extLst>
              <a:ext uri="{FF2B5EF4-FFF2-40B4-BE49-F238E27FC236}">
                <a16:creationId xmlns:a16="http://schemas.microsoft.com/office/drawing/2014/main" id="{AB6C6B17-FBC4-E985-90B2-824326C8BF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C0EC14-D85B-ED3B-2D17-8A19BE138CD4}"/>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303721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71344-A9D5-04E5-3DBD-302C9C09C9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331733-7603-DBCD-D8D2-F43701B749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4AF93F-B6D6-7E84-AC76-2034DC6CCFF1}"/>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5" name="Footer Placeholder 4">
            <a:extLst>
              <a:ext uri="{FF2B5EF4-FFF2-40B4-BE49-F238E27FC236}">
                <a16:creationId xmlns:a16="http://schemas.microsoft.com/office/drawing/2014/main" id="{BEFBC040-C904-D8DF-5A4B-0674F9B9E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916608-B751-9E04-F10A-17A64E7A8A88}"/>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3998087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7FD5C5-D3E5-3861-7ACA-2AB79DD621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C12470-E636-10A3-9B87-61BA3E52D5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D9C47-3277-6960-300C-B9AE13D066AC}"/>
              </a:ext>
            </a:extLst>
          </p:cNvPr>
          <p:cNvSpPr>
            <a:spLocks noGrp="1"/>
          </p:cNvSpPr>
          <p:nvPr>
            <p:ph type="dt" sz="half" idx="10"/>
          </p:nvPr>
        </p:nvSpPr>
        <p:spPr/>
        <p:txBody>
          <a:bodyPr/>
          <a:lstStyle/>
          <a:p>
            <a:fld id="{4FB487E7-8906-439D-9A69-9CC86C96CF47}" type="datetimeFigureOut">
              <a:rPr lang="en-US" smtClean="0"/>
              <a:t>6/19/2026</a:t>
            </a:fld>
            <a:endParaRPr lang="en-US"/>
          </a:p>
        </p:txBody>
      </p:sp>
      <p:sp>
        <p:nvSpPr>
          <p:cNvPr id="5" name="Footer Placeholder 4">
            <a:extLst>
              <a:ext uri="{FF2B5EF4-FFF2-40B4-BE49-F238E27FC236}">
                <a16:creationId xmlns:a16="http://schemas.microsoft.com/office/drawing/2014/main" id="{5972BB35-088C-FF17-121A-FC539C616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D18DDC-B1A4-C53B-AB0E-F1840E401F81}"/>
              </a:ext>
            </a:extLst>
          </p:cNvPr>
          <p:cNvSpPr>
            <a:spLocks noGrp="1"/>
          </p:cNvSpPr>
          <p:nvPr>
            <p:ph type="sldNum" sz="quarter" idx="12"/>
          </p:nvPr>
        </p:nvSpPr>
        <p:spPr/>
        <p:txBody>
          <a:bodyPr/>
          <a:lstStyle/>
          <a:p>
            <a:fld id="{8725770A-5F68-456D-B17F-A3CA7A32EC1F}" type="slidenum">
              <a:rPr lang="en-US" smtClean="0"/>
              <a:t>‹#›</a:t>
            </a:fld>
            <a:endParaRPr lang="en-US"/>
          </a:p>
        </p:txBody>
      </p:sp>
    </p:spTree>
    <p:extLst>
      <p:ext uri="{BB962C8B-B14F-4D97-AF65-F5344CB8AC3E}">
        <p14:creationId xmlns:p14="http://schemas.microsoft.com/office/powerpoint/2010/main" val="3249437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2D6C0F-1768-44B9-7300-FEB6B93E0B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443C41-6D2D-72B1-7F62-61EB8D4546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2014F2-D008-EBBE-BC67-B7B0B6C44E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B487E7-8906-439D-9A69-9CC86C96CF47}" type="datetimeFigureOut">
              <a:rPr lang="en-US" smtClean="0"/>
              <a:t>6/19/2026</a:t>
            </a:fld>
            <a:endParaRPr lang="en-US"/>
          </a:p>
        </p:txBody>
      </p:sp>
      <p:sp>
        <p:nvSpPr>
          <p:cNvPr id="5" name="Footer Placeholder 4">
            <a:extLst>
              <a:ext uri="{FF2B5EF4-FFF2-40B4-BE49-F238E27FC236}">
                <a16:creationId xmlns:a16="http://schemas.microsoft.com/office/drawing/2014/main" id="{0924B044-3268-0904-9F3E-D318A1154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743B3A-31B8-7CF2-2662-C18228D383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25770A-5F68-456D-B17F-A3CA7A32EC1F}" type="slidenum">
              <a:rPr lang="en-US" smtClean="0"/>
              <a:t>‹#›</a:t>
            </a:fld>
            <a:endParaRPr lang="en-US"/>
          </a:p>
        </p:txBody>
      </p:sp>
    </p:spTree>
    <p:extLst>
      <p:ext uri="{BB962C8B-B14F-4D97-AF65-F5344CB8AC3E}">
        <p14:creationId xmlns:p14="http://schemas.microsoft.com/office/powerpoint/2010/main" val="2173539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253CB4-7CF1-306A-FF2A-5EBE787804BA}"/>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40E6D67-D1DA-50E8-5C92-30AEEF608385}"/>
              </a:ext>
            </a:extLst>
          </p:cNvPr>
          <p:cNvSpPr txBox="1"/>
          <p:nvPr/>
        </p:nvSpPr>
        <p:spPr>
          <a:xfrm>
            <a:off x="736600" y="698500"/>
            <a:ext cx="7112000" cy="1149033"/>
          </a:xfrm>
          <a:prstGeom prst="rect">
            <a:avLst/>
          </a:prstGeom>
          <a:noFill/>
        </p:spPr>
        <p:txBody>
          <a:bodyPr vert="horz" wrap="square" lIns="76200" tIns="50800" rIns="76200" bIns="50800" rtlCol="0">
            <a:spAutoFit/>
          </a:bodyPr>
          <a:lstStyle/>
          <a:p>
            <a:r>
              <a:rPr lang="en-US" sz="3400" b="1">
                <a:solidFill>
                  <a:srgbClr val="0F172A"/>
                </a:solidFill>
                <a:latin typeface="Aptos" panose="020B0004020202020204" pitchFamily="34" charset="0"/>
              </a:rPr>
              <a:t>North Slope Gas Hydrate ML Workflow</a:t>
            </a:r>
          </a:p>
        </p:txBody>
      </p:sp>
      <p:sp>
        <p:nvSpPr>
          <p:cNvPr id="4" name="TextBox 3">
            <a:extLst>
              <a:ext uri="{FF2B5EF4-FFF2-40B4-BE49-F238E27FC236}">
                <a16:creationId xmlns:a16="http://schemas.microsoft.com/office/drawing/2014/main" id="{B2ACDD3F-9B5F-4AC3-5CE0-A442CD5E1899}"/>
              </a:ext>
            </a:extLst>
          </p:cNvPr>
          <p:cNvSpPr txBox="1"/>
          <p:nvPr/>
        </p:nvSpPr>
        <p:spPr>
          <a:xfrm>
            <a:off x="774700" y="1574800"/>
            <a:ext cx="7112000" cy="364202"/>
          </a:xfrm>
          <a:prstGeom prst="rect">
            <a:avLst/>
          </a:prstGeom>
          <a:noFill/>
        </p:spPr>
        <p:txBody>
          <a:bodyPr vert="horz" wrap="square" lIns="76200" tIns="50800" rIns="76200" bIns="50800" rtlCol="0">
            <a:spAutoFit/>
          </a:bodyPr>
          <a:lstStyle/>
          <a:p>
            <a:r>
              <a:rPr lang="en-US" sz="1700">
                <a:solidFill>
                  <a:srgbClr val="475569"/>
                </a:solidFill>
                <a:latin typeface="Aptos" panose="020B0004020202020204" pitchFamily="34" charset="0"/>
              </a:rPr>
              <a:t>Public-source context + approved-runtime pathway</a:t>
            </a:r>
          </a:p>
        </p:txBody>
      </p:sp>
      <p:sp>
        <p:nvSpPr>
          <p:cNvPr id="5" name="TextBox 4">
            <a:extLst>
              <a:ext uri="{FF2B5EF4-FFF2-40B4-BE49-F238E27FC236}">
                <a16:creationId xmlns:a16="http://schemas.microsoft.com/office/drawing/2014/main" id="{92875438-4A47-7A9E-E91A-51782441AFFE}"/>
              </a:ext>
            </a:extLst>
          </p:cNvPr>
          <p:cNvSpPr txBox="1"/>
          <p:nvPr/>
        </p:nvSpPr>
        <p:spPr>
          <a:xfrm>
            <a:off x="774700" y="2209800"/>
            <a:ext cx="5969000" cy="441146"/>
          </a:xfrm>
          <a:prstGeom prst="rect">
            <a:avLst/>
          </a:prstGeom>
          <a:noFill/>
        </p:spPr>
        <p:txBody>
          <a:bodyPr vert="horz" wrap="square" lIns="76200" tIns="50800" rIns="76200" bIns="50800" rtlCol="0">
            <a:spAutoFit/>
          </a:bodyPr>
          <a:lstStyle/>
          <a:p>
            <a:r>
              <a:rPr lang="en-US" sz="2200" b="1">
                <a:solidFill>
                  <a:srgbClr val="0F766E"/>
                </a:solidFill>
                <a:latin typeface="Aptos" panose="020B0004020202020204" pitchFamily="34" charset="0"/>
              </a:rPr>
              <a:t>Editable rebuild for mentor review</a:t>
            </a:r>
          </a:p>
        </p:txBody>
      </p:sp>
      <p:sp>
        <p:nvSpPr>
          <p:cNvPr id="6" name="Rectangle: Rounded Corners 5">
            <a:extLst>
              <a:ext uri="{FF2B5EF4-FFF2-40B4-BE49-F238E27FC236}">
                <a16:creationId xmlns:a16="http://schemas.microsoft.com/office/drawing/2014/main" id="{A1C07FAA-FB9A-A887-3A98-0E075799808B}"/>
              </a:ext>
            </a:extLst>
          </p:cNvPr>
          <p:cNvSpPr/>
          <p:nvPr/>
        </p:nvSpPr>
        <p:spPr>
          <a:xfrm>
            <a:off x="787400" y="3251200"/>
            <a:ext cx="3619500" cy="9906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500">
                <a:solidFill>
                  <a:srgbClr val="0F172A"/>
                </a:solidFill>
                <a:latin typeface="Aptos" panose="020B0004020202020204" pitchFamily="34" charset="0"/>
              </a:rPr>
              <a:t>Goal: connect regional geology, stability context, well logs, lithology/core calibration, and guarded ML outputs.</a:t>
            </a:r>
          </a:p>
        </p:txBody>
      </p:sp>
      <p:sp>
        <p:nvSpPr>
          <p:cNvPr id="7" name="Rectangle: Rounded Corners 6">
            <a:extLst>
              <a:ext uri="{FF2B5EF4-FFF2-40B4-BE49-F238E27FC236}">
                <a16:creationId xmlns:a16="http://schemas.microsoft.com/office/drawing/2014/main" id="{BCF9FC8F-2185-B31B-1208-019CE208CCCC}"/>
              </a:ext>
            </a:extLst>
          </p:cNvPr>
          <p:cNvSpPr/>
          <p:nvPr/>
        </p:nvSpPr>
        <p:spPr>
          <a:xfrm>
            <a:off x="4635500" y="3251200"/>
            <a:ext cx="3048000" cy="990600"/>
          </a:xfrm>
          <a:prstGeom prst="roundRect">
            <a:avLst/>
          </a:prstGeom>
          <a:solidFill>
            <a:srgbClr val="FFFBEB"/>
          </a:solidFill>
          <a:ln w="1778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500" b="1">
                <a:solidFill>
                  <a:srgbClr val="B45309"/>
                </a:solidFill>
                <a:latin typeface="Aptos" panose="020B0004020202020204" pitchFamily="34" charset="0"/>
              </a:rPr>
              <a:t>Today: no hydrate proof, no trained metrics, no occurrence/saturation predictions.</a:t>
            </a:r>
          </a:p>
        </p:txBody>
      </p:sp>
      <p:sp>
        <p:nvSpPr>
          <p:cNvPr id="8" name="Rectangle 7">
            <a:extLst>
              <a:ext uri="{FF2B5EF4-FFF2-40B4-BE49-F238E27FC236}">
                <a16:creationId xmlns:a16="http://schemas.microsoft.com/office/drawing/2014/main" id="{2D21A84D-C64F-49E2-B0AE-E266F31C2F9C}"/>
              </a:ext>
            </a:extLst>
          </p:cNvPr>
          <p:cNvSpPr/>
          <p:nvPr/>
        </p:nvSpPr>
        <p:spPr>
          <a:xfrm>
            <a:off x="8763000" y="1092200"/>
            <a:ext cx="2413000" cy="31115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4FC1799-BE48-35C4-013B-834C3363EB4A}"/>
              </a:ext>
            </a:extLst>
          </p:cNvPr>
          <p:cNvSpPr txBox="1"/>
          <p:nvPr/>
        </p:nvSpPr>
        <p:spPr>
          <a:xfrm>
            <a:off x="8991600" y="2413000"/>
            <a:ext cx="1955800" cy="595035"/>
          </a:xfrm>
          <a:prstGeom prst="rect">
            <a:avLst/>
          </a:prstGeom>
          <a:noFill/>
        </p:spPr>
        <p:txBody>
          <a:bodyPr vert="horz" wrap="square" lIns="76200" tIns="50800" rIns="76200" bIns="50800" rtlCol="0">
            <a:spAutoFit/>
          </a:bodyPr>
          <a:lstStyle/>
          <a:p>
            <a:pPr algn="ctr"/>
            <a:r>
              <a:rPr lang="en-US" sz="1600" b="1">
                <a:solidFill>
                  <a:srgbClr val="64748B"/>
                </a:solidFill>
                <a:latin typeface="Aptos" panose="020B0004020202020204" pitchFamily="34" charset="0"/>
              </a:rPr>
              <a:t>Editable photo placeholder</a:t>
            </a:r>
          </a:p>
        </p:txBody>
      </p:sp>
      <p:sp>
        <p:nvSpPr>
          <p:cNvPr id="10" name="TextBox 9">
            <a:extLst>
              <a:ext uri="{FF2B5EF4-FFF2-40B4-BE49-F238E27FC236}">
                <a16:creationId xmlns:a16="http://schemas.microsoft.com/office/drawing/2014/main" id="{8498D50D-4B23-0D13-ED7F-9CC1BAF334E6}"/>
              </a:ext>
            </a:extLst>
          </p:cNvPr>
          <p:cNvSpPr txBox="1"/>
          <p:nvPr/>
        </p:nvSpPr>
        <p:spPr>
          <a:xfrm>
            <a:off x="8763000" y="4419600"/>
            <a:ext cx="2413000" cy="441146"/>
          </a:xfrm>
          <a:prstGeom prst="rect">
            <a:avLst/>
          </a:prstGeom>
          <a:noFill/>
        </p:spPr>
        <p:txBody>
          <a:bodyPr vert="horz" wrap="square" lIns="76200" tIns="50800" rIns="76200" bIns="50800" rtlCol="0">
            <a:spAutoFit/>
          </a:bodyPr>
          <a:lstStyle/>
          <a:p>
            <a:pPr algn="ctr"/>
            <a:r>
              <a:rPr lang="en-US" sz="1100">
                <a:solidFill>
                  <a:srgbClr val="64748B"/>
                </a:solidFill>
                <a:latin typeface="Aptos" panose="020B0004020202020204" pitchFamily="34" charset="0"/>
              </a:rPr>
              <a:t>Replace manually with a professional photo</a:t>
            </a:r>
          </a:p>
        </p:txBody>
      </p:sp>
      <p:sp>
        <p:nvSpPr>
          <p:cNvPr id="11" name="Rectangle: Rounded Corners 10">
            <a:extLst>
              <a:ext uri="{FF2B5EF4-FFF2-40B4-BE49-F238E27FC236}">
                <a16:creationId xmlns:a16="http://schemas.microsoft.com/office/drawing/2014/main" id="{1C5AF409-DC7C-D55A-3CCE-5B12664090B2}"/>
              </a:ext>
            </a:extLst>
          </p:cNvPr>
          <p:cNvSpPr/>
          <p:nvPr/>
        </p:nvSpPr>
        <p:spPr>
          <a:xfrm>
            <a:off x="787400" y="5499100"/>
            <a:ext cx="1955800" cy="3048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b="1">
                <a:solidFill>
                  <a:srgbClr val="0F766E"/>
                </a:solidFill>
                <a:latin typeface="Aptos" panose="020B0004020202020204" pitchFamily="34" charset="0"/>
              </a:rPr>
              <a:t>No rap-caviar content</a:t>
            </a:r>
          </a:p>
        </p:txBody>
      </p:sp>
      <p:sp>
        <p:nvSpPr>
          <p:cNvPr id="12" name="Rectangle: Rounded Corners 11">
            <a:extLst>
              <a:ext uri="{FF2B5EF4-FFF2-40B4-BE49-F238E27FC236}">
                <a16:creationId xmlns:a16="http://schemas.microsoft.com/office/drawing/2014/main" id="{1738245F-1DAA-0E4A-CB94-77E9FAD9070B}"/>
              </a:ext>
            </a:extLst>
          </p:cNvPr>
          <p:cNvSpPr/>
          <p:nvPr/>
        </p:nvSpPr>
        <p:spPr>
          <a:xfrm>
            <a:off x="2921000" y="5499100"/>
            <a:ext cx="2235200" cy="304800"/>
          </a:xfrm>
          <a:prstGeom prst="roundRect">
            <a:avLst/>
          </a:prstGeom>
          <a:solidFill>
            <a:srgbClr val="EFF6FF"/>
          </a:solidFill>
          <a:ln w="17780">
            <a:solidFill>
              <a:srgbClr val="1D4ED8"/>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b="1">
                <a:solidFill>
                  <a:srgbClr val="1D4ED8"/>
                </a:solidFill>
                <a:latin typeface="Aptos" panose="020B0004020202020204" pitchFamily="34" charset="0"/>
              </a:rPr>
              <a:t>All text is selectable</a:t>
            </a:r>
          </a:p>
        </p:txBody>
      </p:sp>
      <p:sp>
        <p:nvSpPr>
          <p:cNvPr id="13" name="TextBox 12">
            <a:extLst>
              <a:ext uri="{FF2B5EF4-FFF2-40B4-BE49-F238E27FC236}">
                <a16:creationId xmlns:a16="http://schemas.microsoft.com/office/drawing/2014/main" id="{05999F8A-2654-D85B-63CF-C4D5500E4316}"/>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Editable deck rebuild; source figures remain separate image objects where scientific content must be preserved.</a:t>
            </a:r>
          </a:p>
        </p:txBody>
      </p:sp>
    </p:spTree>
    <p:extLst>
      <p:ext uri="{BB962C8B-B14F-4D97-AF65-F5344CB8AC3E}">
        <p14:creationId xmlns:p14="http://schemas.microsoft.com/office/powerpoint/2010/main" val="701007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03C065-B601-E38C-BB38-7B4F8CBA5B30}"/>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EE7E2AF-56F5-20F6-F5D7-EE83F7DCED43}"/>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Methane Hydrate + North Slope Context</a:t>
            </a:r>
          </a:p>
        </p:txBody>
      </p:sp>
      <p:sp>
        <p:nvSpPr>
          <p:cNvPr id="4" name="TextBox 3">
            <a:extLst>
              <a:ext uri="{FF2B5EF4-FFF2-40B4-BE49-F238E27FC236}">
                <a16:creationId xmlns:a16="http://schemas.microsoft.com/office/drawing/2014/main" id="{D8EB55FD-7C2D-3F9A-AC3E-302C60C6ED30}"/>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What hydrate is, why North Slope matters, and why P-T stability is only the first screen</a:t>
            </a:r>
          </a:p>
        </p:txBody>
      </p:sp>
      <p:cxnSp>
        <p:nvCxnSpPr>
          <p:cNvPr id="5" name="Straight Arrow Connector 4">
            <a:extLst>
              <a:ext uri="{FF2B5EF4-FFF2-40B4-BE49-F238E27FC236}">
                <a16:creationId xmlns:a16="http://schemas.microsoft.com/office/drawing/2014/main" id="{BD04F0E1-7082-C5CC-0C08-1EE232F453D0}"/>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3168B667-2ABA-44ED-9572-8EF5CDD19D3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82333" y="1320800"/>
            <a:ext cx="2718434" cy="2159000"/>
          </a:xfrm>
          <a:prstGeom prst="rect">
            <a:avLst/>
          </a:prstGeom>
        </p:spPr>
      </p:pic>
      <p:sp>
        <p:nvSpPr>
          <p:cNvPr id="8" name="Oval 7">
            <a:extLst>
              <a:ext uri="{FF2B5EF4-FFF2-40B4-BE49-F238E27FC236}">
                <a16:creationId xmlns:a16="http://schemas.microsoft.com/office/drawing/2014/main" id="{7CDE1369-91D4-2104-B146-D8AF1CBF50EE}"/>
              </a:ext>
            </a:extLst>
          </p:cNvPr>
          <p:cNvSpPr/>
          <p:nvPr/>
        </p:nvSpPr>
        <p:spPr>
          <a:xfrm>
            <a:off x="990600" y="1638300"/>
            <a:ext cx="889000" cy="889000"/>
          </a:xfrm>
          <a:prstGeom prst="ellipse">
            <a:avLst/>
          </a:prstGeom>
          <a:noFill/>
          <a:ln w="40640" cap="flat" cmpd="sng" algn="ctr">
            <a:solidFill>
              <a:srgbClr val="B91C1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96454DB-E557-6DE1-3DAF-9DF878302505}"/>
              </a:ext>
            </a:extLst>
          </p:cNvPr>
          <p:cNvSpPr txBox="1"/>
          <p:nvPr/>
        </p:nvSpPr>
        <p:spPr>
          <a:xfrm>
            <a:off x="685800" y="3517900"/>
            <a:ext cx="3111500" cy="410369"/>
          </a:xfrm>
          <a:prstGeom prst="rect">
            <a:avLst/>
          </a:prstGeom>
          <a:noFill/>
        </p:spPr>
        <p:txBody>
          <a:bodyPr vert="horz" wrap="square" lIns="76200" tIns="50800" rIns="76200" bIns="50800" rtlCol="0">
            <a:spAutoFit/>
          </a:bodyPr>
          <a:lstStyle/>
          <a:p>
            <a:r>
              <a:rPr lang="en-US" sz="1000">
                <a:solidFill>
                  <a:srgbClr val="0F172A"/>
                </a:solidFill>
                <a:latin typeface="Aptos" panose="020B0004020202020204" pitchFamily="34" charset="0"/>
              </a:rPr>
              <a:t>Structure I is the methane baseline; Structure II/H require gas-composition context.</a:t>
            </a:r>
          </a:p>
        </p:txBody>
      </p:sp>
      <p:pic>
        <p:nvPicPr>
          <p:cNvPr id="11" name="Picture 10">
            <a:extLst>
              <a:ext uri="{FF2B5EF4-FFF2-40B4-BE49-F238E27FC236}">
                <a16:creationId xmlns:a16="http://schemas.microsoft.com/office/drawing/2014/main" id="{60CE85A2-7017-65E4-E412-95F9B8DC165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053974" y="4178300"/>
            <a:ext cx="2845052" cy="1574800"/>
          </a:xfrm>
          <a:prstGeom prst="rect">
            <a:avLst/>
          </a:prstGeom>
        </p:spPr>
      </p:pic>
      <p:sp>
        <p:nvSpPr>
          <p:cNvPr id="12" name="TextBox 11">
            <a:extLst>
              <a:ext uri="{FF2B5EF4-FFF2-40B4-BE49-F238E27FC236}">
                <a16:creationId xmlns:a16="http://schemas.microsoft.com/office/drawing/2014/main" id="{F860800E-79E0-53D9-3FE4-9D908527FEA4}"/>
              </a:ext>
            </a:extLst>
          </p:cNvPr>
          <p:cNvSpPr txBox="1"/>
          <p:nvPr/>
        </p:nvSpPr>
        <p:spPr>
          <a:xfrm>
            <a:off x="685800" y="5803900"/>
            <a:ext cx="3708400" cy="410369"/>
          </a:xfrm>
          <a:prstGeom prst="rect">
            <a:avLst/>
          </a:prstGeom>
          <a:noFill/>
        </p:spPr>
        <p:txBody>
          <a:bodyPr vert="horz" wrap="square" lIns="76200" tIns="50800" rIns="76200" bIns="50800" rtlCol="0">
            <a:spAutoFit/>
          </a:bodyPr>
          <a:lstStyle/>
          <a:p>
            <a:r>
              <a:rPr lang="en-US" sz="1000">
                <a:solidFill>
                  <a:srgbClr val="475569"/>
                </a:solidFill>
                <a:latin typeface="Aptos" panose="020B0004020202020204" pitchFamily="34" charset="0"/>
              </a:rPr>
              <a:t>Cross-section context: stratigraphy and structure shape the stability setting.</a:t>
            </a:r>
          </a:p>
        </p:txBody>
      </p:sp>
      <p:pic>
        <p:nvPicPr>
          <p:cNvPr id="14" name="Picture 13">
            <a:extLst>
              <a:ext uri="{FF2B5EF4-FFF2-40B4-BE49-F238E27FC236}">
                <a16:creationId xmlns:a16="http://schemas.microsoft.com/office/drawing/2014/main" id="{C726EBB5-D041-99E3-A510-4579B805C5A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572000" y="1526339"/>
            <a:ext cx="4445000" cy="2573421"/>
          </a:xfrm>
          <a:prstGeom prst="rect">
            <a:avLst/>
          </a:prstGeom>
        </p:spPr>
      </p:pic>
      <p:sp>
        <p:nvSpPr>
          <p:cNvPr id="15" name="Rectangle: Rounded Corners 14">
            <a:extLst>
              <a:ext uri="{FF2B5EF4-FFF2-40B4-BE49-F238E27FC236}">
                <a16:creationId xmlns:a16="http://schemas.microsoft.com/office/drawing/2014/main" id="{F03B9755-E173-3BE2-FEE7-E836A6AC451F}"/>
              </a:ext>
            </a:extLst>
          </p:cNvPr>
          <p:cNvSpPr/>
          <p:nvPr/>
        </p:nvSpPr>
        <p:spPr>
          <a:xfrm>
            <a:off x="4762500" y="1422400"/>
            <a:ext cx="2311400" cy="3556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b="1">
                <a:solidFill>
                  <a:srgbClr val="0F172A"/>
                </a:solidFill>
                <a:latin typeface="Aptos" panose="020B0004020202020204" pitchFamily="34" charset="0"/>
              </a:rPr>
              <a:t>Unified North Slope map</a:t>
            </a:r>
          </a:p>
        </p:txBody>
      </p:sp>
      <p:pic>
        <p:nvPicPr>
          <p:cNvPr id="17" name="Picture 16">
            <a:extLst>
              <a:ext uri="{FF2B5EF4-FFF2-40B4-BE49-F238E27FC236}">
                <a16:creationId xmlns:a16="http://schemas.microsoft.com/office/drawing/2014/main" id="{4BA329A2-7E82-D983-2A18-D401EE5F9495}"/>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9144000" y="1582420"/>
            <a:ext cx="2514600" cy="1648460"/>
          </a:xfrm>
          <a:prstGeom prst="rect">
            <a:avLst/>
          </a:prstGeom>
        </p:spPr>
      </p:pic>
      <p:sp>
        <p:nvSpPr>
          <p:cNvPr id="18" name="Rectangle: Rounded Corners 17">
            <a:extLst>
              <a:ext uri="{FF2B5EF4-FFF2-40B4-BE49-F238E27FC236}">
                <a16:creationId xmlns:a16="http://schemas.microsoft.com/office/drawing/2014/main" id="{76C46D07-B2DB-0DDB-0773-056D85BE3E29}"/>
              </a:ext>
            </a:extLst>
          </p:cNvPr>
          <p:cNvSpPr/>
          <p:nvPr/>
        </p:nvSpPr>
        <p:spPr>
          <a:xfrm>
            <a:off x="9194800" y="3454400"/>
            <a:ext cx="2413000" cy="6858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b="1">
                <a:solidFill>
                  <a:srgbClr val="0F766E"/>
                </a:solidFill>
                <a:latin typeface="Aptos" panose="020B0004020202020204" pitchFamily="34" charset="0"/>
              </a:rPr>
              <a:t>P-T diagram: pressure-temperature admissibility only; not occurrence or saturation evidence.</a:t>
            </a:r>
          </a:p>
        </p:txBody>
      </p:sp>
      <p:sp>
        <p:nvSpPr>
          <p:cNvPr id="19" name="Rectangle: Rounded Corners 18">
            <a:extLst>
              <a:ext uri="{FF2B5EF4-FFF2-40B4-BE49-F238E27FC236}">
                <a16:creationId xmlns:a16="http://schemas.microsoft.com/office/drawing/2014/main" id="{141BCF3A-42C8-024F-CB9B-E6450576A391}"/>
              </a:ext>
            </a:extLst>
          </p:cNvPr>
          <p:cNvSpPr/>
          <p:nvPr/>
        </p:nvSpPr>
        <p:spPr>
          <a:xfrm>
            <a:off x="4610100" y="4572000"/>
            <a:ext cx="3429000" cy="12192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400" b="1">
                <a:solidFill>
                  <a:srgbClr val="0F172A"/>
                </a:solidFill>
                <a:latin typeface="Aptos" panose="020B0004020202020204" pitchFamily="34" charset="0"/>
              </a:rPr>
              <a:t>North Slope hydrate interpretation needs three things together: reservoir-quality sands, P-T context, and log/core calibration.</a:t>
            </a:r>
          </a:p>
        </p:txBody>
      </p:sp>
      <p:sp>
        <p:nvSpPr>
          <p:cNvPr id="20" name="Rectangle: Rounded Corners 19">
            <a:extLst>
              <a:ext uri="{FF2B5EF4-FFF2-40B4-BE49-F238E27FC236}">
                <a16:creationId xmlns:a16="http://schemas.microsoft.com/office/drawing/2014/main" id="{C2E041B4-72AF-9D40-318E-D6735F6FC64F}"/>
              </a:ext>
            </a:extLst>
          </p:cNvPr>
          <p:cNvSpPr/>
          <p:nvPr/>
        </p:nvSpPr>
        <p:spPr>
          <a:xfrm>
            <a:off x="8204200" y="4572000"/>
            <a:ext cx="3111500" cy="1219200"/>
          </a:xfrm>
          <a:prstGeom prst="roundRect">
            <a:avLst/>
          </a:prstGeom>
          <a:solidFill>
            <a:srgbClr val="FFFBEB"/>
          </a:solidFill>
          <a:ln w="1778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a:solidFill>
                  <a:srgbClr val="B45309"/>
                </a:solidFill>
                <a:latin typeface="Aptos" panose="020B0004020202020204" pitchFamily="34" charset="0"/>
              </a:rPr>
              <a:t>Biogenic and thermogenic gas sources can both matter; gas composition policy remains a mentor/runtime decision.</a:t>
            </a:r>
          </a:p>
        </p:txBody>
      </p:sp>
      <p:sp>
        <p:nvSpPr>
          <p:cNvPr id="21" name="TextBox 20">
            <a:extLst>
              <a:ext uri="{FF2B5EF4-FFF2-40B4-BE49-F238E27FC236}">
                <a16:creationId xmlns:a16="http://schemas.microsoft.com/office/drawing/2014/main" id="{F3378F6B-4975-6BDD-AF0A-A97C3350B22D}"/>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Source figures and map are image objects; labels, circle, callouts, title, and caveat are editable.</a:t>
            </a:r>
          </a:p>
        </p:txBody>
      </p:sp>
    </p:spTree>
    <p:extLst>
      <p:ext uri="{BB962C8B-B14F-4D97-AF65-F5344CB8AC3E}">
        <p14:creationId xmlns:p14="http://schemas.microsoft.com/office/powerpoint/2010/main" val="1669218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C56B6F-DB2E-E122-2E5B-320A95F4EAB1}"/>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CEE9D6-1814-7E8F-76AB-CAE19BFD9402}"/>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Log Signals, Lithology, And Core Calibration</a:t>
            </a:r>
          </a:p>
        </p:txBody>
      </p:sp>
      <p:sp>
        <p:nvSpPr>
          <p:cNvPr id="4" name="TextBox 3">
            <a:extLst>
              <a:ext uri="{FF2B5EF4-FFF2-40B4-BE49-F238E27FC236}">
                <a16:creationId xmlns:a16="http://schemas.microsoft.com/office/drawing/2014/main" id="{C2D52EBD-7EB5-CA2A-BA01-36D3599EE3EE}"/>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Directional curve movements are evidence to review, not standalone hydrate proof</a:t>
            </a:r>
          </a:p>
        </p:txBody>
      </p:sp>
      <p:cxnSp>
        <p:nvCxnSpPr>
          <p:cNvPr id="5" name="Straight Arrow Connector 4">
            <a:extLst>
              <a:ext uri="{FF2B5EF4-FFF2-40B4-BE49-F238E27FC236}">
                <a16:creationId xmlns:a16="http://schemas.microsoft.com/office/drawing/2014/main" id="{30073F68-328E-511E-BE9E-645EE3342489}"/>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E752B32F-DA4E-D07E-591A-DD0ACBDC9D55}"/>
              </a:ext>
            </a:extLst>
          </p:cNvPr>
          <p:cNvSpPr/>
          <p:nvPr/>
        </p:nvSpPr>
        <p:spPr>
          <a:xfrm>
            <a:off x="685800" y="1435100"/>
            <a:ext cx="6248400" cy="4318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09D15AB-3F88-00B2-1162-1E524ED3AC27}"/>
              </a:ext>
            </a:extLst>
          </p:cNvPr>
          <p:cNvSpPr txBox="1"/>
          <p:nvPr/>
        </p:nvSpPr>
        <p:spPr>
          <a:xfrm>
            <a:off x="838200" y="1549400"/>
            <a:ext cx="508000" cy="241092"/>
          </a:xfrm>
          <a:prstGeom prst="rect">
            <a:avLst/>
          </a:prstGeom>
          <a:noFill/>
        </p:spPr>
        <p:txBody>
          <a:bodyPr vert="horz" wrap="square" lIns="76200" tIns="50800" rIns="76200" bIns="50800" rtlCol="0">
            <a:spAutoFit/>
          </a:bodyPr>
          <a:lstStyle/>
          <a:p>
            <a:pPr algn="ctr"/>
            <a:r>
              <a:rPr lang="en-US" sz="900" b="1">
                <a:solidFill>
                  <a:srgbClr val="475569"/>
                </a:solidFill>
                <a:latin typeface="Aptos" panose="020B0004020202020204" pitchFamily="34" charset="0"/>
              </a:rPr>
              <a:t>Depth</a:t>
            </a:r>
          </a:p>
        </p:txBody>
      </p:sp>
      <p:cxnSp>
        <p:nvCxnSpPr>
          <p:cNvPr id="8" name="Straight Arrow Connector 7">
            <a:extLst>
              <a:ext uri="{FF2B5EF4-FFF2-40B4-BE49-F238E27FC236}">
                <a16:creationId xmlns:a16="http://schemas.microsoft.com/office/drawing/2014/main" id="{9134C8C2-FCB8-BC0C-836E-2345F0E8F367}"/>
              </a:ext>
            </a:extLst>
          </p:cNvPr>
          <p:cNvCxnSpPr/>
          <p:nvPr/>
        </p:nvCxnSpPr>
        <p:spPr>
          <a:xfrm>
            <a:off x="1320800" y="1803400"/>
            <a:ext cx="0" cy="3594100"/>
          </a:xfrm>
          <a:prstGeom prst="straightConnector1">
            <a:avLst/>
          </a:prstGeom>
          <a:ln w="15240">
            <a:solidFill>
              <a:srgbClr val="334155"/>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3CEC209-491B-4E31-553C-CF2FB6FD33BF}"/>
              </a:ext>
            </a:extLst>
          </p:cNvPr>
          <p:cNvCxnSpPr/>
          <p:nvPr/>
        </p:nvCxnSpPr>
        <p:spPr>
          <a:xfrm>
            <a:off x="1244600" y="1917700"/>
            <a:ext cx="152400" cy="0"/>
          </a:xfrm>
          <a:prstGeom prst="straightConnector1">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BD3D66B-BD46-59DD-578A-3DA63FCB35A6}"/>
              </a:ext>
            </a:extLst>
          </p:cNvPr>
          <p:cNvSpPr txBox="1"/>
          <p:nvPr/>
        </p:nvSpPr>
        <p:spPr>
          <a:xfrm>
            <a:off x="749300" y="1816100"/>
            <a:ext cx="469900" cy="210314"/>
          </a:xfrm>
          <a:prstGeom prst="rect">
            <a:avLst/>
          </a:prstGeom>
          <a:noFill/>
        </p:spPr>
        <p:txBody>
          <a:bodyPr vert="horz" wrap="square" lIns="76200" tIns="50800" rIns="76200" bIns="50800" rtlCol="0">
            <a:spAutoFit/>
          </a:bodyPr>
          <a:lstStyle/>
          <a:p>
            <a:pPr algn="ctr"/>
            <a:r>
              <a:rPr lang="en-US" sz="700">
                <a:solidFill>
                  <a:srgbClr val="475569"/>
                </a:solidFill>
                <a:latin typeface="Aptos" panose="020B0004020202020204" pitchFamily="34" charset="0"/>
              </a:rPr>
              <a:t>500</a:t>
            </a:r>
          </a:p>
        </p:txBody>
      </p:sp>
      <p:cxnSp>
        <p:nvCxnSpPr>
          <p:cNvPr id="11" name="Straight Arrow Connector 10">
            <a:extLst>
              <a:ext uri="{FF2B5EF4-FFF2-40B4-BE49-F238E27FC236}">
                <a16:creationId xmlns:a16="http://schemas.microsoft.com/office/drawing/2014/main" id="{7EDF39A4-C449-7322-3809-2D3C9AEDBD6A}"/>
              </a:ext>
            </a:extLst>
          </p:cNvPr>
          <p:cNvCxnSpPr/>
          <p:nvPr/>
        </p:nvCxnSpPr>
        <p:spPr>
          <a:xfrm>
            <a:off x="1244600" y="2755900"/>
            <a:ext cx="152400" cy="0"/>
          </a:xfrm>
          <a:prstGeom prst="straightConnector1">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F17C90B-057E-50C7-5160-747EEEE6C646}"/>
              </a:ext>
            </a:extLst>
          </p:cNvPr>
          <p:cNvSpPr txBox="1"/>
          <p:nvPr/>
        </p:nvSpPr>
        <p:spPr>
          <a:xfrm>
            <a:off x="749300" y="2654300"/>
            <a:ext cx="469900" cy="210314"/>
          </a:xfrm>
          <a:prstGeom prst="rect">
            <a:avLst/>
          </a:prstGeom>
          <a:noFill/>
        </p:spPr>
        <p:txBody>
          <a:bodyPr vert="horz" wrap="square" lIns="76200" tIns="50800" rIns="76200" bIns="50800" rtlCol="0">
            <a:spAutoFit/>
          </a:bodyPr>
          <a:lstStyle/>
          <a:p>
            <a:pPr algn="ctr"/>
            <a:r>
              <a:rPr lang="en-US" sz="700">
                <a:solidFill>
                  <a:srgbClr val="475569"/>
                </a:solidFill>
                <a:latin typeface="Aptos" panose="020B0004020202020204" pitchFamily="34" charset="0"/>
              </a:rPr>
              <a:t>650</a:t>
            </a:r>
          </a:p>
        </p:txBody>
      </p:sp>
      <p:cxnSp>
        <p:nvCxnSpPr>
          <p:cNvPr id="13" name="Straight Arrow Connector 12">
            <a:extLst>
              <a:ext uri="{FF2B5EF4-FFF2-40B4-BE49-F238E27FC236}">
                <a16:creationId xmlns:a16="http://schemas.microsoft.com/office/drawing/2014/main" id="{6C8FCEA3-D1B9-269D-A300-42023A92A0FE}"/>
              </a:ext>
            </a:extLst>
          </p:cNvPr>
          <p:cNvCxnSpPr/>
          <p:nvPr/>
        </p:nvCxnSpPr>
        <p:spPr>
          <a:xfrm>
            <a:off x="1244600" y="3594100"/>
            <a:ext cx="152400" cy="0"/>
          </a:xfrm>
          <a:prstGeom prst="straightConnector1">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FCD2058-E3C6-D319-EDAF-1967D40DDC4A}"/>
              </a:ext>
            </a:extLst>
          </p:cNvPr>
          <p:cNvSpPr txBox="1"/>
          <p:nvPr/>
        </p:nvSpPr>
        <p:spPr>
          <a:xfrm>
            <a:off x="749300" y="3492500"/>
            <a:ext cx="469900" cy="210314"/>
          </a:xfrm>
          <a:prstGeom prst="rect">
            <a:avLst/>
          </a:prstGeom>
          <a:noFill/>
        </p:spPr>
        <p:txBody>
          <a:bodyPr vert="horz" wrap="square" lIns="76200" tIns="50800" rIns="76200" bIns="50800" rtlCol="0">
            <a:spAutoFit/>
          </a:bodyPr>
          <a:lstStyle/>
          <a:p>
            <a:pPr algn="ctr"/>
            <a:r>
              <a:rPr lang="en-US" sz="700">
                <a:solidFill>
                  <a:srgbClr val="475569"/>
                </a:solidFill>
                <a:latin typeface="Aptos" panose="020B0004020202020204" pitchFamily="34" charset="0"/>
              </a:rPr>
              <a:t>800</a:t>
            </a:r>
          </a:p>
        </p:txBody>
      </p:sp>
      <p:cxnSp>
        <p:nvCxnSpPr>
          <p:cNvPr id="15" name="Straight Arrow Connector 14">
            <a:extLst>
              <a:ext uri="{FF2B5EF4-FFF2-40B4-BE49-F238E27FC236}">
                <a16:creationId xmlns:a16="http://schemas.microsoft.com/office/drawing/2014/main" id="{E62297C8-EF97-FDA0-F7A5-039096E83FC7}"/>
              </a:ext>
            </a:extLst>
          </p:cNvPr>
          <p:cNvCxnSpPr/>
          <p:nvPr/>
        </p:nvCxnSpPr>
        <p:spPr>
          <a:xfrm>
            <a:off x="1244600" y="4432300"/>
            <a:ext cx="152400" cy="0"/>
          </a:xfrm>
          <a:prstGeom prst="straightConnector1">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701DAD7-8C97-BB4D-E741-EA2DA6104D58}"/>
              </a:ext>
            </a:extLst>
          </p:cNvPr>
          <p:cNvSpPr txBox="1"/>
          <p:nvPr/>
        </p:nvSpPr>
        <p:spPr>
          <a:xfrm>
            <a:off x="749300" y="4330700"/>
            <a:ext cx="469900" cy="210314"/>
          </a:xfrm>
          <a:prstGeom prst="rect">
            <a:avLst/>
          </a:prstGeom>
          <a:noFill/>
        </p:spPr>
        <p:txBody>
          <a:bodyPr vert="horz" wrap="square" lIns="76200" tIns="50800" rIns="76200" bIns="50800" rtlCol="0">
            <a:spAutoFit/>
          </a:bodyPr>
          <a:lstStyle/>
          <a:p>
            <a:pPr algn="ctr"/>
            <a:r>
              <a:rPr lang="en-US" sz="700">
                <a:solidFill>
                  <a:srgbClr val="475569"/>
                </a:solidFill>
                <a:latin typeface="Aptos" panose="020B0004020202020204" pitchFamily="34" charset="0"/>
              </a:rPr>
              <a:t>950</a:t>
            </a:r>
          </a:p>
        </p:txBody>
      </p:sp>
      <p:cxnSp>
        <p:nvCxnSpPr>
          <p:cNvPr id="17" name="Straight Arrow Connector 16">
            <a:extLst>
              <a:ext uri="{FF2B5EF4-FFF2-40B4-BE49-F238E27FC236}">
                <a16:creationId xmlns:a16="http://schemas.microsoft.com/office/drawing/2014/main" id="{566920EE-552B-DA09-20C5-B34425B1C848}"/>
              </a:ext>
            </a:extLst>
          </p:cNvPr>
          <p:cNvCxnSpPr/>
          <p:nvPr/>
        </p:nvCxnSpPr>
        <p:spPr>
          <a:xfrm>
            <a:off x="1244600" y="5270500"/>
            <a:ext cx="152400" cy="0"/>
          </a:xfrm>
          <a:prstGeom prst="straightConnector1">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F6A9864-7D05-B6F0-AA15-EDA8EA42F3C2}"/>
              </a:ext>
            </a:extLst>
          </p:cNvPr>
          <p:cNvSpPr txBox="1"/>
          <p:nvPr/>
        </p:nvSpPr>
        <p:spPr>
          <a:xfrm>
            <a:off x="749300" y="5168900"/>
            <a:ext cx="469900" cy="210314"/>
          </a:xfrm>
          <a:prstGeom prst="rect">
            <a:avLst/>
          </a:prstGeom>
          <a:noFill/>
        </p:spPr>
        <p:txBody>
          <a:bodyPr vert="horz" wrap="square" lIns="76200" tIns="50800" rIns="76200" bIns="50800" rtlCol="0">
            <a:spAutoFit/>
          </a:bodyPr>
          <a:lstStyle/>
          <a:p>
            <a:pPr algn="ctr"/>
            <a:r>
              <a:rPr lang="en-US" sz="700">
                <a:solidFill>
                  <a:srgbClr val="475569"/>
                </a:solidFill>
                <a:latin typeface="Aptos" panose="020B0004020202020204" pitchFamily="34" charset="0"/>
              </a:rPr>
              <a:t>1100</a:t>
            </a:r>
          </a:p>
        </p:txBody>
      </p:sp>
      <p:sp>
        <p:nvSpPr>
          <p:cNvPr id="19" name="TextBox 18">
            <a:extLst>
              <a:ext uri="{FF2B5EF4-FFF2-40B4-BE49-F238E27FC236}">
                <a16:creationId xmlns:a16="http://schemas.microsoft.com/office/drawing/2014/main" id="{E5EE4DDE-7522-E932-3616-173D6314F19F}"/>
              </a:ext>
            </a:extLst>
          </p:cNvPr>
          <p:cNvSpPr txBox="1"/>
          <p:nvPr/>
        </p:nvSpPr>
        <p:spPr>
          <a:xfrm>
            <a:off x="1549400" y="1549400"/>
            <a:ext cx="863600" cy="241092"/>
          </a:xfrm>
          <a:prstGeom prst="rect">
            <a:avLst/>
          </a:prstGeom>
          <a:noFill/>
        </p:spPr>
        <p:txBody>
          <a:bodyPr vert="horz" wrap="square" lIns="76200" tIns="50800" rIns="76200" bIns="50800" rtlCol="0">
            <a:spAutoFit/>
          </a:bodyPr>
          <a:lstStyle/>
          <a:p>
            <a:pPr algn="ctr"/>
            <a:r>
              <a:rPr lang="en-US" sz="900" b="1">
                <a:solidFill>
                  <a:srgbClr val="0F172A"/>
                </a:solidFill>
                <a:latin typeface="Aptos" panose="020B0004020202020204" pitchFamily="34" charset="0"/>
              </a:rPr>
              <a:t>Lithology</a:t>
            </a:r>
          </a:p>
        </p:txBody>
      </p:sp>
      <p:sp>
        <p:nvSpPr>
          <p:cNvPr id="20" name="Rectangle 19">
            <a:extLst>
              <a:ext uri="{FF2B5EF4-FFF2-40B4-BE49-F238E27FC236}">
                <a16:creationId xmlns:a16="http://schemas.microsoft.com/office/drawing/2014/main" id="{4BAB6A5A-1422-43A6-A945-B380407B71D6}"/>
              </a:ext>
            </a:extLst>
          </p:cNvPr>
          <p:cNvSpPr/>
          <p:nvPr/>
        </p:nvSpPr>
        <p:spPr>
          <a:xfrm>
            <a:off x="1549400" y="1854200"/>
            <a:ext cx="736600" cy="812800"/>
          </a:xfrm>
          <a:prstGeom prst="rect">
            <a:avLst/>
          </a:prstGeom>
          <a:solidFill>
            <a:srgbClr val="E5E7EB"/>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384D5EF-0614-B6D6-C1DB-07F3E3B23D23}"/>
              </a:ext>
            </a:extLst>
          </p:cNvPr>
          <p:cNvSpPr txBox="1"/>
          <p:nvPr/>
        </p:nvSpPr>
        <p:spPr>
          <a:xfrm>
            <a:off x="1600200" y="2146300"/>
            <a:ext cx="635000" cy="318036"/>
          </a:xfrm>
          <a:prstGeom prst="rect">
            <a:avLst/>
          </a:prstGeom>
          <a:noFill/>
        </p:spPr>
        <p:txBody>
          <a:bodyPr vert="horz" wrap="square" lIns="76200" tIns="50800" rIns="76200" bIns="50800" rtlCol="0">
            <a:spAutoFit/>
          </a:bodyPr>
          <a:lstStyle/>
          <a:p>
            <a:pPr algn="ctr"/>
            <a:r>
              <a:rPr lang="en-US" sz="700">
                <a:solidFill>
                  <a:srgbClr val="475569"/>
                </a:solidFill>
                <a:latin typeface="Aptos" panose="020B0004020202020204" pitchFamily="34" charset="0"/>
              </a:rPr>
              <a:t>shale / mixed</a:t>
            </a:r>
          </a:p>
        </p:txBody>
      </p:sp>
      <p:sp>
        <p:nvSpPr>
          <p:cNvPr id="22" name="Rectangle 21">
            <a:extLst>
              <a:ext uri="{FF2B5EF4-FFF2-40B4-BE49-F238E27FC236}">
                <a16:creationId xmlns:a16="http://schemas.microsoft.com/office/drawing/2014/main" id="{7EC5653E-E809-9EFE-C428-DF2E2A8B9F1D}"/>
              </a:ext>
            </a:extLst>
          </p:cNvPr>
          <p:cNvSpPr/>
          <p:nvPr/>
        </p:nvSpPr>
        <p:spPr>
          <a:xfrm>
            <a:off x="1549400" y="2667000"/>
            <a:ext cx="736600" cy="1168400"/>
          </a:xfrm>
          <a:prstGeom prst="rect">
            <a:avLst/>
          </a:prstGeom>
          <a:solidFill>
            <a:srgbClr val="FEF3C7"/>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E1D7176-8446-E801-0293-F3D8006D94FF}"/>
              </a:ext>
            </a:extLst>
          </p:cNvPr>
          <p:cNvSpPr txBox="1"/>
          <p:nvPr/>
        </p:nvSpPr>
        <p:spPr>
          <a:xfrm>
            <a:off x="1612900" y="3073400"/>
            <a:ext cx="609600" cy="348813"/>
          </a:xfrm>
          <a:prstGeom prst="rect">
            <a:avLst/>
          </a:prstGeom>
          <a:noFill/>
        </p:spPr>
        <p:txBody>
          <a:bodyPr vert="horz" wrap="square" lIns="76200" tIns="50800" rIns="76200" bIns="50800" rtlCol="0">
            <a:spAutoFit/>
          </a:bodyPr>
          <a:lstStyle/>
          <a:p>
            <a:pPr algn="ctr"/>
            <a:r>
              <a:rPr lang="en-US" sz="800" b="1">
                <a:solidFill>
                  <a:srgbClr val="B45309"/>
                </a:solidFill>
                <a:latin typeface="Aptos" panose="020B0004020202020204" pitchFamily="34" charset="0"/>
              </a:rPr>
              <a:t>clean sand</a:t>
            </a:r>
          </a:p>
        </p:txBody>
      </p:sp>
      <p:sp>
        <p:nvSpPr>
          <p:cNvPr id="24" name="Rectangle 23">
            <a:extLst>
              <a:ext uri="{FF2B5EF4-FFF2-40B4-BE49-F238E27FC236}">
                <a16:creationId xmlns:a16="http://schemas.microsoft.com/office/drawing/2014/main" id="{094A5EFA-A0D0-BA70-49C0-39CA7F82D2E1}"/>
              </a:ext>
            </a:extLst>
          </p:cNvPr>
          <p:cNvSpPr/>
          <p:nvPr/>
        </p:nvSpPr>
        <p:spPr>
          <a:xfrm>
            <a:off x="1549400" y="3835400"/>
            <a:ext cx="736600" cy="685800"/>
          </a:xfrm>
          <a:prstGeom prst="rect">
            <a:avLst/>
          </a:prstGeom>
          <a:solidFill>
            <a:srgbClr val="E5E7EB"/>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81261D0-C8FB-294D-82F0-4159DA50AA06}"/>
              </a:ext>
            </a:extLst>
          </p:cNvPr>
          <p:cNvSpPr txBox="1"/>
          <p:nvPr/>
        </p:nvSpPr>
        <p:spPr>
          <a:xfrm>
            <a:off x="1600200" y="4038600"/>
            <a:ext cx="635000" cy="210314"/>
          </a:xfrm>
          <a:prstGeom prst="rect">
            <a:avLst/>
          </a:prstGeom>
          <a:noFill/>
        </p:spPr>
        <p:txBody>
          <a:bodyPr vert="horz" wrap="square" lIns="76200" tIns="50800" rIns="76200" bIns="50800" rtlCol="0">
            <a:spAutoFit/>
          </a:bodyPr>
          <a:lstStyle/>
          <a:p>
            <a:pPr algn="ctr"/>
            <a:r>
              <a:rPr lang="en-US" sz="700">
                <a:solidFill>
                  <a:srgbClr val="475569"/>
                </a:solidFill>
                <a:latin typeface="Aptos" panose="020B0004020202020204" pitchFamily="34" charset="0"/>
              </a:rPr>
              <a:t>mixed</a:t>
            </a:r>
          </a:p>
        </p:txBody>
      </p:sp>
      <p:sp>
        <p:nvSpPr>
          <p:cNvPr id="26" name="Rectangle 25">
            <a:extLst>
              <a:ext uri="{FF2B5EF4-FFF2-40B4-BE49-F238E27FC236}">
                <a16:creationId xmlns:a16="http://schemas.microsoft.com/office/drawing/2014/main" id="{446C363D-34F2-523C-216A-B62FF197AF68}"/>
              </a:ext>
            </a:extLst>
          </p:cNvPr>
          <p:cNvSpPr/>
          <p:nvPr/>
        </p:nvSpPr>
        <p:spPr>
          <a:xfrm>
            <a:off x="1549400" y="4521200"/>
            <a:ext cx="736600" cy="876300"/>
          </a:xfrm>
          <a:prstGeom prst="rect">
            <a:avLst/>
          </a:prstGeom>
          <a:solidFill>
            <a:srgbClr val="FEF3C7"/>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02E5EEB-B229-41DA-DABE-5E72EEB78DBE}"/>
              </a:ext>
            </a:extLst>
          </p:cNvPr>
          <p:cNvSpPr txBox="1"/>
          <p:nvPr/>
        </p:nvSpPr>
        <p:spPr>
          <a:xfrm>
            <a:off x="1612900" y="4813300"/>
            <a:ext cx="609600" cy="225703"/>
          </a:xfrm>
          <a:prstGeom prst="rect">
            <a:avLst/>
          </a:prstGeom>
          <a:noFill/>
        </p:spPr>
        <p:txBody>
          <a:bodyPr vert="horz" wrap="square" lIns="76200" tIns="50800" rIns="76200" bIns="50800" rtlCol="0">
            <a:spAutoFit/>
          </a:bodyPr>
          <a:lstStyle/>
          <a:p>
            <a:pPr algn="ctr"/>
            <a:r>
              <a:rPr lang="en-US" sz="800" b="1">
                <a:solidFill>
                  <a:srgbClr val="B45309"/>
                </a:solidFill>
                <a:latin typeface="Aptos" panose="020B0004020202020204" pitchFamily="34" charset="0"/>
              </a:rPr>
              <a:t>sand</a:t>
            </a:r>
          </a:p>
        </p:txBody>
      </p:sp>
      <p:cxnSp>
        <p:nvCxnSpPr>
          <p:cNvPr id="28" name="Straight Arrow Connector 27">
            <a:extLst>
              <a:ext uri="{FF2B5EF4-FFF2-40B4-BE49-F238E27FC236}">
                <a16:creationId xmlns:a16="http://schemas.microsoft.com/office/drawing/2014/main" id="{C68787CA-4499-FA3C-367C-F1B362C909F4}"/>
              </a:ext>
            </a:extLst>
          </p:cNvPr>
          <p:cNvCxnSpPr/>
          <p:nvPr/>
        </p:nvCxnSpPr>
        <p:spPr>
          <a:xfrm flipH="1">
            <a:off x="3213100" y="1930400"/>
            <a:ext cx="762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FC2FA4F4-3DA5-3593-B882-20D209E250FD}"/>
              </a:ext>
            </a:extLst>
          </p:cNvPr>
          <p:cNvCxnSpPr/>
          <p:nvPr/>
        </p:nvCxnSpPr>
        <p:spPr>
          <a:xfrm flipH="1">
            <a:off x="3149600" y="2154767"/>
            <a:ext cx="63500" cy="224366"/>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F17EFE1A-38CB-56A2-9CBF-F8651E9BEC4B}"/>
              </a:ext>
            </a:extLst>
          </p:cNvPr>
          <p:cNvCxnSpPr/>
          <p:nvPr/>
        </p:nvCxnSpPr>
        <p:spPr>
          <a:xfrm flipH="1">
            <a:off x="3060700" y="2379133"/>
            <a:ext cx="889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442AB7B5-EB05-3F1E-CEAC-256F9C18CA32}"/>
              </a:ext>
            </a:extLst>
          </p:cNvPr>
          <p:cNvCxnSpPr/>
          <p:nvPr/>
        </p:nvCxnSpPr>
        <p:spPr>
          <a:xfrm flipH="1">
            <a:off x="3022600" y="2603500"/>
            <a:ext cx="381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D1E1763-ED5F-2BEB-388A-086FDE0A5FA7}"/>
              </a:ext>
            </a:extLst>
          </p:cNvPr>
          <p:cNvCxnSpPr/>
          <p:nvPr/>
        </p:nvCxnSpPr>
        <p:spPr>
          <a:xfrm flipH="1">
            <a:off x="2984500" y="2827867"/>
            <a:ext cx="38100" cy="224366"/>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95B0C99-6D2A-C2A9-8AB1-0B42527566A2}"/>
              </a:ext>
            </a:extLst>
          </p:cNvPr>
          <p:cNvCxnSpPr/>
          <p:nvPr/>
        </p:nvCxnSpPr>
        <p:spPr>
          <a:xfrm>
            <a:off x="2984500" y="3052233"/>
            <a:ext cx="254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EE1442F1-55E6-E7B8-0F23-A25535C162FE}"/>
              </a:ext>
            </a:extLst>
          </p:cNvPr>
          <p:cNvCxnSpPr/>
          <p:nvPr/>
        </p:nvCxnSpPr>
        <p:spPr>
          <a:xfrm>
            <a:off x="3009900" y="3276600"/>
            <a:ext cx="1905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608C7080-E692-7D66-CF33-0748D0B6021C}"/>
              </a:ext>
            </a:extLst>
          </p:cNvPr>
          <p:cNvCxnSpPr/>
          <p:nvPr/>
        </p:nvCxnSpPr>
        <p:spPr>
          <a:xfrm>
            <a:off x="3200400" y="3500967"/>
            <a:ext cx="190500" cy="224366"/>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F2DC135-B70D-9727-8BA6-AD2E73A280E9}"/>
              </a:ext>
            </a:extLst>
          </p:cNvPr>
          <p:cNvCxnSpPr/>
          <p:nvPr/>
        </p:nvCxnSpPr>
        <p:spPr>
          <a:xfrm flipH="1">
            <a:off x="3314700" y="3725333"/>
            <a:ext cx="762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44B417B6-01BA-CEBB-8B21-C874CE72971F}"/>
              </a:ext>
            </a:extLst>
          </p:cNvPr>
          <p:cNvCxnSpPr/>
          <p:nvPr/>
        </p:nvCxnSpPr>
        <p:spPr>
          <a:xfrm flipH="1">
            <a:off x="3149600" y="3949700"/>
            <a:ext cx="1651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27155D6-6207-BBFD-422F-B32C6483AC71}"/>
              </a:ext>
            </a:extLst>
          </p:cNvPr>
          <p:cNvCxnSpPr/>
          <p:nvPr/>
        </p:nvCxnSpPr>
        <p:spPr>
          <a:xfrm flipH="1">
            <a:off x="3009900" y="4174067"/>
            <a:ext cx="139700" cy="224366"/>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4C129052-3CB5-2D23-32A1-08B36FD0BDBE}"/>
              </a:ext>
            </a:extLst>
          </p:cNvPr>
          <p:cNvCxnSpPr/>
          <p:nvPr/>
        </p:nvCxnSpPr>
        <p:spPr>
          <a:xfrm flipH="1">
            <a:off x="2984500" y="4398433"/>
            <a:ext cx="254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F170DA6-3EFD-A540-499B-1A9DAD2F53FA}"/>
              </a:ext>
            </a:extLst>
          </p:cNvPr>
          <p:cNvCxnSpPr/>
          <p:nvPr/>
        </p:nvCxnSpPr>
        <p:spPr>
          <a:xfrm>
            <a:off x="2984500" y="4622800"/>
            <a:ext cx="127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4CFD8C3-A903-5D7F-6F78-6B655FF677C4}"/>
              </a:ext>
            </a:extLst>
          </p:cNvPr>
          <p:cNvCxnSpPr/>
          <p:nvPr/>
        </p:nvCxnSpPr>
        <p:spPr>
          <a:xfrm>
            <a:off x="2997200" y="4847167"/>
            <a:ext cx="114300" cy="224366"/>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8610F275-6CCA-3D4D-66DB-DCF56FBD5EFD}"/>
              </a:ext>
            </a:extLst>
          </p:cNvPr>
          <p:cNvCxnSpPr/>
          <p:nvPr/>
        </p:nvCxnSpPr>
        <p:spPr>
          <a:xfrm>
            <a:off x="3111500" y="5071533"/>
            <a:ext cx="190500" cy="224367"/>
          </a:xfrm>
          <a:prstGeom prst="straightConnector1">
            <a:avLst/>
          </a:prstGeom>
          <a:ln w="30480">
            <a:solidFill>
              <a:srgbClr val="166534"/>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9827D20D-EBA5-7FFE-D6CB-40D5B8D9EDB4}"/>
              </a:ext>
            </a:extLst>
          </p:cNvPr>
          <p:cNvSpPr txBox="1"/>
          <p:nvPr/>
        </p:nvSpPr>
        <p:spPr>
          <a:xfrm>
            <a:off x="2654300" y="1600200"/>
            <a:ext cx="939800" cy="225703"/>
          </a:xfrm>
          <a:prstGeom prst="rect">
            <a:avLst/>
          </a:prstGeom>
          <a:noFill/>
        </p:spPr>
        <p:txBody>
          <a:bodyPr vert="horz" wrap="square" lIns="76200" tIns="50800" rIns="76200" bIns="50800" rtlCol="0">
            <a:spAutoFit/>
          </a:bodyPr>
          <a:lstStyle/>
          <a:p>
            <a:pPr algn="ctr"/>
            <a:r>
              <a:rPr lang="en-US" sz="800" b="1">
                <a:solidFill>
                  <a:srgbClr val="166534"/>
                </a:solidFill>
                <a:latin typeface="Aptos" panose="020B0004020202020204" pitchFamily="34" charset="0"/>
              </a:rPr>
              <a:t>GR</a:t>
            </a:r>
          </a:p>
        </p:txBody>
      </p:sp>
      <p:cxnSp>
        <p:nvCxnSpPr>
          <p:cNvPr id="44" name="Straight Arrow Connector 43">
            <a:extLst>
              <a:ext uri="{FF2B5EF4-FFF2-40B4-BE49-F238E27FC236}">
                <a16:creationId xmlns:a16="http://schemas.microsoft.com/office/drawing/2014/main" id="{D6D8B6F3-59D7-5C35-6134-7BF75C9737EC}"/>
              </a:ext>
            </a:extLst>
          </p:cNvPr>
          <p:cNvCxnSpPr/>
          <p:nvPr/>
        </p:nvCxnSpPr>
        <p:spPr>
          <a:xfrm>
            <a:off x="4051300" y="1930400"/>
            <a:ext cx="635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BBECC18-4F10-3782-F87F-B75EE51F2040}"/>
              </a:ext>
            </a:extLst>
          </p:cNvPr>
          <p:cNvCxnSpPr/>
          <p:nvPr/>
        </p:nvCxnSpPr>
        <p:spPr>
          <a:xfrm>
            <a:off x="4114800" y="2154767"/>
            <a:ext cx="63500" cy="224366"/>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BBF7C615-8048-99AB-9F14-D702A2A0051E}"/>
              </a:ext>
            </a:extLst>
          </p:cNvPr>
          <p:cNvCxnSpPr/>
          <p:nvPr/>
        </p:nvCxnSpPr>
        <p:spPr>
          <a:xfrm>
            <a:off x="4178300" y="2379133"/>
            <a:ext cx="2286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3AFA0AF-5122-BA3B-2519-E4D02BC8DB4F}"/>
              </a:ext>
            </a:extLst>
          </p:cNvPr>
          <p:cNvCxnSpPr/>
          <p:nvPr/>
        </p:nvCxnSpPr>
        <p:spPr>
          <a:xfrm>
            <a:off x="4406900" y="2603500"/>
            <a:ext cx="1778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6F5C9971-9FD4-449F-164A-67C63B171EAF}"/>
              </a:ext>
            </a:extLst>
          </p:cNvPr>
          <p:cNvCxnSpPr/>
          <p:nvPr/>
        </p:nvCxnSpPr>
        <p:spPr>
          <a:xfrm>
            <a:off x="4584700" y="2827867"/>
            <a:ext cx="76200" cy="224366"/>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29FEB36F-8668-BC88-8C1F-ABA29665E4D1}"/>
              </a:ext>
            </a:extLst>
          </p:cNvPr>
          <p:cNvCxnSpPr/>
          <p:nvPr/>
        </p:nvCxnSpPr>
        <p:spPr>
          <a:xfrm flipH="1">
            <a:off x="4597400" y="3052233"/>
            <a:ext cx="635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544C0F2C-ED80-2318-5B37-8D147A65C781}"/>
              </a:ext>
            </a:extLst>
          </p:cNvPr>
          <p:cNvCxnSpPr/>
          <p:nvPr/>
        </p:nvCxnSpPr>
        <p:spPr>
          <a:xfrm flipH="1">
            <a:off x="4241800" y="3276600"/>
            <a:ext cx="3556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06E0D97-2031-9116-C4E4-02157C5286B0}"/>
              </a:ext>
            </a:extLst>
          </p:cNvPr>
          <p:cNvCxnSpPr/>
          <p:nvPr/>
        </p:nvCxnSpPr>
        <p:spPr>
          <a:xfrm flipH="1">
            <a:off x="4127500" y="3500967"/>
            <a:ext cx="114300" cy="224366"/>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591E7F16-E3E3-6203-0CA1-23C23F768F51}"/>
              </a:ext>
            </a:extLst>
          </p:cNvPr>
          <p:cNvCxnSpPr/>
          <p:nvPr/>
        </p:nvCxnSpPr>
        <p:spPr>
          <a:xfrm>
            <a:off x="4127500" y="3725333"/>
            <a:ext cx="762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20211323-61C3-2F72-FC19-1705C2823DED}"/>
              </a:ext>
            </a:extLst>
          </p:cNvPr>
          <p:cNvCxnSpPr/>
          <p:nvPr/>
        </p:nvCxnSpPr>
        <p:spPr>
          <a:xfrm>
            <a:off x="4203700" y="3949700"/>
            <a:ext cx="2794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061FF8C1-B286-3401-283B-8C7B228876E0}"/>
              </a:ext>
            </a:extLst>
          </p:cNvPr>
          <p:cNvCxnSpPr/>
          <p:nvPr/>
        </p:nvCxnSpPr>
        <p:spPr>
          <a:xfrm>
            <a:off x="4483100" y="4174067"/>
            <a:ext cx="190500" cy="224366"/>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0929F18C-447E-945C-D587-92168843DDD0}"/>
              </a:ext>
            </a:extLst>
          </p:cNvPr>
          <p:cNvCxnSpPr/>
          <p:nvPr/>
        </p:nvCxnSpPr>
        <p:spPr>
          <a:xfrm>
            <a:off x="4673600" y="4398433"/>
            <a:ext cx="508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AA15E2CA-CFBC-0770-E4CD-8F0CE4CB939A}"/>
              </a:ext>
            </a:extLst>
          </p:cNvPr>
          <p:cNvCxnSpPr/>
          <p:nvPr/>
        </p:nvCxnSpPr>
        <p:spPr>
          <a:xfrm flipH="1">
            <a:off x="4584700" y="4622800"/>
            <a:ext cx="1397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F0BCC059-ABA6-40DF-4A85-2785D37D4F74}"/>
              </a:ext>
            </a:extLst>
          </p:cNvPr>
          <p:cNvCxnSpPr/>
          <p:nvPr/>
        </p:nvCxnSpPr>
        <p:spPr>
          <a:xfrm flipH="1">
            <a:off x="4279900" y="4847167"/>
            <a:ext cx="304800" cy="224366"/>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4B53CBCC-39B7-742C-FE73-F342A1CA5283}"/>
              </a:ext>
            </a:extLst>
          </p:cNvPr>
          <p:cNvCxnSpPr/>
          <p:nvPr/>
        </p:nvCxnSpPr>
        <p:spPr>
          <a:xfrm flipH="1">
            <a:off x="4152900" y="5071533"/>
            <a:ext cx="127000" cy="224367"/>
          </a:xfrm>
          <a:prstGeom prst="straightConnector1">
            <a:avLst/>
          </a:prstGeom>
          <a:ln w="30480">
            <a:solidFill>
              <a:srgbClr val="B91C1C"/>
            </a:solidFil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EF0D62BC-8CFC-4860-A681-DD540E309477}"/>
              </a:ext>
            </a:extLst>
          </p:cNvPr>
          <p:cNvSpPr txBox="1"/>
          <p:nvPr/>
        </p:nvSpPr>
        <p:spPr>
          <a:xfrm>
            <a:off x="3695700" y="1600200"/>
            <a:ext cx="939800" cy="225703"/>
          </a:xfrm>
          <a:prstGeom prst="rect">
            <a:avLst/>
          </a:prstGeom>
          <a:noFill/>
        </p:spPr>
        <p:txBody>
          <a:bodyPr vert="horz" wrap="square" lIns="76200" tIns="50800" rIns="76200" bIns="50800" rtlCol="0">
            <a:spAutoFit/>
          </a:bodyPr>
          <a:lstStyle/>
          <a:p>
            <a:pPr algn="ctr"/>
            <a:r>
              <a:rPr lang="en-US" sz="800" b="1">
                <a:solidFill>
                  <a:srgbClr val="B91C1C"/>
                </a:solidFill>
                <a:latin typeface="Aptos" panose="020B0004020202020204" pitchFamily="34" charset="0"/>
              </a:rPr>
              <a:t>Res.</a:t>
            </a:r>
          </a:p>
        </p:txBody>
      </p:sp>
      <p:cxnSp>
        <p:nvCxnSpPr>
          <p:cNvPr id="60" name="Straight Arrow Connector 59">
            <a:extLst>
              <a:ext uri="{FF2B5EF4-FFF2-40B4-BE49-F238E27FC236}">
                <a16:creationId xmlns:a16="http://schemas.microsoft.com/office/drawing/2014/main" id="{4B8993D3-0B37-5A20-B239-14B426DC9785}"/>
              </a:ext>
            </a:extLst>
          </p:cNvPr>
          <p:cNvCxnSpPr/>
          <p:nvPr/>
        </p:nvCxnSpPr>
        <p:spPr>
          <a:xfrm>
            <a:off x="5270500" y="1930400"/>
            <a:ext cx="127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87C0B061-E21E-A15C-AD50-54146A1033D3}"/>
              </a:ext>
            </a:extLst>
          </p:cNvPr>
          <p:cNvCxnSpPr/>
          <p:nvPr/>
        </p:nvCxnSpPr>
        <p:spPr>
          <a:xfrm>
            <a:off x="5283200" y="2154767"/>
            <a:ext cx="50800" cy="224366"/>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4F5E8EF7-6D2C-4F5B-9C04-3F076591D230}"/>
              </a:ext>
            </a:extLst>
          </p:cNvPr>
          <p:cNvCxnSpPr/>
          <p:nvPr/>
        </p:nvCxnSpPr>
        <p:spPr>
          <a:xfrm>
            <a:off x="5334000" y="2379133"/>
            <a:ext cx="1651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8BE8DB3A-6B81-605E-8A3D-B8279B64FC4B}"/>
              </a:ext>
            </a:extLst>
          </p:cNvPr>
          <p:cNvCxnSpPr/>
          <p:nvPr/>
        </p:nvCxnSpPr>
        <p:spPr>
          <a:xfrm>
            <a:off x="5499100" y="2603500"/>
            <a:ext cx="1143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CC73BE1C-5E8C-1A8B-5C6C-BFB7A5FF4D38}"/>
              </a:ext>
            </a:extLst>
          </p:cNvPr>
          <p:cNvCxnSpPr/>
          <p:nvPr/>
        </p:nvCxnSpPr>
        <p:spPr>
          <a:xfrm>
            <a:off x="5613400" y="2827867"/>
            <a:ext cx="88900" cy="224366"/>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0B23922B-6A91-325C-AD0B-5A7AD7F9DF35}"/>
              </a:ext>
            </a:extLst>
          </p:cNvPr>
          <p:cNvCxnSpPr/>
          <p:nvPr/>
        </p:nvCxnSpPr>
        <p:spPr>
          <a:xfrm flipH="1">
            <a:off x="5638800" y="3052233"/>
            <a:ext cx="635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CC8BD48D-596D-E598-BBF9-9DA19DD754B9}"/>
              </a:ext>
            </a:extLst>
          </p:cNvPr>
          <p:cNvCxnSpPr/>
          <p:nvPr/>
        </p:nvCxnSpPr>
        <p:spPr>
          <a:xfrm flipH="1">
            <a:off x="5435600" y="3276600"/>
            <a:ext cx="2032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E8F0B202-3ACE-2FB7-55A5-6B8DB378A64E}"/>
              </a:ext>
            </a:extLst>
          </p:cNvPr>
          <p:cNvCxnSpPr/>
          <p:nvPr/>
        </p:nvCxnSpPr>
        <p:spPr>
          <a:xfrm flipH="1">
            <a:off x="5346700" y="3500967"/>
            <a:ext cx="88900" cy="224366"/>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998BAFBE-5524-3ECD-9B17-1BCB66B6AC51}"/>
              </a:ext>
            </a:extLst>
          </p:cNvPr>
          <p:cNvCxnSpPr/>
          <p:nvPr/>
        </p:nvCxnSpPr>
        <p:spPr>
          <a:xfrm>
            <a:off x="5346700" y="3725333"/>
            <a:ext cx="254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A58DA161-2459-0A85-033C-E947987448DA}"/>
              </a:ext>
            </a:extLst>
          </p:cNvPr>
          <p:cNvCxnSpPr/>
          <p:nvPr/>
        </p:nvCxnSpPr>
        <p:spPr>
          <a:xfrm>
            <a:off x="5372100" y="3949700"/>
            <a:ext cx="1905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7663820-D9B4-6897-4817-1572EE04A656}"/>
              </a:ext>
            </a:extLst>
          </p:cNvPr>
          <p:cNvCxnSpPr/>
          <p:nvPr/>
        </p:nvCxnSpPr>
        <p:spPr>
          <a:xfrm>
            <a:off x="5562600" y="4174067"/>
            <a:ext cx="152400" cy="224366"/>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85265672-0AE9-D0CC-0CB4-C598A890E7BA}"/>
              </a:ext>
            </a:extLst>
          </p:cNvPr>
          <p:cNvCxnSpPr/>
          <p:nvPr/>
        </p:nvCxnSpPr>
        <p:spPr>
          <a:xfrm>
            <a:off x="5715000" y="4398433"/>
            <a:ext cx="381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B7670C2C-5513-7AA5-57B4-4AEB4C87E8D4}"/>
              </a:ext>
            </a:extLst>
          </p:cNvPr>
          <p:cNvCxnSpPr/>
          <p:nvPr/>
        </p:nvCxnSpPr>
        <p:spPr>
          <a:xfrm flipH="1">
            <a:off x="5689600" y="4622800"/>
            <a:ext cx="635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89A33CC6-2E03-78C5-57B6-3D02BBC2AE0B}"/>
              </a:ext>
            </a:extLst>
          </p:cNvPr>
          <p:cNvCxnSpPr/>
          <p:nvPr/>
        </p:nvCxnSpPr>
        <p:spPr>
          <a:xfrm flipH="1">
            <a:off x="5461000" y="4847167"/>
            <a:ext cx="228600" cy="224366"/>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09281628-6782-FF1A-6759-33793EBA177E}"/>
              </a:ext>
            </a:extLst>
          </p:cNvPr>
          <p:cNvCxnSpPr/>
          <p:nvPr/>
        </p:nvCxnSpPr>
        <p:spPr>
          <a:xfrm flipH="1">
            <a:off x="5308600" y="5071533"/>
            <a:ext cx="152400" cy="224367"/>
          </a:xfrm>
          <a:prstGeom prst="straightConnector1">
            <a:avLst/>
          </a:prstGeom>
          <a:ln w="30480">
            <a:solidFill>
              <a:srgbClr val="1D4ED8"/>
            </a:solidFill>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D87BFE8-455D-AB30-9A39-9AA94697EDBE}"/>
              </a:ext>
            </a:extLst>
          </p:cNvPr>
          <p:cNvSpPr txBox="1"/>
          <p:nvPr/>
        </p:nvSpPr>
        <p:spPr>
          <a:xfrm>
            <a:off x="4762500" y="1600200"/>
            <a:ext cx="939800" cy="225703"/>
          </a:xfrm>
          <a:prstGeom prst="rect">
            <a:avLst/>
          </a:prstGeom>
          <a:noFill/>
        </p:spPr>
        <p:txBody>
          <a:bodyPr vert="horz" wrap="square" lIns="76200" tIns="50800" rIns="76200" bIns="50800" rtlCol="0">
            <a:spAutoFit/>
          </a:bodyPr>
          <a:lstStyle/>
          <a:p>
            <a:pPr algn="ctr"/>
            <a:r>
              <a:rPr lang="en-US" sz="800" b="1">
                <a:solidFill>
                  <a:srgbClr val="1D4ED8"/>
                </a:solidFill>
                <a:latin typeface="Aptos" panose="020B0004020202020204" pitchFamily="34" charset="0"/>
              </a:rPr>
              <a:t>Vp/Vs</a:t>
            </a:r>
          </a:p>
        </p:txBody>
      </p:sp>
      <p:cxnSp>
        <p:nvCxnSpPr>
          <p:cNvPr id="76" name="Straight Arrow Connector 75">
            <a:extLst>
              <a:ext uri="{FF2B5EF4-FFF2-40B4-BE49-F238E27FC236}">
                <a16:creationId xmlns:a16="http://schemas.microsoft.com/office/drawing/2014/main" id="{74734D80-685E-F8E7-AAF6-638634AD6C1C}"/>
              </a:ext>
            </a:extLst>
          </p:cNvPr>
          <p:cNvCxnSpPr/>
          <p:nvPr/>
        </p:nvCxnSpPr>
        <p:spPr>
          <a:xfrm flipH="1">
            <a:off x="6553200" y="1930400"/>
            <a:ext cx="381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EE3FB742-B0B3-B6FB-BE19-F5C16FCA6C73}"/>
              </a:ext>
            </a:extLst>
          </p:cNvPr>
          <p:cNvCxnSpPr/>
          <p:nvPr/>
        </p:nvCxnSpPr>
        <p:spPr>
          <a:xfrm flipH="1">
            <a:off x="6489700" y="2154767"/>
            <a:ext cx="63500" cy="224366"/>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D69DFE29-8360-52DB-6E8A-5A1409E7D89A}"/>
              </a:ext>
            </a:extLst>
          </p:cNvPr>
          <p:cNvCxnSpPr/>
          <p:nvPr/>
        </p:nvCxnSpPr>
        <p:spPr>
          <a:xfrm flipH="1">
            <a:off x="6388100" y="2379133"/>
            <a:ext cx="1016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052CFC54-7445-ED63-C960-E53D7B78E408}"/>
              </a:ext>
            </a:extLst>
          </p:cNvPr>
          <p:cNvCxnSpPr/>
          <p:nvPr/>
        </p:nvCxnSpPr>
        <p:spPr>
          <a:xfrm flipH="1">
            <a:off x="6324600" y="2603500"/>
            <a:ext cx="635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09E84DFB-AE9B-48F5-62C9-F1C368BF2137}"/>
              </a:ext>
            </a:extLst>
          </p:cNvPr>
          <p:cNvCxnSpPr/>
          <p:nvPr/>
        </p:nvCxnSpPr>
        <p:spPr>
          <a:xfrm flipH="1">
            <a:off x="6273800" y="2827867"/>
            <a:ext cx="50800" cy="224366"/>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F9DF71F6-231E-C01C-8BF2-4CC1D4C32759}"/>
              </a:ext>
            </a:extLst>
          </p:cNvPr>
          <p:cNvCxnSpPr/>
          <p:nvPr/>
        </p:nvCxnSpPr>
        <p:spPr>
          <a:xfrm>
            <a:off x="6273800" y="3052233"/>
            <a:ext cx="508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67A5D48E-8590-704C-1B74-3032B0AE893B}"/>
              </a:ext>
            </a:extLst>
          </p:cNvPr>
          <p:cNvCxnSpPr/>
          <p:nvPr/>
        </p:nvCxnSpPr>
        <p:spPr>
          <a:xfrm>
            <a:off x="6324600" y="3276600"/>
            <a:ext cx="1397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E2CCF580-CE11-FF97-287A-4E4CC11F888D}"/>
              </a:ext>
            </a:extLst>
          </p:cNvPr>
          <p:cNvCxnSpPr/>
          <p:nvPr/>
        </p:nvCxnSpPr>
        <p:spPr>
          <a:xfrm>
            <a:off x="6464300" y="3500967"/>
            <a:ext cx="63500" cy="224366"/>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5637C755-7C43-8093-E8DB-ADB564FECF37}"/>
              </a:ext>
            </a:extLst>
          </p:cNvPr>
          <p:cNvCxnSpPr/>
          <p:nvPr/>
        </p:nvCxnSpPr>
        <p:spPr>
          <a:xfrm flipH="1">
            <a:off x="6477000" y="3725333"/>
            <a:ext cx="508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6DC95975-168A-35C5-F7E9-271368BA6C9D}"/>
              </a:ext>
            </a:extLst>
          </p:cNvPr>
          <p:cNvCxnSpPr/>
          <p:nvPr/>
        </p:nvCxnSpPr>
        <p:spPr>
          <a:xfrm flipH="1">
            <a:off x="6362700" y="3949700"/>
            <a:ext cx="1143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7C393356-04EE-6BD3-8A96-25AE148B14DC}"/>
              </a:ext>
            </a:extLst>
          </p:cNvPr>
          <p:cNvCxnSpPr/>
          <p:nvPr/>
        </p:nvCxnSpPr>
        <p:spPr>
          <a:xfrm flipH="1">
            <a:off x="6299200" y="4174067"/>
            <a:ext cx="63500" cy="224366"/>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EE2F09D5-F488-12DD-4530-6961AB6FD5B4}"/>
              </a:ext>
            </a:extLst>
          </p:cNvPr>
          <p:cNvCxnSpPr/>
          <p:nvPr/>
        </p:nvCxnSpPr>
        <p:spPr>
          <a:xfrm>
            <a:off x="6299200" y="4398433"/>
            <a:ext cx="127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6B4B63C0-FC7C-8F3B-1B6A-8D8F5E2C9BAF}"/>
              </a:ext>
            </a:extLst>
          </p:cNvPr>
          <p:cNvCxnSpPr/>
          <p:nvPr/>
        </p:nvCxnSpPr>
        <p:spPr>
          <a:xfrm>
            <a:off x="6311900" y="4622800"/>
            <a:ext cx="762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5B6C873B-9430-639F-E0FA-F468547739F6}"/>
              </a:ext>
            </a:extLst>
          </p:cNvPr>
          <p:cNvCxnSpPr/>
          <p:nvPr/>
        </p:nvCxnSpPr>
        <p:spPr>
          <a:xfrm>
            <a:off x="6388100" y="4847167"/>
            <a:ext cx="114300" cy="224366"/>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09915D05-92E5-CC80-96BA-8ABF4E5C35D5}"/>
              </a:ext>
            </a:extLst>
          </p:cNvPr>
          <p:cNvCxnSpPr/>
          <p:nvPr/>
        </p:nvCxnSpPr>
        <p:spPr>
          <a:xfrm>
            <a:off x="6502400" y="5071533"/>
            <a:ext cx="76200" cy="224367"/>
          </a:xfrm>
          <a:prstGeom prst="straightConnector1">
            <a:avLst/>
          </a:prstGeom>
          <a:ln w="30480">
            <a:solidFill>
              <a:srgbClr val="6D28D9"/>
            </a:solidFill>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5F296ACC-DE4D-9710-2DBF-E4386B724C10}"/>
              </a:ext>
            </a:extLst>
          </p:cNvPr>
          <p:cNvSpPr txBox="1"/>
          <p:nvPr/>
        </p:nvSpPr>
        <p:spPr>
          <a:xfrm>
            <a:off x="5829300" y="1600200"/>
            <a:ext cx="939800" cy="225703"/>
          </a:xfrm>
          <a:prstGeom prst="rect">
            <a:avLst/>
          </a:prstGeom>
          <a:noFill/>
        </p:spPr>
        <p:txBody>
          <a:bodyPr vert="horz" wrap="square" lIns="76200" tIns="50800" rIns="76200" bIns="50800" rtlCol="0">
            <a:spAutoFit/>
          </a:bodyPr>
          <a:lstStyle/>
          <a:p>
            <a:pPr algn="ctr"/>
            <a:r>
              <a:rPr lang="en-US" sz="800" b="1">
                <a:solidFill>
                  <a:srgbClr val="6D28D9"/>
                </a:solidFill>
                <a:latin typeface="Aptos" panose="020B0004020202020204" pitchFamily="34" charset="0"/>
              </a:rPr>
              <a:t>NMR/den.</a:t>
            </a:r>
          </a:p>
        </p:txBody>
      </p:sp>
      <p:sp>
        <p:nvSpPr>
          <p:cNvPr id="92" name="TextBox 91">
            <a:extLst>
              <a:ext uri="{FF2B5EF4-FFF2-40B4-BE49-F238E27FC236}">
                <a16:creationId xmlns:a16="http://schemas.microsoft.com/office/drawing/2014/main" id="{6A7B1311-B2D9-E80E-7E87-78C0953491EF}"/>
              </a:ext>
            </a:extLst>
          </p:cNvPr>
          <p:cNvSpPr txBox="1"/>
          <p:nvPr/>
        </p:nvSpPr>
        <p:spPr>
          <a:xfrm>
            <a:off x="6388100" y="1549400"/>
            <a:ext cx="431800" cy="241092"/>
          </a:xfrm>
          <a:prstGeom prst="rect">
            <a:avLst/>
          </a:prstGeom>
          <a:noFill/>
        </p:spPr>
        <p:txBody>
          <a:bodyPr vert="horz" wrap="square" lIns="76200" tIns="50800" rIns="76200" bIns="50800" rtlCol="0">
            <a:spAutoFit/>
          </a:bodyPr>
          <a:lstStyle/>
          <a:p>
            <a:pPr algn="ctr"/>
            <a:r>
              <a:rPr lang="en-US" sz="900" b="1">
                <a:solidFill>
                  <a:srgbClr val="0F172A"/>
                </a:solidFill>
                <a:latin typeface="Aptos" panose="020B0004020202020204" pitchFamily="34" charset="0"/>
              </a:rPr>
              <a:t>Core</a:t>
            </a:r>
          </a:p>
        </p:txBody>
      </p:sp>
      <p:sp>
        <p:nvSpPr>
          <p:cNvPr id="93" name="Rectangle 92">
            <a:extLst>
              <a:ext uri="{FF2B5EF4-FFF2-40B4-BE49-F238E27FC236}">
                <a16:creationId xmlns:a16="http://schemas.microsoft.com/office/drawing/2014/main" id="{6CBF26F2-5D12-0A54-DB16-05BD27F3814D}"/>
              </a:ext>
            </a:extLst>
          </p:cNvPr>
          <p:cNvSpPr/>
          <p:nvPr/>
        </p:nvSpPr>
        <p:spPr>
          <a:xfrm>
            <a:off x="6540500" y="2857500"/>
            <a:ext cx="177800" cy="558800"/>
          </a:xfrm>
          <a:prstGeom prst="rect">
            <a:avLst/>
          </a:prstGeom>
          <a:solidFill>
            <a:srgbClr val="ECFDF5"/>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63CA7D25-EA89-6047-F04D-5DFA71ABECA0}"/>
              </a:ext>
            </a:extLst>
          </p:cNvPr>
          <p:cNvSpPr/>
          <p:nvPr/>
        </p:nvSpPr>
        <p:spPr>
          <a:xfrm>
            <a:off x="6540500" y="4838700"/>
            <a:ext cx="177800" cy="558800"/>
          </a:xfrm>
          <a:prstGeom prst="rect">
            <a:avLst/>
          </a:prstGeom>
          <a:solidFill>
            <a:srgbClr val="ECFDF5"/>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C1B59837-1D6E-6362-8B87-26EBB7578B0F}"/>
              </a:ext>
            </a:extLst>
          </p:cNvPr>
          <p:cNvSpPr txBox="1"/>
          <p:nvPr/>
        </p:nvSpPr>
        <p:spPr>
          <a:xfrm>
            <a:off x="812800" y="5473700"/>
            <a:ext cx="5880100" cy="379591"/>
          </a:xfrm>
          <a:prstGeom prst="rect">
            <a:avLst/>
          </a:prstGeom>
          <a:noFill/>
        </p:spPr>
        <p:txBody>
          <a:bodyPr vert="horz" wrap="square" lIns="76200" tIns="50800" rIns="76200" bIns="50800" rtlCol="0">
            <a:spAutoFit/>
          </a:bodyPr>
          <a:lstStyle/>
          <a:p>
            <a:pPr algn="ctr"/>
            <a:r>
              <a:rPr lang="en-US" sz="900">
                <a:solidFill>
                  <a:srgbClr val="64748B"/>
                </a:solidFill>
                <a:latin typeface="Aptos" panose="020B0004020202020204" pitchFamily="34" charset="0"/>
              </a:rPr>
              <a:t>Sand intervals are log-response targets for review; core/NMR/pressure-core evidence calibrates labels and uncertainty.</a:t>
            </a:r>
          </a:p>
        </p:txBody>
      </p:sp>
      <p:sp>
        <p:nvSpPr>
          <p:cNvPr id="96" name="Rectangle: Rounded Corners 95">
            <a:extLst>
              <a:ext uri="{FF2B5EF4-FFF2-40B4-BE49-F238E27FC236}">
                <a16:creationId xmlns:a16="http://schemas.microsoft.com/office/drawing/2014/main" id="{A0337063-2AFB-75FA-D813-DEB7CBF78EE5}"/>
              </a:ext>
            </a:extLst>
          </p:cNvPr>
          <p:cNvSpPr/>
          <p:nvPr/>
        </p:nvSpPr>
        <p:spPr>
          <a:xfrm>
            <a:off x="7289800" y="1460500"/>
            <a:ext cx="4038600" cy="685800"/>
          </a:xfrm>
          <a:prstGeom prst="roundRect">
            <a:avLst/>
          </a:prstGeom>
          <a:solidFill>
            <a:srgbClr val="F0FDF4"/>
          </a:solidFill>
          <a:ln w="1778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166534"/>
                </a:solidFill>
                <a:latin typeface="Aptos" panose="020B0004020202020204" pitchFamily="34" charset="0"/>
              </a:rPr>
              <a:t>Lower GR suggests cleaner sand; it is a lithology cue, not hydrate proof.</a:t>
            </a:r>
          </a:p>
        </p:txBody>
      </p:sp>
      <p:cxnSp>
        <p:nvCxnSpPr>
          <p:cNvPr id="97" name="Straight Arrow Connector 96">
            <a:extLst>
              <a:ext uri="{FF2B5EF4-FFF2-40B4-BE49-F238E27FC236}">
                <a16:creationId xmlns:a16="http://schemas.microsoft.com/office/drawing/2014/main" id="{798540C5-F6DC-5D35-2A93-D72DE4A23ECC}"/>
              </a:ext>
            </a:extLst>
          </p:cNvPr>
          <p:cNvCxnSpPr/>
          <p:nvPr/>
        </p:nvCxnSpPr>
        <p:spPr>
          <a:xfrm flipH="1">
            <a:off x="3098800" y="1803400"/>
            <a:ext cx="4203700" cy="1054100"/>
          </a:xfrm>
          <a:prstGeom prst="straightConnector1">
            <a:avLst/>
          </a:prstGeom>
          <a:ln w="22860">
            <a:solidFill>
              <a:srgbClr val="166534"/>
            </a:solidFill>
            <a:tailEnd type="arrow"/>
          </a:ln>
        </p:spPr>
        <p:style>
          <a:lnRef idx="2">
            <a:schemeClr val="accent1"/>
          </a:lnRef>
          <a:fillRef idx="0">
            <a:schemeClr val="accent1"/>
          </a:fillRef>
          <a:effectRef idx="1">
            <a:schemeClr val="accent1"/>
          </a:effectRef>
          <a:fontRef idx="minor">
            <a:schemeClr val="tx1"/>
          </a:fontRef>
        </p:style>
      </p:cxnSp>
      <p:sp>
        <p:nvSpPr>
          <p:cNvPr id="98" name="Rectangle: Rounded Corners 97">
            <a:extLst>
              <a:ext uri="{FF2B5EF4-FFF2-40B4-BE49-F238E27FC236}">
                <a16:creationId xmlns:a16="http://schemas.microsoft.com/office/drawing/2014/main" id="{D087C704-423D-333D-C5BA-6C8D196053A0}"/>
              </a:ext>
            </a:extLst>
          </p:cNvPr>
          <p:cNvSpPr/>
          <p:nvPr/>
        </p:nvSpPr>
        <p:spPr>
          <a:xfrm>
            <a:off x="7289800" y="2311400"/>
            <a:ext cx="4038600" cy="812800"/>
          </a:xfrm>
          <a:prstGeom prst="roundRect">
            <a:avLst/>
          </a:prstGeom>
          <a:solidFill>
            <a:srgbClr val="FEF2F2"/>
          </a:solidFill>
          <a:ln w="17780">
            <a:solidFill>
              <a:srgbClr val="B91C1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100">
                <a:solidFill>
                  <a:srgbClr val="B91C1C"/>
                </a:solidFill>
                <a:latin typeface="Aptos" panose="020B0004020202020204" pitchFamily="34" charset="0"/>
              </a:rPr>
              <a:t>Resistivity can rise when hydrate replaces conductive pore water, but tight rock, gas, salinity, invasion, and borehole effects can mimic it.</a:t>
            </a:r>
          </a:p>
        </p:txBody>
      </p:sp>
      <p:cxnSp>
        <p:nvCxnSpPr>
          <p:cNvPr id="99" name="Straight Arrow Connector 98">
            <a:extLst>
              <a:ext uri="{FF2B5EF4-FFF2-40B4-BE49-F238E27FC236}">
                <a16:creationId xmlns:a16="http://schemas.microsoft.com/office/drawing/2014/main" id="{EB8D7114-28A8-7E9D-3CF3-C3493BA10EAB}"/>
              </a:ext>
            </a:extLst>
          </p:cNvPr>
          <p:cNvCxnSpPr/>
          <p:nvPr/>
        </p:nvCxnSpPr>
        <p:spPr>
          <a:xfrm flipH="1">
            <a:off x="4445000" y="2679700"/>
            <a:ext cx="2844800" cy="101600"/>
          </a:xfrm>
          <a:prstGeom prst="straightConnector1">
            <a:avLst/>
          </a:prstGeom>
          <a:ln w="22860">
            <a:solidFill>
              <a:srgbClr val="B91C1C"/>
            </a:solidFill>
            <a:tailEnd type="arrow"/>
          </a:ln>
        </p:spPr>
        <p:style>
          <a:lnRef idx="2">
            <a:schemeClr val="accent1"/>
          </a:lnRef>
          <a:fillRef idx="0">
            <a:schemeClr val="accent1"/>
          </a:fillRef>
          <a:effectRef idx="1">
            <a:schemeClr val="accent1"/>
          </a:effectRef>
          <a:fontRef idx="minor">
            <a:schemeClr val="tx1"/>
          </a:fontRef>
        </p:style>
      </p:cxnSp>
      <p:sp>
        <p:nvSpPr>
          <p:cNvPr id="100" name="Rectangle: Rounded Corners 99">
            <a:extLst>
              <a:ext uri="{FF2B5EF4-FFF2-40B4-BE49-F238E27FC236}">
                <a16:creationId xmlns:a16="http://schemas.microsoft.com/office/drawing/2014/main" id="{45339292-D8A3-ABF3-CFD7-28E514CB3EE1}"/>
              </a:ext>
            </a:extLst>
          </p:cNvPr>
          <p:cNvSpPr/>
          <p:nvPr/>
        </p:nvSpPr>
        <p:spPr>
          <a:xfrm>
            <a:off x="7289800" y="3302000"/>
            <a:ext cx="4038600" cy="787400"/>
          </a:xfrm>
          <a:prstGeom prst="roundRect">
            <a:avLst/>
          </a:prstGeom>
          <a:solidFill>
            <a:srgbClr val="EFF6FF"/>
          </a:solidFill>
          <a:ln w="17780">
            <a:solidFill>
              <a:srgbClr val="1D4ED8"/>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1D4ED8"/>
                </a:solidFill>
                <a:latin typeface="Aptos" panose="020B0004020202020204" pitchFamily="34" charset="0"/>
              </a:rPr>
              <a:t>Vs matters because shear response ties to the solid frame, contacts, cementation, and hydrate-bearing stiffness.</a:t>
            </a:r>
          </a:p>
        </p:txBody>
      </p:sp>
      <p:cxnSp>
        <p:nvCxnSpPr>
          <p:cNvPr id="101" name="Straight Arrow Connector 100">
            <a:extLst>
              <a:ext uri="{FF2B5EF4-FFF2-40B4-BE49-F238E27FC236}">
                <a16:creationId xmlns:a16="http://schemas.microsoft.com/office/drawing/2014/main" id="{9177604B-BF1D-5D48-B318-904BDC0EA488}"/>
              </a:ext>
            </a:extLst>
          </p:cNvPr>
          <p:cNvCxnSpPr/>
          <p:nvPr/>
        </p:nvCxnSpPr>
        <p:spPr>
          <a:xfrm flipH="1" flipV="1">
            <a:off x="5448300" y="2921000"/>
            <a:ext cx="1841500" cy="736600"/>
          </a:xfrm>
          <a:prstGeom prst="straightConnector1">
            <a:avLst/>
          </a:prstGeom>
          <a:ln w="22860">
            <a:solidFill>
              <a:srgbClr val="1D4ED8"/>
            </a:solidFill>
            <a:tailEnd type="arrow"/>
          </a:ln>
        </p:spPr>
        <p:style>
          <a:lnRef idx="2">
            <a:schemeClr val="accent1"/>
          </a:lnRef>
          <a:fillRef idx="0">
            <a:schemeClr val="accent1"/>
          </a:fillRef>
          <a:effectRef idx="1">
            <a:schemeClr val="accent1"/>
          </a:effectRef>
          <a:fontRef idx="minor">
            <a:schemeClr val="tx1"/>
          </a:fontRef>
        </p:style>
      </p:cxnSp>
      <p:sp>
        <p:nvSpPr>
          <p:cNvPr id="102" name="Rectangle: Rounded Corners 101">
            <a:extLst>
              <a:ext uri="{FF2B5EF4-FFF2-40B4-BE49-F238E27FC236}">
                <a16:creationId xmlns:a16="http://schemas.microsoft.com/office/drawing/2014/main" id="{7C9BA016-EE6C-47FF-3D4E-045356E8D69A}"/>
              </a:ext>
            </a:extLst>
          </p:cNvPr>
          <p:cNvSpPr/>
          <p:nvPr/>
        </p:nvSpPr>
        <p:spPr>
          <a:xfrm>
            <a:off x="7289800" y="4292600"/>
            <a:ext cx="4038600" cy="685800"/>
          </a:xfrm>
          <a:prstGeom prst="roundRect">
            <a:avLst/>
          </a:prstGeom>
          <a:solidFill>
            <a:srgbClr val="F5F3FF"/>
          </a:solidFill>
          <a:ln w="17780">
            <a:solidFill>
              <a:srgbClr val="6D28D9"/>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100">
                <a:solidFill>
                  <a:srgbClr val="6D28D9"/>
                </a:solidFill>
                <a:latin typeface="Aptos" panose="020B0004020202020204" pitchFamily="34" charset="0"/>
              </a:rPr>
              <a:t>Density, neutron, and NMR separations give context for pore fluids and pore solids, not a final saturation claim.</a:t>
            </a:r>
          </a:p>
        </p:txBody>
      </p:sp>
      <p:cxnSp>
        <p:nvCxnSpPr>
          <p:cNvPr id="103" name="Straight Arrow Connector 102">
            <a:extLst>
              <a:ext uri="{FF2B5EF4-FFF2-40B4-BE49-F238E27FC236}">
                <a16:creationId xmlns:a16="http://schemas.microsoft.com/office/drawing/2014/main" id="{A47391EA-A8B1-5DEB-FD78-BB1F805AB034}"/>
              </a:ext>
            </a:extLst>
          </p:cNvPr>
          <p:cNvCxnSpPr/>
          <p:nvPr/>
        </p:nvCxnSpPr>
        <p:spPr>
          <a:xfrm flipH="1" flipV="1">
            <a:off x="6299200" y="3124200"/>
            <a:ext cx="990600" cy="1473200"/>
          </a:xfrm>
          <a:prstGeom prst="straightConnector1">
            <a:avLst/>
          </a:prstGeom>
          <a:ln w="22860">
            <a:solidFill>
              <a:srgbClr val="6D28D9"/>
            </a:solidFill>
            <a:tailEnd type="arrow"/>
          </a:ln>
        </p:spPr>
        <p:style>
          <a:lnRef idx="2">
            <a:schemeClr val="accent1"/>
          </a:lnRef>
          <a:fillRef idx="0">
            <a:schemeClr val="accent1"/>
          </a:fillRef>
          <a:effectRef idx="1">
            <a:schemeClr val="accent1"/>
          </a:effectRef>
          <a:fontRef idx="minor">
            <a:schemeClr val="tx1"/>
          </a:fontRef>
        </p:style>
      </p:cxnSp>
      <p:sp>
        <p:nvSpPr>
          <p:cNvPr id="104" name="Rectangle: Rounded Corners 103">
            <a:extLst>
              <a:ext uri="{FF2B5EF4-FFF2-40B4-BE49-F238E27FC236}">
                <a16:creationId xmlns:a16="http://schemas.microsoft.com/office/drawing/2014/main" id="{0F5FAAC9-7971-A0E8-8FD0-24AA4E4CDBDF}"/>
              </a:ext>
            </a:extLst>
          </p:cNvPr>
          <p:cNvSpPr/>
          <p:nvPr/>
        </p:nvSpPr>
        <p:spPr>
          <a:xfrm>
            <a:off x="7289800" y="5181600"/>
            <a:ext cx="4038600" cy="5461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100" b="1">
                <a:solidFill>
                  <a:srgbClr val="0F766E"/>
                </a:solidFill>
                <a:latin typeface="Aptos" panose="020B0004020202020204" pitchFamily="34" charset="0"/>
              </a:rPr>
              <a:t>Core/coring/NMR strip: calibration and target authority after source review.</a:t>
            </a:r>
          </a:p>
        </p:txBody>
      </p:sp>
      <p:sp>
        <p:nvSpPr>
          <p:cNvPr id="105" name="TextBox 104">
            <a:extLst>
              <a:ext uri="{FF2B5EF4-FFF2-40B4-BE49-F238E27FC236}">
                <a16:creationId xmlns:a16="http://schemas.microsoft.com/office/drawing/2014/main" id="{D720359C-4203-1384-5DA6-EF90BF05849B}"/>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Context/orientation only. No hydrate proof, occurrence prediction, saturation prediction, trained metric, or sweet-spot ranking.</a:t>
            </a:r>
          </a:p>
        </p:txBody>
      </p:sp>
    </p:spTree>
    <p:extLst>
      <p:ext uri="{BB962C8B-B14F-4D97-AF65-F5344CB8AC3E}">
        <p14:creationId xmlns:p14="http://schemas.microsoft.com/office/powerpoint/2010/main" val="2048952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5A9847-E374-511C-468F-860D4AED0BD0}"/>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C87EE46-EB0A-F134-8B62-360A875E8678}"/>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Four-Well Workflow: Audience Version</a:t>
            </a:r>
          </a:p>
        </p:txBody>
      </p:sp>
      <p:sp>
        <p:nvSpPr>
          <p:cNvPr id="4" name="TextBox 3">
            <a:extLst>
              <a:ext uri="{FF2B5EF4-FFF2-40B4-BE49-F238E27FC236}">
                <a16:creationId xmlns:a16="http://schemas.microsoft.com/office/drawing/2014/main" id="{F594834D-4A6F-C824-320F-AA2E478EBCF6}"/>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The complex architecture reduces to six editable steps</a:t>
            </a:r>
          </a:p>
        </p:txBody>
      </p:sp>
      <p:cxnSp>
        <p:nvCxnSpPr>
          <p:cNvPr id="5" name="Straight Arrow Connector 4">
            <a:extLst>
              <a:ext uri="{FF2B5EF4-FFF2-40B4-BE49-F238E27FC236}">
                <a16:creationId xmlns:a16="http://schemas.microsoft.com/office/drawing/2014/main" id="{578C66FF-BF7A-3F3F-F44A-8E8B91A585B9}"/>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3ED158AD-1968-D5A5-76D6-19366EAEBBC6}"/>
              </a:ext>
            </a:extLst>
          </p:cNvPr>
          <p:cNvSpPr/>
          <p:nvPr/>
        </p:nvSpPr>
        <p:spPr>
          <a:xfrm>
            <a:off x="685800" y="1866900"/>
            <a:ext cx="1524000" cy="1054100"/>
          </a:xfrm>
          <a:prstGeom prst="roundRect">
            <a:avLst/>
          </a:prstGeom>
          <a:solidFill>
            <a:srgbClr val="EFF6FF"/>
          </a:solidFill>
          <a:ln w="17780">
            <a:solidFill>
              <a:srgbClr val="1D4ED8"/>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Inputs
logs + core/NMR + lithology + public context</a:t>
            </a:r>
          </a:p>
        </p:txBody>
      </p:sp>
      <p:cxnSp>
        <p:nvCxnSpPr>
          <p:cNvPr id="7" name="Straight Arrow Connector 6">
            <a:extLst>
              <a:ext uri="{FF2B5EF4-FFF2-40B4-BE49-F238E27FC236}">
                <a16:creationId xmlns:a16="http://schemas.microsoft.com/office/drawing/2014/main" id="{5D77DDB2-14D0-B38E-428B-90F5FBB6426E}"/>
              </a:ext>
            </a:extLst>
          </p:cNvPr>
          <p:cNvCxnSpPr/>
          <p:nvPr/>
        </p:nvCxnSpPr>
        <p:spPr>
          <a:xfrm>
            <a:off x="2260600" y="2400300"/>
            <a:ext cx="2286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A4B7E29A-0B9D-F326-1F16-6CD89551E70D}"/>
              </a:ext>
            </a:extLst>
          </p:cNvPr>
          <p:cNvSpPr/>
          <p:nvPr/>
        </p:nvSpPr>
        <p:spPr>
          <a:xfrm>
            <a:off x="2540000" y="1866900"/>
            <a:ext cx="1524000" cy="10541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Prepare
preserve headers, units, depth alignment, QC</a:t>
            </a:r>
          </a:p>
        </p:txBody>
      </p:sp>
      <p:cxnSp>
        <p:nvCxnSpPr>
          <p:cNvPr id="9" name="Straight Arrow Connector 8">
            <a:extLst>
              <a:ext uri="{FF2B5EF4-FFF2-40B4-BE49-F238E27FC236}">
                <a16:creationId xmlns:a16="http://schemas.microsoft.com/office/drawing/2014/main" id="{3FBE9A96-C082-F63F-8EC3-80FA61AF3205}"/>
              </a:ext>
            </a:extLst>
          </p:cNvPr>
          <p:cNvCxnSpPr/>
          <p:nvPr/>
        </p:nvCxnSpPr>
        <p:spPr>
          <a:xfrm>
            <a:off x="4114800" y="2400300"/>
            <a:ext cx="2286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F21C5BE2-7FA3-F47C-01D4-B14F5E310F4A}"/>
              </a:ext>
            </a:extLst>
          </p:cNvPr>
          <p:cNvSpPr/>
          <p:nvPr/>
        </p:nvSpPr>
        <p:spPr>
          <a:xfrm>
            <a:off x="4394200" y="1866900"/>
            <a:ext cx="1524000" cy="1054100"/>
          </a:xfrm>
          <a:prstGeom prst="roundRect">
            <a:avLst/>
          </a:prstGeom>
          <a:solidFill>
            <a:srgbClr val="FEF2F2"/>
          </a:solidFill>
          <a:ln w="17780">
            <a:solidFill>
              <a:srgbClr val="B91C1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Leakage barrier
inputs separate from saturation and occurrence labels</a:t>
            </a:r>
          </a:p>
        </p:txBody>
      </p:sp>
      <p:cxnSp>
        <p:nvCxnSpPr>
          <p:cNvPr id="11" name="Straight Arrow Connector 10">
            <a:extLst>
              <a:ext uri="{FF2B5EF4-FFF2-40B4-BE49-F238E27FC236}">
                <a16:creationId xmlns:a16="http://schemas.microsoft.com/office/drawing/2014/main" id="{CD887EE2-22D9-0342-BC6E-22B68A3093BE}"/>
              </a:ext>
            </a:extLst>
          </p:cNvPr>
          <p:cNvCxnSpPr/>
          <p:nvPr/>
        </p:nvCxnSpPr>
        <p:spPr>
          <a:xfrm>
            <a:off x="5969000" y="2400300"/>
            <a:ext cx="2286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A2D4948A-E4B6-1722-78CC-74B385C081DB}"/>
              </a:ext>
            </a:extLst>
          </p:cNvPr>
          <p:cNvSpPr/>
          <p:nvPr/>
        </p:nvSpPr>
        <p:spPr>
          <a:xfrm>
            <a:off x="6248400" y="1866900"/>
            <a:ext cx="1524000" cy="1054100"/>
          </a:xfrm>
          <a:prstGeom prst="roundRect">
            <a:avLst/>
          </a:prstGeom>
          <a:solidFill>
            <a:srgbClr val="F5F3FF"/>
          </a:solidFill>
          <a:ln w="17780">
            <a:solidFill>
              <a:srgbClr val="6D28D9"/>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Model path
occurrence and saturation are linked but separate</a:t>
            </a:r>
          </a:p>
        </p:txBody>
      </p:sp>
      <p:cxnSp>
        <p:nvCxnSpPr>
          <p:cNvPr id="13" name="Straight Arrow Connector 12">
            <a:extLst>
              <a:ext uri="{FF2B5EF4-FFF2-40B4-BE49-F238E27FC236}">
                <a16:creationId xmlns:a16="http://schemas.microsoft.com/office/drawing/2014/main" id="{221A1D60-75BE-096F-4B5A-526B68100DA4}"/>
              </a:ext>
            </a:extLst>
          </p:cNvPr>
          <p:cNvCxnSpPr/>
          <p:nvPr/>
        </p:nvCxnSpPr>
        <p:spPr>
          <a:xfrm>
            <a:off x="7823200" y="2400300"/>
            <a:ext cx="2286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5A67E60B-9306-7C31-FC44-ADC514E04FB9}"/>
              </a:ext>
            </a:extLst>
          </p:cNvPr>
          <p:cNvSpPr/>
          <p:nvPr/>
        </p:nvSpPr>
        <p:spPr>
          <a:xfrm>
            <a:off x="8102600" y="1866900"/>
            <a:ext cx="1524000" cy="1054100"/>
          </a:xfrm>
          <a:prstGeom prst="roundRect">
            <a:avLst/>
          </a:prstGeom>
          <a:solidFill>
            <a:srgbClr val="FFFBEB"/>
          </a:solidFill>
          <a:ln w="1778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Validate
whole-well or geography-aware split before metrics</a:t>
            </a:r>
          </a:p>
        </p:txBody>
      </p:sp>
      <p:cxnSp>
        <p:nvCxnSpPr>
          <p:cNvPr id="15" name="Straight Arrow Connector 14">
            <a:extLst>
              <a:ext uri="{FF2B5EF4-FFF2-40B4-BE49-F238E27FC236}">
                <a16:creationId xmlns:a16="http://schemas.microsoft.com/office/drawing/2014/main" id="{0F300496-99A8-561B-A40E-C5D29B715A92}"/>
              </a:ext>
            </a:extLst>
          </p:cNvPr>
          <p:cNvCxnSpPr/>
          <p:nvPr/>
        </p:nvCxnSpPr>
        <p:spPr>
          <a:xfrm>
            <a:off x="9677400" y="2400300"/>
            <a:ext cx="2286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C561CD19-AF78-2B5C-F77E-CBD2148E831A}"/>
              </a:ext>
            </a:extLst>
          </p:cNvPr>
          <p:cNvSpPr/>
          <p:nvPr/>
        </p:nvSpPr>
        <p:spPr>
          <a:xfrm>
            <a:off x="9956800" y="1866900"/>
            <a:ext cx="1524000" cy="1054100"/>
          </a:xfrm>
          <a:prstGeom prst="roundRect">
            <a:avLst/>
          </a:prstGeom>
          <a:solidFill>
            <a:srgbClr val="F0FDF4"/>
          </a:solidFill>
          <a:ln w="1778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Review outputs
figures, uncertainty, maps, manuscript exports</a:t>
            </a:r>
          </a:p>
        </p:txBody>
      </p:sp>
      <p:sp>
        <p:nvSpPr>
          <p:cNvPr id="17" name="Rectangle: Rounded Corners 16">
            <a:extLst>
              <a:ext uri="{FF2B5EF4-FFF2-40B4-BE49-F238E27FC236}">
                <a16:creationId xmlns:a16="http://schemas.microsoft.com/office/drawing/2014/main" id="{9AEC2D0D-D9FE-CB5C-A4B5-D1695A203D47}"/>
              </a:ext>
            </a:extLst>
          </p:cNvPr>
          <p:cNvSpPr/>
          <p:nvPr/>
        </p:nvSpPr>
        <p:spPr>
          <a:xfrm>
            <a:off x="838200" y="3581400"/>
            <a:ext cx="3022600" cy="1041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a:solidFill>
                  <a:srgbClr val="0F172A"/>
                </a:solidFill>
                <a:latin typeface="Aptos" panose="020B0004020202020204" pitchFamily="34" charset="0"/>
              </a:rPr>
              <a:t>What collapsed from the full diagram: source intake, schema, QC, feature engineering, target registry, model runner, tracker, and export panels.</a:t>
            </a:r>
          </a:p>
        </p:txBody>
      </p:sp>
      <p:sp>
        <p:nvSpPr>
          <p:cNvPr id="18" name="Rectangle: Rounded Corners 17">
            <a:extLst>
              <a:ext uri="{FF2B5EF4-FFF2-40B4-BE49-F238E27FC236}">
                <a16:creationId xmlns:a16="http://schemas.microsoft.com/office/drawing/2014/main" id="{193A2AC9-7228-4513-0F50-DE7664CE3EC4}"/>
              </a:ext>
            </a:extLst>
          </p:cNvPr>
          <p:cNvSpPr/>
          <p:nvPr/>
        </p:nvSpPr>
        <p:spPr>
          <a:xfrm>
            <a:off x="4368800" y="3581400"/>
            <a:ext cx="3022600" cy="1041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a:solidFill>
                  <a:srgbClr val="0F172A"/>
                </a:solidFill>
                <a:latin typeface="Aptos" panose="020B0004020202020204" pitchFamily="34" charset="0"/>
              </a:rPr>
              <a:t>What stays in Word/appendix: full architecture poster, detailed runtime package names, and all source-code/module wiring.</a:t>
            </a:r>
          </a:p>
        </p:txBody>
      </p:sp>
      <p:sp>
        <p:nvSpPr>
          <p:cNvPr id="19" name="Rectangle: Rounded Corners 18">
            <a:extLst>
              <a:ext uri="{FF2B5EF4-FFF2-40B4-BE49-F238E27FC236}">
                <a16:creationId xmlns:a16="http://schemas.microsoft.com/office/drawing/2014/main" id="{B989202F-6B81-0957-7BD7-339109BAA83A}"/>
              </a:ext>
            </a:extLst>
          </p:cNvPr>
          <p:cNvSpPr/>
          <p:nvPr/>
        </p:nvSpPr>
        <p:spPr>
          <a:xfrm>
            <a:off x="7899400" y="3581400"/>
            <a:ext cx="3022600" cy="10414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0F766E"/>
                </a:solidFill>
                <a:latin typeface="Aptos" panose="020B0004020202020204" pitchFamily="34" charset="0"/>
              </a:rPr>
              <a:t>Two-minute story: protect the data boundary, align variables by depth, train only after leakage checks, then review claims with core/lithology evidence.</a:t>
            </a:r>
          </a:p>
        </p:txBody>
      </p:sp>
      <p:sp>
        <p:nvSpPr>
          <p:cNvPr id="20" name="TextBox 19">
            <a:extLst>
              <a:ext uri="{FF2B5EF4-FFF2-40B4-BE49-F238E27FC236}">
                <a16:creationId xmlns:a16="http://schemas.microsoft.com/office/drawing/2014/main" id="{6476318F-00B8-1258-A49C-FEAF7804679A}"/>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This is an implementation plan, not a trained model result.</a:t>
            </a:r>
          </a:p>
        </p:txBody>
      </p:sp>
    </p:spTree>
    <p:extLst>
      <p:ext uri="{BB962C8B-B14F-4D97-AF65-F5344CB8AC3E}">
        <p14:creationId xmlns:p14="http://schemas.microsoft.com/office/powerpoint/2010/main" val="3632459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E64D67-B662-206C-9026-EB8F911E786B}"/>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17E6C4C-60EA-27F9-8DFA-A5364BD1D0B0}"/>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Equation-Only Slide: Physics Transforms And Gates</a:t>
            </a:r>
          </a:p>
        </p:txBody>
      </p:sp>
      <p:sp>
        <p:nvSpPr>
          <p:cNvPr id="4" name="TextBox 3">
            <a:extLst>
              <a:ext uri="{FF2B5EF4-FFF2-40B4-BE49-F238E27FC236}">
                <a16:creationId xmlns:a16="http://schemas.microsoft.com/office/drawing/2014/main" id="{88A13180-9294-661C-EEC4-142D0250F995}"/>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Large equations; symbol meanings stay editable below each card</a:t>
            </a:r>
          </a:p>
        </p:txBody>
      </p:sp>
      <p:cxnSp>
        <p:nvCxnSpPr>
          <p:cNvPr id="5" name="Straight Arrow Connector 4">
            <a:extLst>
              <a:ext uri="{FF2B5EF4-FFF2-40B4-BE49-F238E27FC236}">
                <a16:creationId xmlns:a16="http://schemas.microsoft.com/office/drawing/2014/main" id="{C132DAB6-1F29-5F5D-54C3-4CD84ED69467}"/>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2179EC19-43B2-4C74-EB7D-3C2FEE2C5F00}"/>
              </a:ext>
            </a:extLst>
          </p:cNvPr>
          <p:cNvSpPr/>
          <p:nvPr/>
        </p:nvSpPr>
        <p:spPr>
          <a:xfrm>
            <a:off x="7874000" y="685800"/>
            <a:ext cx="1041400" cy="304800"/>
          </a:xfrm>
          <a:prstGeom prst="roundRect">
            <a:avLst/>
          </a:prstGeom>
          <a:solidFill>
            <a:srgbClr val="EFF6FF"/>
          </a:solidFill>
          <a:ln w="17780">
            <a:solidFill>
              <a:srgbClr val="1D4ED8"/>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b="1">
                <a:solidFill>
                  <a:srgbClr val="1D4ED8"/>
                </a:solidFill>
                <a:latin typeface="Aptos" panose="020B0004020202020204" pitchFamily="34" charset="0"/>
              </a:rPr>
              <a:t>logs</a:t>
            </a:r>
          </a:p>
        </p:txBody>
      </p:sp>
      <p:sp>
        <p:nvSpPr>
          <p:cNvPr id="7" name="Rectangle: Rounded Corners 6">
            <a:extLst>
              <a:ext uri="{FF2B5EF4-FFF2-40B4-BE49-F238E27FC236}">
                <a16:creationId xmlns:a16="http://schemas.microsoft.com/office/drawing/2014/main" id="{8399736B-F95C-EA8F-FD2F-01B2C04BD753}"/>
              </a:ext>
            </a:extLst>
          </p:cNvPr>
          <p:cNvSpPr/>
          <p:nvPr/>
        </p:nvSpPr>
        <p:spPr>
          <a:xfrm>
            <a:off x="9017000" y="685800"/>
            <a:ext cx="1041400" cy="3048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b="1">
                <a:solidFill>
                  <a:srgbClr val="0F766E"/>
                </a:solidFill>
                <a:latin typeface="Aptos" panose="020B0004020202020204" pitchFamily="34" charset="0"/>
              </a:rPr>
              <a:t>context</a:t>
            </a:r>
          </a:p>
        </p:txBody>
      </p:sp>
      <p:sp>
        <p:nvSpPr>
          <p:cNvPr id="8" name="Rectangle: Rounded Corners 7">
            <a:extLst>
              <a:ext uri="{FF2B5EF4-FFF2-40B4-BE49-F238E27FC236}">
                <a16:creationId xmlns:a16="http://schemas.microsoft.com/office/drawing/2014/main" id="{3C1B5D69-6133-7F6E-59AD-7C88866CC268}"/>
              </a:ext>
            </a:extLst>
          </p:cNvPr>
          <p:cNvSpPr/>
          <p:nvPr/>
        </p:nvSpPr>
        <p:spPr>
          <a:xfrm>
            <a:off x="10160000" y="685800"/>
            <a:ext cx="1143000" cy="304800"/>
          </a:xfrm>
          <a:prstGeom prst="roundRect">
            <a:avLst/>
          </a:prstGeom>
          <a:solidFill>
            <a:srgbClr val="F5F3FF"/>
          </a:solidFill>
          <a:ln w="17780">
            <a:solidFill>
              <a:srgbClr val="6D28D9"/>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b="1">
                <a:solidFill>
                  <a:srgbClr val="6D28D9"/>
                </a:solidFill>
                <a:latin typeface="Aptos" panose="020B0004020202020204" pitchFamily="34" charset="0"/>
              </a:rPr>
              <a:t>derived</a:t>
            </a:r>
          </a:p>
        </p:txBody>
      </p:sp>
      <p:sp>
        <p:nvSpPr>
          <p:cNvPr id="9" name="Rectangle: Rounded Corners 8">
            <a:extLst>
              <a:ext uri="{FF2B5EF4-FFF2-40B4-BE49-F238E27FC236}">
                <a16:creationId xmlns:a16="http://schemas.microsoft.com/office/drawing/2014/main" id="{D3F01CED-1E18-16EE-4D69-AC73F63E71C1}"/>
              </a:ext>
            </a:extLst>
          </p:cNvPr>
          <p:cNvSpPr/>
          <p:nvPr/>
        </p:nvSpPr>
        <p:spPr>
          <a:xfrm>
            <a:off x="711200" y="1498600"/>
            <a:ext cx="5080000" cy="1803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endParaRPr lang="en-US" sz="1400" b="1">
              <a:solidFill>
                <a:srgbClr val="0F172A"/>
              </a:solidFill>
              <a:latin typeface="Aptos" panose="020B0004020202020204" pitchFamily="34" charset="0"/>
            </a:endParaRPr>
          </a:p>
        </p:txBody>
      </p:sp>
      <p:sp>
        <p:nvSpPr>
          <p:cNvPr id="10" name="TextBox 9">
            <a:extLst>
              <a:ext uri="{FF2B5EF4-FFF2-40B4-BE49-F238E27FC236}">
                <a16:creationId xmlns:a16="http://schemas.microsoft.com/office/drawing/2014/main" id="{6876462F-9079-B258-EB68-580CD0F69116}"/>
              </a:ext>
            </a:extLst>
          </p:cNvPr>
          <p:cNvSpPr txBox="1"/>
          <p:nvPr/>
        </p:nvSpPr>
        <p:spPr>
          <a:xfrm>
            <a:off x="965200" y="1651000"/>
            <a:ext cx="3048000" cy="302647"/>
          </a:xfrm>
          <a:prstGeom prst="rect">
            <a:avLst/>
          </a:prstGeom>
          <a:noFill/>
        </p:spPr>
        <p:txBody>
          <a:bodyPr vert="horz" wrap="square" lIns="76200" tIns="50800" rIns="76200" bIns="50800" rtlCol="0">
            <a:spAutoFit/>
          </a:bodyPr>
          <a:lstStyle/>
          <a:p>
            <a:r>
              <a:rPr lang="en-US" sz="1300" b="1">
                <a:solidFill>
                  <a:srgbClr val="0F172A"/>
                </a:solidFill>
                <a:latin typeface="Aptos" panose="020B0004020202020204" pitchFamily="34" charset="0"/>
              </a:rPr>
              <a:t>Pressure-depth screen</a:t>
            </a:r>
          </a:p>
        </p:txBody>
      </p:sp>
      <p:sp>
        <p:nvSpPr>
          <p:cNvPr id="11" name="TextBox 10">
            <a:extLst>
              <a:ext uri="{FF2B5EF4-FFF2-40B4-BE49-F238E27FC236}">
                <a16:creationId xmlns:a16="http://schemas.microsoft.com/office/drawing/2014/main" id="{2B00A037-5B82-6AD3-0E5D-9D42E153B193}"/>
              </a:ext>
            </a:extLst>
          </p:cNvPr>
          <p:cNvSpPr txBox="1"/>
          <p:nvPr/>
        </p:nvSpPr>
        <p:spPr>
          <a:xfrm>
            <a:off x="1092200" y="2108200"/>
            <a:ext cx="4191000" cy="487313"/>
          </a:xfrm>
          <a:prstGeom prst="rect">
            <a:avLst/>
          </a:prstGeom>
          <a:noFill/>
        </p:spPr>
        <p:txBody>
          <a:bodyPr vert="horz" wrap="square" lIns="76200" tIns="50800" rIns="76200" bIns="50800" rtlCol="0">
            <a:spAutoFit/>
          </a:bodyPr>
          <a:lstStyle/>
          <a:p>
            <a:pPr algn="ctr"/>
            <a:r>
              <a:rPr lang="pl-PL" sz="2500" b="1">
                <a:solidFill>
                  <a:srgbClr val="0F172A"/>
                </a:solidFill>
                <a:latin typeface="Aptos" panose="020B0004020202020204" pitchFamily="34" charset="0"/>
              </a:rPr>
              <a:t>P_abs = P0 + rho_w x g x z</a:t>
            </a:r>
            <a:endParaRPr lang="en-US" sz="2500" b="1">
              <a:solidFill>
                <a:srgbClr val="0F172A"/>
              </a:solidFill>
              <a:latin typeface="Aptos" panose="020B0004020202020204" pitchFamily="34" charset="0"/>
            </a:endParaRPr>
          </a:p>
        </p:txBody>
      </p:sp>
      <p:sp>
        <p:nvSpPr>
          <p:cNvPr id="12" name="TextBox 11">
            <a:extLst>
              <a:ext uri="{FF2B5EF4-FFF2-40B4-BE49-F238E27FC236}">
                <a16:creationId xmlns:a16="http://schemas.microsoft.com/office/drawing/2014/main" id="{199C5A13-8440-1C58-72C5-7751DA55AF55}"/>
              </a:ext>
            </a:extLst>
          </p:cNvPr>
          <p:cNvSpPr txBox="1"/>
          <p:nvPr/>
        </p:nvSpPr>
        <p:spPr>
          <a:xfrm>
            <a:off x="939800" y="2730500"/>
            <a:ext cx="4572000" cy="241092"/>
          </a:xfrm>
          <a:prstGeom prst="rect">
            <a:avLst/>
          </a:prstGeom>
          <a:noFill/>
        </p:spPr>
        <p:txBody>
          <a:bodyPr vert="horz" wrap="square" lIns="76200" tIns="50800" rIns="76200" bIns="50800" rtlCol="0">
            <a:spAutoFit/>
          </a:bodyPr>
          <a:lstStyle/>
          <a:p>
            <a:pPr algn="ctr"/>
            <a:r>
              <a:rPr lang="en-US" sz="900">
                <a:solidFill>
                  <a:srgbClr val="475569"/>
                </a:solidFill>
                <a:latin typeface="Aptos" panose="020B0004020202020204" pitchFamily="34" charset="0"/>
              </a:rPr>
              <a:t>absolute pressure   surface pressure   water density   gravity   depth</a:t>
            </a:r>
          </a:p>
        </p:txBody>
      </p:sp>
      <p:sp>
        <p:nvSpPr>
          <p:cNvPr id="13" name="Rectangle: Rounded Corners 12">
            <a:extLst>
              <a:ext uri="{FF2B5EF4-FFF2-40B4-BE49-F238E27FC236}">
                <a16:creationId xmlns:a16="http://schemas.microsoft.com/office/drawing/2014/main" id="{096CF90D-BDCC-E27E-7F3E-CC3FD294F917}"/>
              </a:ext>
            </a:extLst>
          </p:cNvPr>
          <p:cNvSpPr/>
          <p:nvPr/>
        </p:nvSpPr>
        <p:spPr>
          <a:xfrm>
            <a:off x="6400800" y="1498600"/>
            <a:ext cx="5080000" cy="1803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endParaRPr lang="en-US" sz="1400" b="1">
              <a:solidFill>
                <a:srgbClr val="0F172A"/>
              </a:solidFill>
              <a:latin typeface="Aptos" panose="020B0004020202020204" pitchFamily="34" charset="0"/>
            </a:endParaRPr>
          </a:p>
        </p:txBody>
      </p:sp>
      <p:sp>
        <p:nvSpPr>
          <p:cNvPr id="14" name="TextBox 13">
            <a:extLst>
              <a:ext uri="{FF2B5EF4-FFF2-40B4-BE49-F238E27FC236}">
                <a16:creationId xmlns:a16="http://schemas.microsoft.com/office/drawing/2014/main" id="{D7B93DFF-70AC-0124-F9C4-5CDE9733DBC0}"/>
              </a:ext>
            </a:extLst>
          </p:cNvPr>
          <p:cNvSpPr txBox="1"/>
          <p:nvPr/>
        </p:nvSpPr>
        <p:spPr>
          <a:xfrm>
            <a:off x="6654800" y="1651000"/>
            <a:ext cx="3048000" cy="302647"/>
          </a:xfrm>
          <a:prstGeom prst="rect">
            <a:avLst/>
          </a:prstGeom>
          <a:noFill/>
        </p:spPr>
        <p:txBody>
          <a:bodyPr vert="horz" wrap="square" lIns="76200" tIns="50800" rIns="76200" bIns="50800" rtlCol="0">
            <a:spAutoFit/>
          </a:bodyPr>
          <a:lstStyle/>
          <a:p>
            <a:r>
              <a:rPr lang="en-US" sz="1300" b="1">
                <a:solidFill>
                  <a:srgbClr val="0F172A"/>
                </a:solidFill>
                <a:latin typeface="Aptos" panose="020B0004020202020204" pitchFamily="34" charset="0"/>
              </a:rPr>
              <a:t>Acoustic impedance</a:t>
            </a:r>
          </a:p>
        </p:txBody>
      </p:sp>
      <p:sp>
        <p:nvSpPr>
          <p:cNvPr id="15" name="TextBox 14">
            <a:extLst>
              <a:ext uri="{FF2B5EF4-FFF2-40B4-BE49-F238E27FC236}">
                <a16:creationId xmlns:a16="http://schemas.microsoft.com/office/drawing/2014/main" id="{A7DA8BE1-CC5E-94A4-09CB-FA9164958303}"/>
              </a:ext>
            </a:extLst>
          </p:cNvPr>
          <p:cNvSpPr txBox="1"/>
          <p:nvPr/>
        </p:nvSpPr>
        <p:spPr>
          <a:xfrm>
            <a:off x="7112000" y="2108200"/>
            <a:ext cx="3530600" cy="533479"/>
          </a:xfrm>
          <a:prstGeom prst="rect">
            <a:avLst/>
          </a:prstGeom>
          <a:noFill/>
        </p:spPr>
        <p:txBody>
          <a:bodyPr vert="horz" wrap="square" lIns="76200" tIns="50800" rIns="76200" bIns="50800" rtlCol="0">
            <a:spAutoFit/>
          </a:bodyPr>
          <a:lstStyle/>
          <a:p>
            <a:pPr algn="ctr"/>
            <a:r>
              <a:rPr lang="it-IT" sz="2800" b="1">
                <a:solidFill>
                  <a:srgbClr val="0F172A"/>
                </a:solidFill>
                <a:latin typeface="Aptos" panose="020B0004020202020204" pitchFamily="34" charset="0"/>
              </a:rPr>
              <a:t>AI = rho_b x Vp</a:t>
            </a:r>
            <a:endParaRPr lang="en-US" sz="2800" b="1">
              <a:solidFill>
                <a:srgbClr val="0F172A"/>
              </a:solidFill>
              <a:latin typeface="Aptos" panose="020B0004020202020204" pitchFamily="34" charset="0"/>
            </a:endParaRPr>
          </a:p>
        </p:txBody>
      </p:sp>
      <p:sp>
        <p:nvSpPr>
          <p:cNvPr id="16" name="TextBox 15">
            <a:extLst>
              <a:ext uri="{FF2B5EF4-FFF2-40B4-BE49-F238E27FC236}">
                <a16:creationId xmlns:a16="http://schemas.microsoft.com/office/drawing/2014/main" id="{BB61F227-80D2-D65A-61A2-034948AE1E38}"/>
              </a:ext>
            </a:extLst>
          </p:cNvPr>
          <p:cNvSpPr txBox="1"/>
          <p:nvPr/>
        </p:nvSpPr>
        <p:spPr>
          <a:xfrm>
            <a:off x="7048500" y="2730500"/>
            <a:ext cx="3810000" cy="241092"/>
          </a:xfrm>
          <a:prstGeom prst="rect">
            <a:avLst/>
          </a:prstGeom>
          <a:noFill/>
        </p:spPr>
        <p:txBody>
          <a:bodyPr vert="horz" wrap="square" lIns="76200" tIns="50800" rIns="76200" bIns="50800" rtlCol="0">
            <a:spAutoFit/>
          </a:bodyPr>
          <a:lstStyle/>
          <a:p>
            <a:pPr algn="ctr"/>
            <a:r>
              <a:rPr lang="en-US" sz="900">
                <a:solidFill>
                  <a:srgbClr val="475569"/>
                </a:solidFill>
                <a:latin typeface="Aptos" panose="020B0004020202020204" pitchFamily="34" charset="0"/>
              </a:rPr>
              <a:t>impedance   bulk density   compressional velocity</a:t>
            </a:r>
          </a:p>
        </p:txBody>
      </p:sp>
      <p:sp>
        <p:nvSpPr>
          <p:cNvPr id="17" name="Rectangle: Rounded Corners 16">
            <a:extLst>
              <a:ext uri="{FF2B5EF4-FFF2-40B4-BE49-F238E27FC236}">
                <a16:creationId xmlns:a16="http://schemas.microsoft.com/office/drawing/2014/main" id="{B76DFCCF-9654-B5A4-D6F0-58A0F1685F52}"/>
              </a:ext>
            </a:extLst>
          </p:cNvPr>
          <p:cNvSpPr/>
          <p:nvPr/>
        </p:nvSpPr>
        <p:spPr>
          <a:xfrm>
            <a:off x="711200" y="3708400"/>
            <a:ext cx="5080000" cy="1803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endParaRPr lang="en-US" sz="1400" b="1">
              <a:solidFill>
                <a:srgbClr val="0F172A"/>
              </a:solidFill>
              <a:latin typeface="Aptos" panose="020B0004020202020204" pitchFamily="34" charset="0"/>
            </a:endParaRPr>
          </a:p>
        </p:txBody>
      </p:sp>
      <p:sp>
        <p:nvSpPr>
          <p:cNvPr id="18" name="TextBox 17">
            <a:extLst>
              <a:ext uri="{FF2B5EF4-FFF2-40B4-BE49-F238E27FC236}">
                <a16:creationId xmlns:a16="http://schemas.microsoft.com/office/drawing/2014/main" id="{37EED07F-ACEA-EA45-AEC3-1993D5AD1DBE}"/>
              </a:ext>
            </a:extLst>
          </p:cNvPr>
          <p:cNvSpPr txBox="1"/>
          <p:nvPr/>
        </p:nvSpPr>
        <p:spPr>
          <a:xfrm>
            <a:off x="965200" y="3860800"/>
            <a:ext cx="3048000" cy="302647"/>
          </a:xfrm>
          <a:prstGeom prst="rect">
            <a:avLst/>
          </a:prstGeom>
          <a:noFill/>
        </p:spPr>
        <p:txBody>
          <a:bodyPr vert="horz" wrap="square" lIns="76200" tIns="50800" rIns="76200" bIns="50800" rtlCol="0">
            <a:spAutoFit/>
          </a:bodyPr>
          <a:lstStyle/>
          <a:p>
            <a:r>
              <a:rPr lang="en-US" sz="1300" b="1">
                <a:solidFill>
                  <a:srgbClr val="0F172A"/>
                </a:solidFill>
                <a:latin typeface="Aptos" panose="020B0004020202020204" pitchFamily="34" charset="0"/>
              </a:rPr>
              <a:t>Velocity ratio</a:t>
            </a:r>
          </a:p>
        </p:txBody>
      </p:sp>
      <p:sp>
        <p:nvSpPr>
          <p:cNvPr id="19" name="TextBox 18">
            <a:extLst>
              <a:ext uri="{FF2B5EF4-FFF2-40B4-BE49-F238E27FC236}">
                <a16:creationId xmlns:a16="http://schemas.microsoft.com/office/drawing/2014/main" id="{A7ECB4CD-475E-752E-AA40-FA07ECD11155}"/>
              </a:ext>
            </a:extLst>
          </p:cNvPr>
          <p:cNvSpPr txBox="1"/>
          <p:nvPr/>
        </p:nvSpPr>
        <p:spPr>
          <a:xfrm>
            <a:off x="1752600" y="4254500"/>
            <a:ext cx="558800" cy="841256"/>
          </a:xfrm>
          <a:prstGeom prst="rect">
            <a:avLst/>
          </a:prstGeom>
          <a:noFill/>
        </p:spPr>
        <p:txBody>
          <a:bodyPr vert="horz" wrap="square" lIns="76200" tIns="50800" rIns="76200" bIns="50800" rtlCol="0">
            <a:spAutoFit/>
          </a:bodyPr>
          <a:lstStyle/>
          <a:p>
            <a:pPr algn="ctr"/>
            <a:r>
              <a:rPr lang="en-US" sz="2400" b="1">
                <a:solidFill>
                  <a:srgbClr val="0F172A"/>
                </a:solidFill>
                <a:latin typeface="Aptos" panose="020B0004020202020204" pitchFamily="34" charset="0"/>
              </a:rPr>
              <a:t>R =</a:t>
            </a:r>
          </a:p>
        </p:txBody>
      </p:sp>
      <p:sp>
        <p:nvSpPr>
          <p:cNvPr id="20" name="TextBox 19">
            <a:extLst>
              <a:ext uri="{FF2B5EF4-FFF2-40B4-BE49-F238E27FC236}">
                <a16:creationId xmlns:a16="http://schemas.microsoft.com/office/drawing/2014/main" id="{BAA279B0-6766-5396-660B-A3265F476DEE}"/>
              </a:ext>
            </a:extLst>
          </p:cNvPr>
          <p:cNvSpPr txBox="1"/>
          <p:nvPr/>
        </p:nvSpPr>
        <p:spPr>
          <a:xfrm>
            <a:off x="2413000" y="4229100"/>
            <a:ext cx="736600" cy="379591"/>
          </a:xfrm>
          <a:prstGeom prst="rect">
            <a:avLst/>
          </a:prstGeom>
          <a:noFill/>
        </p:spPr>
        <p:txBody>
          <a:bodyPr vert="horz" wrap="square" lIns="76200" tIns="50800" rIns="76200" bIns="50800" rtlCol="0">
            <a:spAutoFit/>
          </a:bodyPr>
          <a:lstStyle/>
          <a:p>
            <a:pPr algn="ctr"/>
            <a:r>
              <a:rPr lang="en-US" b="1">
                <a:solidFill>
                  <a:srgbClr val="1D4ED8"/>
                </a:solidFill>
                <a:latin typeface="Aptos" panose="020B0004020202020204" pitchFamily="34" charset="0"/>
              </a:rPr>
              <a:t>Vp</a:t>
            </a:r>
          </a:p>
        </p:txBody>
      </p:sp>
      <p:cxnSp>
        <p:nvCxnSpPr>
          <p:cNvPr id="21" name="Straight Arrow Connector 20">
            <a:extLst>
              <a:ext uri="{FF2B5EF4-FFF2-40B4-BE49-F238E27FC236}">
                <a16:creationId xmlns:a16="http://schemas.microsoft.com/office/drawing/2014/main" id="{38A96CFC-2119-D2B0-79FE-5AEE41610B39}"/>
              </a:ext>
            </a:extLst>
          </p:cNvPr>
          <p:cNvCxnSpPr/>
          <p:nvPr/>
        </p:nvCxnSpPr>
        <p:spPr>
          <a:xfrm>
            <a:off x="2451100" y="4533900"/>
            <a:ext cx="647700" cy="0"/>
          </a:xfrm>
          <a:prstGeom prst="straightConnector1">
            <a:avLst/>
          </a:prstGeom>
          <a:ln w="22860">
            <a:solidFill>
              <a:srgbClr val="0F172A"/>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6273ABD-5403-D321-8271-C12943998673}"/>
              </a:ext>
            </a:extLst>
          </p:cNvPr>
          <p:cNvSpPr txBox="1"/>
          <p:nvPr/>
        </p:nvSpPr>
        <p:spPr>
          <a:xfrm>
            <a:off x="2413000" y="4546600"/>
            <a:ext cx="736600" cy="379591"/>
          </a:xfrm>
          <a:prstGeom prst="rect">
            <a:avLst/>
          </a:prstGeom>
          <a:noFill/>
        </p:spPr>
        <p:txBody>
          <a:bodyPr vert="horz" wrap="square" lIns="76200" tIns="50800" rIns="76200" bIns="50800" rtlCol="0">
            <a:spAutoFit/>
          </a:bodyPr>
          <a:lstStyle/>
          <a:p>
            <a:pPr algn="ctr"/>
            <a:r>
              <a:rPr lang="en-US" b="1">
                <a:solidFill>
                  <a:srgbClr val="6D28D9"/>
                </a:solidFill>
                <a:latin typeface="Aptos" panose="020B0004020202020204" pitchFamily="34" charset="0"/>
              </a:rPr>
              <a:t>Vs</a:t>
            </a:r>
          </a:p>
        </p:txBody>
      </p:sp>
      <p:sp>
        <p:nvSpPr>
          <p:cNvPr id="23" name="TextBox 22">
            <a:extLst>
              <a:ext uri="{FF2B5EF4-FFF2-40B4-BE49-F238E27FC236}">
                <a16:creationId xmlns:a16="http://schemas.microsoft.com/office/drawing/2014/main" id="{80E24602-79E6-5578-287F-B92160085EFE}"/>
              </a:ext>
            </a:extLst>
          </p:cNvPr>
          <p:cNvSpPr txBox="1"/>
          <p:nvPr/>
        </p:nvSpPr>
        <p:spPr>
          <a:xfrm>
            <a:off x="3276600" y="4305300"/>
            <a:ext cx="1651000" cy="381000"/>
          </a:xfrm>
          <a:prstGeom prst="rect">
            <a:avLst/>
          </a:prstGeom>
          <a:noFill/>
        </p:spPr>
        <p:txBody>
          <a:bodyPr vert="horz" wrap="square" lIns="76200" tIns="50800" rIns="76200" bIns="50800" rtlCol="0">
            <a:spAutoFit/>
          </a:bodyPr>
          <a:lstStyle/>
          <a:p>
            <a:r>
              <a:rPr lang="en-US" b="1">
                <a:solidFill>
                  <a:srgbClr val="0F172A"/>
                </a:solidFill>
                <a:latin typeface="Aptos" panose="020B0004020202020204" pitchFamily="34" charset="0"/>
              </a:rPr>
              <a:t>velocity ratio</a:t>
            </a:r>
          </a:p>
        </p:txBody>
      </p:sp>
      <p:sp>
        <p:nvSpPr>
          <p:cNvPr id="24" name="TextBox 23">
            <a:extLst>
              <a:ext uri="{FF2B5EF4-FFF2-40B4-BE49-F238E27FC236}">
                <a16:creationId xmlns:a16="http://schemas.microsoft.com/office/drawing/2014/main" id="{012C6D05-30AF-641A-D7E0-37C62B8BA01F}"/>
              </a:ext>
            </a:extLst>
          </p:cNvPr>
          <p:cNvSpPr txBox="1"/>
          <p:nvPr/>
        </p:nvSpPr>
        <p:spPr>
          <a:xfrm>
            <a:off x="1054100" y="4978400"/>
            <a:ext cx="4343400" cy="241092"/>
          </a:xfrm>
          <a:prstGeom prst="rect">
            <a:avLst/>
          </a:prstGeom>
          <a:noFill/>
        </p:spPr>
        <p:txBody>
          <a:bodyPr vert="horz" wrap="square" lIns="76200" tIns="50800" rIns="76200" bIns="50800" rtlCol="0">
            <a:spAutoFit/>
          </a:bodyPr>
          <a:lstStyle/>
          <a:p>
            <a:pPr algn="ctr"/>
            <a:r>
              <a:rPr lang="en-US" sz="900">
                <a:solidFill>
                  <a:srgbClr val="475569"/>
                </a:solidFill>
                <a:latin typeface="Aptos" panose="020B0004020202020204" pitchFamily="34" charset="0"/>
              </a:rPr>
              <a:t>compressional velocity over shear velocity; compare frame and pore-fluid response</a:t>
            </a:r>
          </a:p>
        </p:txBody>
      </p:sp>
      <p:sp>
        <p:nvSpPr>
          <p:cNvPr id="25" name="Rectangle: Rounded Corners 24">
            <a:extLst>
              <a:ext uri="{FF2B5EF4-FFF2-40B4-BE49-F238E27FC236}">
                <a16:creationId xmlns:a16="http://schemas.microsoft.com/office/drawing/2014/main" id="{C474F514-A74B-4D12-2401-460029A64774}"/>
              </a:ext>
            </a:extLst>
          </p:cNvPr>
          <p:cNvSpPr/>
          <p:nvPr/>
        </p:nvSpPr>
        <p:spPr>
          <a:xfrm>
            <a:off x="6400800" y="3708400"/>
            <a:ext cx="5080000" cy="1803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endParaRPr lang="en-US" sz="1400" b="1">
              <a:solidFill>
                <a:srgbClr val="0F172A"/>
              </a:solidFill>
              <a:latin typeface="Aptos" panose="020B0004020202020204" pitchFamily="34" charset="0"/>
            </a:endParaRPr>
          </a:p>
        </p:txBody>
      </p:sp>
      <p:sp>
        <p:nvSpPr>
          <p:cNvPr id="26" name="TextBox 25">
            <a:extLst>
              <a:ext uri="{FF2B5EF4-FFF2-40B4-BE49-F238E27FC236}">
                <a16:creationId xmlns:a16="http://schemas.microsoft.com/office/drawing/2014/main" id="{70E81507-FDC1-FA5A-6496-101092D5E5EE}"/>
              </a:ext>
            </a:extLst>
          </p:cNvPr>
          <p:cNvSpPr txBox="1"/>
          <p:nvPr/>
        </p:nvSpPr>
        <p:spPr>
          <a:xfrm>
            <a:off x="6654800" y="3860800"/>
            <a:ext cx="3302000" cy="302647"/>
          </a:xfrm>
          <a:prstGeom prst="rect">
            <a:avLst/>
          </a:prstGeom>
          <a:noFill/>
        </p:spPr>
        <p:txBody>
          <a:bodyPr vert="horz" wrap="square" lIns="76200" tIns="50800" rIns="76200" bIns="50800" rtlCol="0">
            <a:spAutoFit/>
          </a:bodyPr>
          <a:lstStyle/>
          <a:p>
            <a:r>
              <a:rPr lang="en-US" sz="1300" b="1">
                <a:solidFill>
                  <a:srgbClr val="0F172A"/>
                </a:solidFill>
                <a:latin typeface="Aptos" panose="020B0004020202020204" pitchFamily="34" charset="0"/>
              </a:rPr>
              <a:t>Elastic attributes from logs</a:t>
            </a:r>
          </a:p>
        </p:txBody>
      </p:sp>
      <p:sp>
        <p:nvSpPr>
          <p:cNvPr id="27" name="TextBox 26">
            <a:extLst>
              <a:ext uri="{FF2B5EF4-FFF2-40B4-BE49-F238E27FC236}">
                <a16:creationId xmlns:a16="http://schemas.microsoft.com/office/drawing/2014/main" id="{3729D057-E825-43F2-F77B-732F575E56CD}"/>
              </a:ext>
            </a:extLst>
          </p:cNvPr>
          <p:cNvSpPr txBox="1"/>
          <p:nvPr/>
        </p:nvSpPr>
        <p:spPr>
          <a:xfrm>
            <a:off x="6667500" y="4165600"/>
            <a:ext cx="4572000" cy="425758"/>
          </a:xfrm>
          <a:prstGeom prst="rect">
            <a:avLst/>
          </a:prstGeom>
          <a:noFill/>
        </p:spPr>
        <p:txBody>
          <a:bodyPr vert="horz" wrap="square" lIns="76200" tIns="50800" rIns="76200" bIns="50800" rtlCol="0">
            <a:spAutoFit/>
          </a:bodyPr>
          <a:lstStyle/>
          <a:p>
            <a:pPr algn="ctr"/>
            <a:r>
              <a:rPr lang="de-DE" sz="2100" b="1">
                <a:solidFill>
                  <a:srgbClr val="0F172A"/>
                </a:solidFill>
                <a:latin typeface="Aptos" panose="020B0004020202020204" pitchFamily="34" charset="0"/>
              </a:rPr>
              <a:t>mu-rho = rho_b x Vs^2</a:t>
            </a:r>
            <a:endParaRPr lang="en-US" sz="2100" b="1">
              <a:solidFill>
                <a:srgbClr val="0F172A"/>
              </a:solidFill>
              <a:latin typeface="Aptos" panose="020B0004020202020204" pitchFamily="34" charset="0"/>
            </a:endParaRPr>
          </a:p>
        </p:txBody>
      </p:sp>
      <p:sp>
        <p:nvSpPr>
          <p:cNvPr id="28" name="TextBox 27">
            <a:extLst>
              <a:ext uri="{FF2B5EF4-FFF2-40B4-BE49-F238E27FC236}">
                <a16:creationId xmlns:a16="http://schemas.microsoft.com/office/drawing/2014/main" id="{45BE5DF4-7825-5D1E-6747-606AE3B18017}"/>
              </a:ext>
            </a:extLst>
          </p:cNvPr>
          <p:cNvSpPr txBox="1"/>
          <p:nvPr/>
        </p:nvSpPr>
        <p:spPr>
          <a:xfrm>
            <a:off x="6667500" y="4635500"/>
            <a:ext cx="4572000" cy="379591"/>
          </a:xfrm>
          <a:prstGeom prst="rect">
            <a:avLst/>
          </a:prstGeom>
          <a:noFill/>
        </p:spPr>
        <p:txBody>
          <a:bodyPr vert="horz" wrap="square" lIns="76200" tIns="50800" rIns="76200" bIns="50800" rtlCol="0">
            <a:spAutoFit/>
          </a:bodyPr>
          <a:lstStyle/>
          <a:p>
            <a:pPr algn="ctr"/>
            <a:r>
              <a:rPr lang="en-US" b="1">
                <a:solidFill>
                  <a:srgbClr val="0F172A"/>
                </a:solidFill>
                <a:latin typeface="Aptos" panose="020B0004020202020204" pitchFamily="34" charset="0"/>
              </a:rPr>
              <a:t>lambda-rho = rho_b x (Vp^2 - 2Vs^2)</a:t>
            </a:r>
          </a:p>
        </p:txBody>
      </p:sp>
      <p:sp>
        <p:nvSpPr>
          <p:cNvPr id="29" name="TextBox 28">
            <a:extLst>
              <a:ext uri="{FF2B5EF4-FFF2-40B4-BE49-F238E27FC236}">
                <a16:creationId xmlns:a16="http://schemas.microsoft.com/office/drawing/2014/main" id="{941A405D-A81B-6164-13EB-EDF1003D3B63}"/>
              </a:ext>
            </a:extLst>
          </p:cNvPr>
          <p:cNvSpPr txBox="1"/>
          <p:nvPr/>
        </p:nvSpPr>
        <p:spPr>
          <a:xfrm>
            <a:off x="6629400" y="5143500"/>
            <a:ext cx="4635500" cy="241092"/>
          </a:xfrm>
          <a:prstGeom prst="rect">
            <a:avLst/>
          </a:prstGeom>
          <a:noFill/>
        </p:spPr>
        <p:txBody>
          <a:bodyPr vert="horz" wrap="square" lIns="76200" tIns="50800" rIns="76200" bIns="50800" rtlCol="0">
            <a:spAutoFit/>
          </a:bodyPr>
          <a:lstStyle/>
          <a:p>
            <a:pPr algn="ctr"/>
            <a:r>
              <a:rPr lang="en-US" sz="900">
                <a:solidFill>
                  <a:srgbClr val="475569"/>
                </a:solidFill>
                <a:latin typeface="Aptos" panose="020B0004020202020204" pitchFamily="34" charset="0"/>
              </a:rPr>
              <a:t>shear / lambda-rho features from density, Vp, and Vs; not proof by themselves</a:t>
            </a:r>
          </a:p>
        </p:txBody>
      </p:sp>
      <p:sp>
        <p:nvSpPr>
          <p:cNvPr id="30" name="Rectangle: Rounded Corners 29">
            <a:extLst>
              <a:ext uri="{FF2B5EF4-FFF2-40B4-BE49-F238E27FC236}">
                <a16:creationId xmlns:a16="http://schemas.microsoft.com/office/drawing/2014/main" id="{E50247DB-FF00-0E6F-4ED2-EFB80696336A}"/>
              </a:ext>
            </a:extLst>
          </p:cNvPr>
          <p:cNvSpPr/>
          <p:nvPr/>
        </p:nvSpPr>
        <p:spPr>
          <a:xfrm>
            <a:off x="2159000" y="5829300"/>
            <a:ext cx="7874000" cy="393700"/>
          </a:xfrm>
          <a:prstGeom prst="roundRect">
            <a:avLst/>
          </a:prstGeom>
          <a:solidFill>
            <a:srgbClr val="FFFBEB"/>
          </a:solidFill>
          <a:ln w="1778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B45309"/>
                </a:solidFill>
                <a:latin typeface="Aptos" panose="020B0004020202020204" pitchFamily="34" charset="0"/>
              </a:rPr>
              <a:t>Equations transform logs and context into review features. They do not create final hydrate occurrence or saturation claims.</a:t>
            </a:r>
          </a:p>
        </p:txBody>
      </p:sp>
      <p:sp>
        <p:nvSpPr>
          <p:cNvPr id="31" name="TextBox 30">
            <a:extLst>
              <a:ext uri="{FF2B5EF4-FFF2-40B4-BE49-F238E27FC236}">
                <a16:creationId xmlns:a16="http://schemas.microsoft.com/office/drawing/2014/main" id="{E9C278F1-4413-2735-E5B5-0E1DD2ACFAA0}"/>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No map, no ML diagram, no trained metrics, and no approved rows on this slide.</a:t>
            </a:r>
          </a:p>
        </p:txBody>
      </p:sp>
    </p:spTree>
    <p:extLst>
      <p:ext uri="{BB962C8B-B14F-4D97-AF65-F5344CB8AC3E}">
        <p14:creationId xmlns:p14="http://schemas.microsoft.com/office/powerpoint/2010/main" val="570060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FE9E-D452-DBB8-1F36-3A61C1E2C33D}"/>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6D7033E-5158-0527-8417-DFC1B943D737}"/>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Evidence And Unit Gate Before Modeling</a:t>
            </a:r>
          </a:p>
        </p:txBody>
      </p:sp>
      <p:sp>
        <p:nvSpPr>
          <p:cNvPr id="4" name="TextBox 3">
            <a:extLst>
              <a:ext uri="{FF2B5EF4-FFF2-40B4-BE49-F238E27FC236}">
                <a16:creationId xmlns:a16="http://schemas.microsoft.com/office/drawing/2014/main" id="{4B9A0C87-4064-23A4-4A30-EEA80CE7AA72}"/>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A high-level gate keeps measurements, derived features, and targets separate</a:t>
            </a:r>
          </a:p>
        </p:txBody>
      </p:sp>
      <p:cxnSp>
        <p:nvCxnSpPr>
          <p:cNvPr id="5" name="Straight Arrow Connector 4">
            <a:extLst>
              <a:ext uri="{FF2B5EF4-FFF2-40B4-BE49-F238E27FC236}">
                <a16:creationId xmlns:a16="http://schemas.microsoft.com/office/drawing/2014/main" id="{95D36A9D-232C-9A7D-064B-94FD8FE8B176}"/>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075F529-D228-F2A6-F28B-541B9FD1C2B1}"/>
              </a:ext>
            </a:extLst>
          </p:cNvPr>
          <p:cNvSpPr txBox="1"/>
          <p:nvPr/>
        </p:nvSpPr>
        <p:spPr>
          <a:xfrm>
            <a:off x="1092200" y="1422400"/>
            <a:ext cx="10033000" cy="625812"/>
          </a:xfrm>
          <a:prstGeom prst="rect">
            <a:avLst/>
          </a:prstGeom>
          <a:noFill/>
        </p:spPr>
        <p:txBody>
          <a:bodyPr vert="horz" wrap="square" lIns="76200" tIns="50800" rIns="76200" bIns="50800" rtlCol="0">
            <a:spAutoFit/>
          </a:bodyPr>
          <a:lstStyle/>
          <a:p>
            <a:pPr algn="ctr"/>
            <a:r>
              <a:rPr lang="en-US" sz="1700" b="1">
                <a:solidFill>
                  <a:srgbClr val="0F172A"/>
                </a:solidFill>
                <a:latin typeface="Aptos" panose="020B0004020202020204" pitchFamily="34" charset="0"/>
              </a:rPr>
              <a:t>One sentence takeaway: the model is only credible after units, curve roles, lithology context, and target-only labels are separated.</a:t>
            </a:r>
          </a:p>
        </p:txBody>
      </p:sp>
      <p:sp>
        <p:nvSpPr>
          <p:cNvPr id="7" name="Rectangle: Rounded Corners 6">
            <a:extLst>
              <a:ext uri="{FF2B5EF4-FFF2-40B4-BE49-F238E27FC236}">
                <a16:creationId xmlns:a16="http://schemas.microsoft.com/office/drawing/2014/main" id="{2CDDB4C4-A0B6-1250-A599-9E0574C85A98}"/>
              </a:ext>
            </a:extLst>
          </p:cNvPr>
          <p:cNvSpPr/>
          <p:nvPr/>
        </p:nvSpPr>
        <p:spPr>
          <a:xfrm>
            <a:off x="889000" y="2362200"/>
            <a:ext cx="2108200" cy="1422400"/>
          </a:xfrm>
          <a:prstGeom prst="roundRect">
            <a:avLst/>
          </a:prstGeom>
          <a:solidFill>
            <a:srgbClr val="EFF6FF"/>
          </a:solidFill>
          <a:ln w="17780">
            <a:solidFill>
              <a:srgbClr val="1D4ED8"/>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0F172A"/>
                </a:solidFill>
                <a:latin typeface="Aptos" panose="020B0004020202020204" pitchFamily="34" charset="0"/>
              </a:rPr>
              <a:t>1. Original headers
DEPTH, GR, RHOB, RES, Vp, Vs, NMR</a:t>
            </a:r>
          </a:p>
        </p:txBody>
      </p:sp>
      <p:sp>
        <p:nvSpPr>
          <p:cNvPr id="8" name="Rectangle: Rounded Corners 7">
            <a:extLst>
              <a:ext uri="{FF2B5EF4-FFF2-40B4-BE49-F238E27FC236}">
                <a16:creationId xmlns:a16="http://schemas.microsoft.com/office/drawing/2014/main" id="{F78C77D5-22D1-0543-98D1-B2DF7CE9B9CF}"/>
              </a:ext>
            </a:extLst>
          </p:cNvPr>
          <p:cNvSpPr/>
          <p:nvPr/>
        </p:nvSpPr>
        <p:spPr>
          <a:xfrm>
            <a:off x="3505200" y="2362200"/>
            <a:ext cx="2108200" cy="14224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0F172A"/>
                </a:solidFill>
                <a:latin typeface="Aptos" panose="020B0004020202020204" pitchFamily="34" charset="0"/>
              </a:rPr>
              <a:t>2. Units + depth
feet/meters and curve alignment preserved</a:t>
            </a:r>
          </a:p>
        </p:txBody>
      </p:sp>
      <p:sp>
        <p:nvSpPr>
          <p:cNvPr id="9" name="Rectangle: Rounded Corners 8">
            <a:extLst>
              <a:ext uri="{FF2B5EF4-FFF2-40B4-BE49-F238E27FC236}">
                <a16:creationId xmlns:a16="http://schemas.microsoft.com/office/drawing/2014/main" id="{1AB6FCFD-15DE-8171-C987-43A2AB9D002F}"/>
              </a:ext>
            </a:extLst>
          </p:cNvPr>
          <p:cNvSpPr/>
          <p:nvPr/>
        </p:nvSpPr>
        <p:spPr>
          <a:xfrm>
            <a:off x="6121400" y="2362200"/>
            <a:ext cx="2108200" cy="1422400"/>
          </a:xfrm>
          <a:prstGeom prst="roundRect">
            <a:avLst/>
          </a:prstGeom>
          <a:solidFill>
            <a:srgbClr val="F5F3FF"/>
          </a:solidFill>
          <a:ln w="17780">
            <a:solidFill>
              <a:srgbClr val="6D28D9"/>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0F172A"/>
                </a:solidFill>
                <a:latin typeface="Aptos" panose="020B0004020202020204" pitchFamily="34" charset="0"/>
              </a:rPr>
              <a:t>3. Feature role
measured, derived, QC, context</a:t>
            </a:r>
          </a:p>
        </p:txBody>
      </p:sp>
      <p:sp>
        <p:nvSpPr>
          <p:cNvPr id="10" name="Rectangle: Rounded Corners 9">
            <a:extLst>
              <a:ext uri="{FF2B5EF4-FFF2-40B4-BE49-F238E27FC236}">
                <a16:creationId xmlns:a16="http://schemas.microsoft.com/office/drawing/2014/main" id="{4283E96F-5DB4-F751-2A34-42F730780547}"/>
              </a:ext>
            </a:extLst>
          </p:cNvPr>
          <p:cNvSpPr/>
          <p:nvPr/>
        </p:nvSpPr>
        <p:spPr>
          <a:xfrm>
            <a:off x="8737600" y="2362200"/>
            <a:ext cx="2108200" cy="1422400"/>
          </a:xfrm>
          <a:prstGeom prst="roundRect">
            <a:avLst/>
          </a:prstGeom>
          <a:solidFill>
            <a:srgbClr val="FEF2F2"/>
          </a:solidFill>
          <a:ln w="17780">
            <a:solidFill>
              <a:srgbClr val="B91C1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0F172A"/>
                </a:solidFill>
                <a:latin typeface="Aptos" panose="020B0004020202020204" pitchFamily="34" charset="0"/>
              </a:rPr>
              <a:t>4. Target barrier
Sgh / Sh / NMR_SAT stay Y-only</a:t>
            </a:r>
          </a:p>
        </p:txBody>
      </p:sp>
      <p:cxnSp>
        <p:nvCxnSpPr>
          <p:cNvPr id="11" name="Straight Arrow Connector 10">
            <a:extLst>
              <a:ext uri="{FF2B5EF4-FFF2-40B4-BE49-F238E27FC236}">
                <a16:creationId xmlns:a16="http://schemas.microsoft.com/office/drawing/2014/main" id="{A2A17CF2-B5BF-4729-689A-90DE562C8DF5}"/>
              </a:ext>
            </a:extLst>
          </p:cNvPr>
          <p:cNvCxnSpPr/>
          <p:nvPr/>
        </p:nvCxnSpPr>
        <p:spPr>
          <a:xfrm>
            <a:off x="3022600" y="3073400"/>
            <a:ext cx="4318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1373188-F0F1-CCD7-25A1-31FE0D59F628}"/>
              </a:ext>
            </a:extLst>
          </p:cNvPr>
          <p:cNvCxnSpPr/>
          <p:nvPr/>
        </p:nvCxnSpPr>
        <p:spPr>
          <a:xfrm>
            <a:off x="5638800" y="3073400"/>
            <a:ext cx="4318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AFF373F-CC0E-C9EA-0883-25A0937806AE}"/>
              </a:ext>
            </a:extLst>
          </p:cNvPr>
          <p:cNvCxnSpPr/>
          <p:nvPr/>
        </p:nvCxnSpPr>
        <p:spPr>
          <a:xfrm>
            <a:off x="8255000" y="3073400"/>
            <a:ext cx="4318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80805CE2-4751-4835-14DB-CB66CD8A41DB}"/>
              </a:ext>
            </a:extLst>
          </p:cNvPr>
          <p:cNvSpPr/>
          <p:nvPr/>
        </p:nvSpPr>
        <p:spPr>
          <a:xfrm>
            <a:off x="1422400" y="4343400"/>
            <a:ext cx="2857500" cy="914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a:solidFill>
                  <a:srgbClr val="0F172A"/>
                </a:solidFill>
                <a:latin typeface="Aptos" panose="020B0004020202020204" pitchFamily="34" charset="0"/>
              </a:rPr>
              <a:t>Four-well scope: go deeper on lithology/core review instead of claiming broad model coverage.</a:t>
            </a:r>
          </a:p>
        </p:txBody>
      </p:sp>
      <p:sp>
        <p:nvSpPr>
          <p:cNvPr id="15" name="Rectangle: Rounded Corners 14">
            <a:extLst>
              <a:ext uri="{FF2B5EF4-FFF2-40B4-BE49-F238E27FC236}">
                <a16:creationId xmlns:a16="http://schemas.microsoft.com/office/drawing/2014/main" id="{64456820-F202-7E2A-CCF9-BF15349358F5}"/>
              </a:ext>
            </a:extLst>
          </p:cNvPr>
          <p:cNvSpPr/>
          <p:nvPr/>
        </p:nvSpPr>
        <p:spPr>
          <a:xfrm>
            <a:off x="4673600" y="4343400"/>
            <a:ext cx="2857500" cy="914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a:solidFill>
                  <a:srgbClr val="0F172A"/>
                </a:solidFill>
                <a:latin typeface="Aptos" panose="020B0004020202020204" pitchFamily="34" charset="0"/>
              </a:rPr>
              <a:t>False positives are expected: gas, tight rock, salinity, borehole washout, and missing curves must be reviewed.</a:t>
            </a:r>
          </a:p>
        </p:txBody>
      </p:sp>
      <p:sp>
        <p:nvSpPr>
          <p:cNvPr id="16" name="Rectangle: Rounded Corners 15">
            <a:extLst>
              <a:ext uri="{FF2B5EF4-FFF2-40B4-BE49-F238E27FC236}">
                <a16:creationId xmlns:a16="http://schemas.microsoft.com/office/drawing/2014/main" id="{69E2EB0F-D00B-C948-2B22-F1BF62FC7FA3}"/>
              </a:ext>
            </a:extLst>
          </p:cNvPr>
          <p:cNvSpPr/>
          <p:nvPr/>
        </p:nvSpPr>
        <p:spPr>
          <a:xfrm>
            <a:off x="7924800" y="4343400"/>
            <a:ext cx="2857500" cy="9144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a:solidFill>
                  <a:srgbClr val="0F172A"/>
                </a:solidFill>
                <a:latin typeface="Aptos" panose="020B0004020202020204" pitchFamily="34" charset="0"/>
              </a:rPr>
              <a:t>Outputs stay review-ready: plots, uncertainty, source notes, and mentor decisions before final claims.</a:t>
            </a:r>
          </a:p>
        </p:txBody>
      </p:sp>
      <p:sp>
        <p:nvSpPr>
          <p:cNvPr id="17" name="TextBox 16">
            <a:extLst>
              <a:ext uri="{FF2B5EF4-FFF2-40B4-BE49-F238E27FC236}">
                <a16:creationId xmlns:a16="http://schemas.microsoft.com/office/drawing/2014/main" id="{000FD2D6-9D81-986E-A5F7-86CF8C5AED9C}"/>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Context/orientation only. No hydrate proof, occurrence prediction, saturation prediction, trained metric, or sweet-spot ranking.</a:t>
            </a:r>
          </a:p>
        </p:txBody>
      </p:sp>
    </p:spTree>
    <p:extLst>
      <p:ext uri="{BB962C8B-B14F-4D97-AF65-F5344CB8AC3E}">
        <p14:creationId xmlns:p14="http://schemas.microsoft.com/office/powerpoint/2010/main" val="4137374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9019A0-98F1-39D5-D2BD-E54833B3244A}"/>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2A0F194-59D1-5147-13F9-DF47C5728AEE}"/>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Unified North Slope Well + Stability Context Map</a:t>
            </a:r>
          </a:p>
        </p:txBody>
      </p:sp>
      <p:sp>
        <p:nvSpPr>
          <p:cNvPr id="4" name="TextBox 3">
            <a:extLst>
              <a:ext uri="{FF2B5EF4-FFF2-40B4-BE49-F238E27FC236}">
                <a16:creationId xmlns:a16="http://schemas.microsoft.com/office/drawing/2014/main" id="{AC43D72C-14C1-9AEC-B219-AB57DC12C2C1}"/>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Regional context for discussion only; this is not an ML overlay</a:t>
            </a:r>
          </a:p>
        </p:txBody>
      </p:sp>
      <p:cxnSp>
        <p:nvCxnSpPr>
          <p:cNvPr id="5" name="Straight Arrow Connector 4">
            <a:extLst>
              <a:ext uri="{FF2B5EF4-FFF2-40B4-BE49-F238E27FC236}">
                <a16:creationId xmlns:a16="http://schemas.microsoft.com/office/drawing/2014/main" id="{5B60ECA8-CE53-9940-E9F2-CB90EFB7F6FC}"/>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60D357E1-BD5A-1F84-C7D3-437D3619C96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312863"/>
            <a:ext cx="8382000" cy="4714875"/>
          </a:xfrm>
          <a:prstGeom prst="rect">
            <a:avLst/>
          </a:prstGeom>
        </p:spPr>
      </p:pic>
      <p:sp>
        <p:nvSpPr>
          <p:cNvPr id="8" name="Rectangle: Rounded Corners 7">
            <a:extLst>
              <a:ext uri="{FF2B5EF4-FFF2-40B4-BE49-F238E27FC236}">
                <a16:creationId xmlns:a16="http://schemas.microsoft.com/office/drawing/2014/main" id="{FA6E4623-6B14-AC66-383E-71745C2FFAD9}"/>
              </a:ext>
            </a:extLst>
          </p:cNvPr>
          <p:cNvSpPr/>
          <p:nvPr/>
        </p:nvSpPr>
        <p:spPr>
          <a:xfrm>
            <a:off x="9194800" y="1460500"/>
            <a:ext cx="2260600" cy="9525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100">
                <a:solidFill>
                  <a:srgbClr val="0F172A"/>
                </a:solidFill>
                <a:latin typeface="Aptos" panose="020B0004020202020204" pitchFamily="34" charset="0"/>
              </a:rPr>
              <a:t>What it combines
public wells, USGS hydrate AUs, GGD223 controls, DNR units, roads, TAPS, field labels</a:t>
            </a:r>
          </a:p>
        </p:txBody>
      </p:sp>
      <p:sp>
        <p:nvSpPr>
          <p:cNvPr id="9" name="Rectangle: Rounded Corners 8">
            <a:extLst>
              <a:ext uri="{FF2B5EF4-FFF2-40B4-BE49-F238E27FC236}">
                <a16:creationId xmlns:a16="http://schemas.microsoft.com/office/drawing/2014/main" id="{F43B457D-B48C-EC24-A7C1-39078209B224}"/>
              </a:ext>
            </a:extLst>
          </p:cNvPr>
          <p:cNvSpPr/>
          <p:nvPr/>
        </p:nvSpPr>
        <p:spPr>
          <a:xfrm>
            <a:off x="9194800" y="2667000"/>
            <a:ext cx="2260600" cy="9525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100" b="1">
                <a:solidFill>
                  <a:srgbClr val="0F766E"/>
                </a:solidFill>
                <a:latin typeface="Aptos" panose="020B0004020202020204" pitchFamily="34" charset="0"/>
              </a:rPr>
              <a:t>What colors mean
stability-screen status categories, not hydrate occurrence classes</a:t>
            </a:r>
          </a:p>
        </p:txBody>
      </p:sp>
      <p:sp>
        <p:nvSpPr>
          <p:cNvPr id="10" name="Rectangle: Rounded Corners 9">
            <a:extLst>
              <a:ext uri="{FF2B5EF4-FFF2-40B4-BE49-F238E27FC236}">
                <a16:creationId xmlns:a16="http://schemas.microsoft.com/office/drawing/2014/main" id="{6CDD8559-F722-F052-28E0-CC45D6BE774A}"/>
              </a:ext>
            </a:extLst>
          </p:cNvPr>
          <p:cNvSpPr/>
          <p:nvPr/>
        </p:nvSpPr>
        <p:spPr>
          <a:xfrm>
            <a:off x="9194800" y="3873500"/>
            <a:ext cx="2260600" cy="952500"/>
          </a:xfrm>
          <a:prstGeom prst="roundRect">
            <a:avLst/>
          </a:prstGeom>
          <a:solidFill>
            <a:srgbClr val="FEF2F2"/>
          </a:solidFill>
          <a:ln w="17780">
            <a:solidFill>
              <a:srgbClr val="B91C1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100" b="1">
                <a:solidFill>
                  <a:srgbClr val="B91C1C"/>
                </a:solidFill>
                <a:latin typeface="Aptos" panose="020B0004020202020204" pitchFamily="34" charset="0"/>
              </a:rPr>
              <a:t>What it cannot claim
no saturation, no producibility, no sweet-spot ranking, no trained-model evidence</a:t>
            </a:r>
          </a:p>
        </p:txBody>
      </p:sp>
      <p:sp>
        <p:nvSpPr>
          <p:cNvPr id="11" name="Rectangle: Rounded Corners 10">
            <a:extLst>
              <a:ext uri="{FF2B5EF4-FFF2-40B4-BE49-F238E27FC236}">
                <a16:creationId xmlns:a16="http://schemas.microsoft.com/office/drawing/2014/main" id="{0A44E44D-0A91-C41C-7240-90704461E3BE}"/>
              </a:ext>
            </a:extLst>
          </p:cNvPr>
          <p:cNvSpPr/>
          <p:nvPr/>
        </p:nvSpPr>
        <p:spPr>
          <a:xfrm>
            <a:off x="9194800" y="5080000"/>
            <a:ext cx="2260600" cy="596900"/>
          </a:xfrm>
          <a:prstGeom prst="roundRect">
            <a:avLst/>
          </a:prstGeom>
          <a:solidFill>
            <a:srgbClr val="FFFBEB"/>
          </a:solidFill>
          <a:ln w="1778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000">
                <a:solidFill>
                  <a:srgbClr val="B45309"/>
                </a:solidFill>
                <a:latin typeface="Aptos" panose="020B0004020202020204" pitchFamily="34" charset="0"/>
              </a:rPr>
              <a:t>Use as Slide 7 context and as a discussion anchor for source gaps.</a:t>
            </a:r>
          </a:p>
        </p:txBody>
      </p:sp>
      <p:sp>
        <p:nvSpPr>
          <p:cNvPr id="12" name="TextBox 11">
            <a:extLst>
              <a:ext uri="{FF2B5EF4-FFF2-40B4-BE49-F238E27FC236}">
                <a16:creationId xmlns:a16="http://schemas.microsoft.com/office/drawing/2014/main" id="{D99A6154-EB5C-C808-715A-185192D03D17}"/>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Context/orientation only. Stability-screen status does not prove hydrate occurrence, saturation, or trained-model evidence.</a:t>
            </a:r>
          </a:p>
        </p:txBody>
      </p:sp>
    </p:spTree>
    <p:extLst>
      <p:ext uri="{BB962C8B-B14F-4D97-AF65-F5344CB8AC3E}">
        <p14:creationId xmlns:p14="http://schemas.microsoft.com/office/powerpoint/2010/main" val="2274337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870EE5-3DA5-0E7E-913B-1249F998ABE4}"/>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C21483F-F23D-4AA9-EB45-9EDD9E052BA5}"/>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Planned Four-Well Results Review Logic</a:t>
            </a:r>
          </a:p>
        </p:txBody>
      </p:sp>
      <p:sp>
        <p:nvSpPr>
          <p:cNvPr id="4" name="TextBox 3">
            <a:extLst>
              <a:ext uri="{FF2B5EF4-FFF2-40B4-BE49-F238E27FC236}">
                <a16:creationId xmlns:a16="http://schemas.microsoft.com/office/drawing/2014/main" id="{60C834FA-5256-8012-7A30-52D2EFEB8686}"/>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Editable placeholders for DOE exports; no fake results</a:t>
            </a:r>
          </a:p>
        </p:txBody>
      </p:sp>
      <p:cxnSp>
        <p:nvCxnSpPr>
          <p:cNvPr id="5" name="Straight Arrow Connector 4">
            <a:extLst>
              <a:ext uri="{FF2B5EF4-FFF2-40B4-BE49-F238E27FC236}">
                <a16:creationId xmlns:a16="http://schemas.microsoft.com/office/drawing/2014/main" id="{EB9D63BF-B302-B25B-7C7B-BDD9C1895B37}"/>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21190E04-EAD0-6B33-2EE2-82080E73BE37}"/>
              </a:ext>
            </a:extLst>
          </p:cNvPr>
          <p:cNvSpPr/>
          <p:nvPr/>
        </p:nvSpPr>
        <p:spPr>
          <a:xfrm>
            <a:off x="711200" y="1422400"/>
            <a:ext cx="2260600" cy="7366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MTE / Mount Elbert
header verified</a:t>
            </a:r>
          </a:p>
        </p:txBody>
      </p:sp>
      <p:sp>
        <p:nvSpPr>
          <p:cNvPr id="7" name="Rectangle: Rounded Corners 6">
            <a:extLst>
              <a:ext uri="{FF2B5EF4-FFF2-40B4-BE49-F238E27FC236}">
                <a16:creationId xmlns:a16="http://schemas.microsoft.com/office/drawing/2014/main" id="{97368C01-2867-8E0A-E504-62522375BD33}"/>
              </a:ext>
            </a:extLst>
          </p:cNvPr>
          <p:cNvSpPr/>
          <p:nvPr/>
        </p:nvSpPr>
        <p:spPr>
          <a:xfrm>
            <a:off x="3530600" y="1422400"/>
            <a:ext cx="2260600" cy="7366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IGS / Ignik Sikumi
header verified</a:t>
            </a:r>
          </a:p>
        </p:txBody>
      </p:sp>
      <p:sp>
        <p:nvSpPr>
          <p:cNvPr id="8" name="Rectangle: Rounded Corners 7">
            <a:extLst>
              <a:ext uri="{FF2B5EF4-FFF2-40B4-BE49-F238E27FC236}">
                <a16:creationId xmlns:a16="http://schemas.microsoft.com/office/drawing/2014/main" id="{DFF0DE07-EC95-AB8D-EA70-CA3DDC199D0C}"/>
              </a:ext>
            </a:extLst>
          </p:cNvPr>
          <p:cNvSpPr/>
          <p:nvPr/>
        </p:nvSpPr>
        <p:spPr>
          <a:xfrm>
            <a:off x="6350000" y="1422400"/>
            <a:ext cx="2260600" cy="7366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Hydrate-01
source-case anchor</a:t>
            </a:r>
          </a:p>
        </p:txBody>
      </p:sp>
      <p:sp>
        <p:nvSpPr>
          <p:cNvPr id="9" name="Rectangle: Rounded Corners 8">
            <a:extLst>
              <a:ext uri="{FF2B5EF4-FFF2-40B4-BE49-F238E27FC236}">
                <a16:creationId xmlns:a16="http://schemas.microsoft.com/office/drawing/2014/main" id="{54265AD7-E86C-8EB0-BD81-80C722CEB9F8}"/>
              </a:ext>
            </a:extLst>
          </p:cNvPr>
          <p:cNvSpPr/>
          <p:nvPr/>
        </p:nvSpPr>
        <p:spPr>
          <a:xfrm>
            <a:off x="9169400" y="1422400"/>
            <a:ext cx="2260600" cy="736600"/>
          </a:xfrm>
          <a:prstGeom prst="roundRect">
            <a:avLst/>
          </a:prstGeom>
          <a:solidFill>
            <a:srgbClr val="FFFFFF"/>
          </a:solidFill>
          <a:ln w="1778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HYDRATE 02
source-case anchor</a:t>
            </a:r>
          </a:p>
        </p:txBody>
      </p:sp>
      <p:sp>
        <p:nvSpPr>
          <p:cNvPr id="10" name="Rectangle: Rounded Corners 9">
            <a:extLst>
              <a:ext uri="{FF2B5EF4-FFF2-40B4-BE49-F238E27FC236}">
                <a16:creationId xmlns:a16="http://schemas.microsoft.com/office/drawing/2014/main" id="{E51209E8-0BDB-9112-05E8-868EACA7FE64}"/>
              </a:ext>
            </a:extLst>
          </p:cNvPr>
          <p:cNvSpPr/>
          <p:nvPr/>
        </p:nvSpPr>
        <p:spPr>
          <a:xfrm>
            <a:off x="889000" y="3022600"/>
            <a:ext cx="2032000" cy="1270000"/>
          </a:xfrm>
          <a:prstGeom prst="roundRect">
            <a:avLst/>
          </a:prstGeom>
          <a:solidFill>
            <a:srgbClr val="EFF6FF"/>
          </a:solidFill>
          <a:ln w="17780">
            <a:solidFill>
              <a:srgbClr val="1D4ED8"/>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DOE runtime export
row-free review figures after approved execution</a:t>
            </a:r>
          </a:p>
        </p:txBody>
      </p:sp>
      <p:sp>
        <p:nvSpPr>
          <p:cNvPr id="11" name="Rectangle: Rounded Corners 10">
            <a:extLst>
              <a:ext uri="{FF2B5EF4-FFF2-40B4-BE49-F238E27FC236}">
                <a16:creationId xmlns:a16="http://schemas.microsoft.com/office/drawing/2014/main" id="{E7247373-14A4-6FF8-FD66-B6B9F57172BF}"/>
              </a:ext>
            </a:extLst>
          </p:cNvPr>
          <p:cNvSpPr/>
          <p:nvPr/>
        </p:nvSpPr>
        <p:spPr>
          <a:xfrm>
            <a:off x="3276600" y="3022600"/>
            <a:ext cx="2032000" cy="1270000"/>
          </a:xfrm>
          <a:prstGeom prst="roundRect">
            <a:avLst/>
          </a:prstGeom>
          <a:solidFill>
            <a:srgbClr val="ECFDF5"/>
          </a:solidFill>
          <a:ln w="1778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Lithology/core calibration
clean sand vs shale/mixed facies</a:t>
            </a:r>
          </a:p>
        </p:txBody>
      </p:sp>
      <p:sp>
        <p:nvSpPr>
          <p:cNvPr id="12" name="Rectangle: Rounded Corners 11">
            <a:extLst>
              <a:ext uri="{FF2B5EF4-FFF2-40B4-BE49-F238E27FC236}">
                <a16:creationId xmlns:a16="http://schemas.microsoft.com/office/drawing/2014/main" id="{36C9D96C-4266-B67B-BC3A-E32A77B19EBB}"/>
              </a:ext>
            </a:extLst>
          </p:cNvPr>
          <p:cNvSpPr/>
          <p:nvPr/>
        </p:nvSpPr>
        <p:spPr>
          <a:xfrm>
            <a:off x="5664200" y="3022600"/>
            <a:ext cx="2032000" cy="1270000"/>
          </a:xfrm>
          <a:prstGeom prst="roundRect">
            <a:avLst/>
          </a:prstGeom>
          <a:solidFill>
            <a:srgbClr val="FFFBEB"/>
          </a:solidFill>
          <a:ln w="1778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False-positive review
resistivity, gas, salinity, washout, tight rock</a:t>
            </a:r>
          </a:p>
        </p:txBody>
      </p:sp>
      <p:sp>
        <p:nvSpPr>
          <p:cNvPr id="13" name="Rectangle: Rounded Corners 12">
            <a:extLst>
              <a:ext uri="{FF2B5EF4-FFF2-40B4-BE49-F238E27FC236}">
                <a16:creationId xmlns:a16="http://schemas.microsoft.com/office/drawing/2014/main" id="{88DCA654-6602-6B0B-8CE1-6794B583E98B}"/>
              </a:ext>
            </a:extLst>
          </p:cNvPr>
          <p:cNvSpPr/>
          <p:nvPr/>
        </p:nvSpPr>
        <p:spPr>
          <a:xfrm>
            <a:off x="8051800" y="3022600"/>
            <a:ext cx="2032000" cy="1270000"/>
          </a:xfrm>
          <a:prstGeom prst="roundRect">
            <a:avLst/>
          </a:prstGeom>
          <a:solidFill>
            <a:srgbClr val="F5F3FF"/>
          </a:solidFill>
          <a:ln w="17780">
            <a:solidFill>
              <a:srgbClr val="6D28D9"/>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0F172A"/>
                </a:solidFill>
                <a:latin typeface="Aptos" panose="020B0004020202020204" pitchFamily="34" charset="0"/>
              </a:rPr>
              <a:t>Separate outputs
occurrence review and saturation review are not merged</a:t>
            </a:r>
          </a:p>
        </p:txBody>
      </p:sp>
      <p:cxnSp>
        <p:nvCxnSpPr>
          <p:cNvPr id="14" name="Straight Arrow Connector 13">
            <a:extLst>
              <a:ext uri="{FF2B5EF4-FFF2-40B4-BE49-F238E27FC236}">
                <a16:creationId xmlns:a16="http://schemas.microsoft.com/office/drawing/2014/main" id="{D3955BF1-84DA-C9D4-7811-D30AB3F5A039}"/>
              </a:ext>
            </a:extLst>
          </p:cNvPr>
          <p:cNvCxnSpPr/>
          <p:nvPr/>
        </p:nvCxnSpPr>
        <p:spPr>
          <a:xfrm>
            <a:off x="2946400" y="3657600"/>
            <a:ext cx="2794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3615126D-8A01-0DC0-9053-383B2E88F8E3}"/>
              </a:ext>
            </a:extLst>
          </p:cNvPr>
          <p:cNvCxnSpPr/>
          <p:nvPr/>
        </p:nvCxnSpPr>
        <p:spPr>
          <a:xfrm>
            <a:off x="5334000" y="3657600"/>
            <a:ext cx="2794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774CB23-11D9-D014-1710-659DBD735D57}"/>
              </a:ext>
            </a:extLst>
          </p:cNvPr>
          <p:cNvCxnSpPr/>
          <p:nvPr/>
        </p:nvCxnSpPr>
        <p:spPr>
          <a:xfrm>
            <a:off x="7721600" y="3657600"/>
            <a:ext cx="279400" cy="0"/>
          </a:xfrm>
          <a:prstGeom prst="straightConnector1">
            <a:avLst/>
          </a:prstGeom>
          <a:ln w="25400">
            <a:solidFill>
              <a:srgbClr val="475569"/>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AD1FDC1B-9758-1E59-0DED-A64E7A1B2FFD}"/>
              </a:ext>
            </a:extLst>
          </p:cNvPr>
          <p:cNvSpPr/>
          <p:nvPr/>
        </p:nvSpPr>
        <p:spPr>
          <a:xfrm>
            <a:off x="2108200" y="4902200"/>
            <a:ext cx="7874000" cy="609600"/>
          </a:xfrm>
          <a:prstGeom prst="roundRect">
            <a:avLst/>
          </a:prstGeom>
          <a:solidFill>
            <a:srgbClr val="FEF2F2"/>
          </a:solidFill>
          <a:ln w="17780">
            <a:solidFill>
              <a:srgbClr val="B91C1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200" b="1">
                <a:solidFill>
                  <a:srgbClr val="B91C1C"/>
                </a:solidFill>
                <a:latin typeface="Aptos" panose="020B0004020202020204" pitchFamily="34" charset="0"/>
              </a:rPr>
              <a:t>Future slots: per-well log panels, calibration table, uncertainty flags, and reviewed map/table exports. Leave blank until DOE/Yubi access and mentor target authority are available.</a:t>
            </a:r>
          </a:p>
        </p:txBody>
      </p:sp>
      <p:sp>
        <p:nvSpPr>
          <p:cNvPr id="18" name="TextBox 17">
            <a:extLst>
              <a:ext uri="{FF2B5EF4-FFF2-40B4-BE49-F238E27FC236}">
                <a16:creationId xmlns:a16="http://schemas.microsoft.com/office/drawing/2014/main" id="{FFFD237A-A3F0-1C3D-4BAD-70FAEC5C27CC}"/>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No trained metrics, occurrence probabilities, saturation predictions, or rankings are shown.</a:t>
            </a:r>
          </a:p>
        </p:txBody>
      </p:sp>
    </p:spTree>
    <p:extLst>
      <p:ext uri="{BB962C8B-B14F-4D97-AF65-F5344CB8AC3E}">
        <p14:creationId xmlns:p14="http://schemas.microsoft.com/office/powerpoint/2010/main" val="2246857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D11D17-5911-FFB3-3782-69FEA541C589}"/>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0EBC898-5F41-2582-CB1D-75615A7D6DDD}"/>
              </a:ext>
            </a:extLst>
          </p:cNvPr>
          <p:cNvSpPr txBox="1"/>
          <p:nvPr/>
        </p:nvSpPr>
        <p:spPr>
          <a:xfrm>
            <a:off x="533400" y="279400"/>
            <a:ext cx="9652000" cy="502702"/>
          </a:xfrm>
          <a:prstGeom prst="rect">
            <a:avLst/>
          </a:prstGeom>
          <a:noFill/>
        </p:spPr>
        <p:txBody>
          <a:bodyPr vert="horz" wrap="square" lIns="76200" tIns="50800" rIns="76200" bIns="50800" rtlCol="0">
            <a:spAutoFit/>
          </a:bodyPr>
          <a:lstStyle/>
          <a:p>
            <a:r>
              <a:rPr lang="en-US" sz="2600" b="1">
                <a:solidFill>
                  <a:srgbClr val="0F172A"/>
                </a:solidFill>
                <a:latin typeface="Aptos" panose="020B0004020202020204" pitchFamily="34" charset="0"/>
              </a:rPr>
              <a:t>Built, Not Claimed, And Next Actions</a:t>
            </a:r>
          </a:p>
        </p:txBody>
      </p:sp>
      <p:sp>
        <p:nvSpPr>
          <p:cNvPr id="4" name="TextBox 3">
            <a:extLst>
              <a:ext uri="{FF2B5EF4-FFF2-40B4-BE49-F238E27FC236}">
                <a16:creationId xmlns:a16="http://schemas.microsoft.com/office/drawing/2014/main" id="{A35405D9-9ADF-51B8-7557-9833B3F4E932}"/>
              </a:ext>
            </a:extLst>
          </p:cNvPr>
          <p:cNvSpPr txBox="1"/>
          <p:nvPr/>
        </p:nvSpPr>
        <p:spPr>
          <a:xfrm>
            <a:off x="558800" y="774700"/>
            <a:ext cx="9652000" cy="287258"/>
          </a:xfrm>
          <a:prstGeom prst="rect">
            <a:avLst/>
          </a:prstGeom>
          <a:noFill/>
        </p:spPr>
        <p:txBody>
          <a:bodyPr vert="horz" wrap="square" lIns="76200" tIns="50800" rIns="76200" bIns="50800" rtlCol="0">
            <a:spAutoFit/>
          </a:bodyPr>
          <a:lstStyle/>
          <a:p>
            <a:r>
              <a:rPr lang="en-US" sz="1200">
                <a:solidFill>
                  <a:srgbClr val="64748B"/>
                </a:solidFill>
                <a:latin typeface="Aptos" panose="020B0004020202020204" pitchFamily="34" charset="0"/>
              </a:rPr>
              <a:t>Close with a defensible status instead of unsupported results</a:t>
            </a:r>
          </a:p>
        </p:txBody>
      </p:sp>
      <p:cxnSp>
        <p:nvCxnSpPr>
          <p:cNvPr id="5" name="Straight Arrow Connector 4">
            <a:extLst>
              <a:ext uri="{FF2B5EF4-FFF2-40B4-BE49-F238E27FC236}">
                <a16:creationId xmlns:a16="http://schemas.microsoft.com/office/drawing/2014/main" id="{8D60BFD4-CAFE-89DE-A41C-78E7D20D6E9D}"/>
              </a:ext>
            </a:extLst>
          </p:cNvPr>
          <p:cNvCxnSpPr/>
          <p:nvPr/>
        </p:nvCxnSpPr>
        <p:spPr>
          <a:xfrm>
            <a:off x="533400" y="1117600"/>
            <a:ext cx="11125200" cy="0"/>
          </a:xfrm>
          <a:prstGeom prst="straightConnector1">
            <a:avLst/>
          </a:prstGeom>
          <a:ln w="15240">
            <a:solidFill>
              <a:srgbClr val="CBD5E1"/>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9360C2D2-558D-939A-8BDA-3E79D6C956B6}"/>
              </a:ext>
            </a:extLst>
          </p:cNvPr>
          <p:cNvSpPr/>
          <p:nvPr/>
        </p:nvSpPr>
        <p:spPr>
          <a:xfrm>
            <a:off x="787400" y="1549400"/>
            <a:ext cx="3175000" cy="3759200"/>
          </a:xfrm>
          <a:prstGeom prst="roundRect">
            <a:avLst/>
          </a:prstGeom>
          <a:solidFill>
            <a:srgbClr val="F0FDF4"/>
          </a:solidFill>
          <a:ln w="1778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166534"/>
                </a:solidFill>
                <a:latin typeface="Aptos" panose="020B0004020202020204" pitchFamily="34" charset="0"/>
              </a:rPr>
              <a:t>Built now
- Public GIS/stability scaffold
- Unified map and source inventory
- Header-only workbook mapping
- Public well/API anchors
- Equation and feature-role logic
- DOE runtime skeleton and tracker</a:t>
            </a:r>
          </a:p>
        </p:txBody>
      </p:sp>
      <p:sp>
        <p:nvSpPr>
          <p:cNvPr id="7" name="Rectangle: Rounded Corners 6">
            <a:extLst>
              <a:ext uri="{FF2B5EF4-FFF2-40B4-BE49-F238E27FC236}">
                <a16:creationId xmlns:a16="http://schemas.microsoft.com/office/drawing/2014/main" id="{0BD66488-A45A-CAFE-E144-900BF8548BC8}"/>
              </a:ext>
            </a:extLst>
          </p:cNvPr>
          <p:cNvSpPr/>
          <p:nvPr/>
        </p:nvSpPr>
        <p:spPr>
          <a:xfrm>
            <a:off x="4508500" y="1549400"/>
            <a:ext cx="3175000" cy="3759200"/>
          </a:xfrm>
          <a:prstGeom prst="roundRect">
            <a:avLst/>
          </a:prstGeom>
          <a:solidFill>
            <a:srgbClr val="FEF2F2"/>
          </a:solidFill>
          <a:ln w="17780">
            <a:solidFill>
              <a:srgbClr val="B91C1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B91C1C"/>
                </a:solidFill>
                <a:latin typeface="Aptos" panose="020B0004020202020204" pitchFamily="34" charset="0"/>
              </a:rPr>
              <a:t>Not claimed yet
- Hydrate proof
- Final stability intervals
- Occurrence prediction
- Saturation prediction
- Trained metrics
- Sweet-spot ranking
- Final target-label authority</a:t>
            </a:r>
          </a:p>
        </p:txBody>
      </p:sp>
      <p:sp>
        <p:nvSpPr>
          <p:cNvPr id="8" name="Rectangle: Rounded Corners 7">
            <a:extLst>
              <a:ext uri="{FF2B5EF4-FFF2-40B4-BE49-F238E27FC236}">
                <a16:creationId xmlns:a16="http://schemas.microsoft.com/office/drawing/2014/main" id="{8E49E90E-568F-A2F7-EF1E-3541CC221859}"/>
              </a:ext>
            </a:extLst>
          </p:cNvPr>
          <p:cNvSpPr/>
          <p:nvPr/>
        </p:nvSpPr>
        <p:spPr>
          <a:xfrm>
            <a:off x="8229600" y="1549400"/>
            <a:ext cx="3175000" cy="3759200"/>
          </a:xfrm>
          <a:prstGeom prst="roundRect">
            <a:avLst/>
          </a:prstGeom>
          <a:solidFill>
            <a:srgbClr val="EFF6FF"/>
          </a:solidFill>
          <a:ln w="17780">
            <a:solidFill>
              <a:srgbClr val="1D4ED8"/>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1D4ED8"/>
                </a:solidFill>
                <a:latin typeface="Aptos" panose="020B0004020202020204" pitchFamily="34" charset="0"/>
              </a:rPr>
              <a:t>Next actions
- Regain DOE/Yubi access
- Download public papers/supplements to Drive/OSL
- Run header/runtime audit
- Export row-free figures
- Review target authority with mentor
- Update Word companion</a:t>
            </a:r>
          </a:p>
        </p:txBody>
      </p:sp>
      <p:sp>
        <p:nvSpPr>
          <p:cNvPr id="9" name="Rectangle: Rounded Corners 8">
            <a:extLst>
              <a:ext uri="{FF2B5EF4-FFF2-40B4-BE49-F238E27FC236}">
                <a16:creationId xmlns:a16="http://schemas.microsoft.com/office/drawing/2014/main" id="{61E1D813-A6FA-438C-003E-ECFC92399A95}"/>
              </a:ext>
            </a:extLst>
          </p:cNvPr>
          <p:cNvSpPr/>
          <p:nvPr/>
        </p:nvSpPr>
        <p:spPr>
          <a:xfrm>
            <a:off x="2120900" y="5715000"/>
            <a:ext cx="7950200" cy="419100"/>
          </a:xfrm>
          <a:prstGeom prst="roundRect">
            <a:avLst/>
          </a:prstGeom>
          <a:solidFill>
            <a:srgbClr val="FFFBEB"/>
          </a:solidFill>
          <a:ln w="1778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50800" rIns="76200" bIns="50800" rtlCol="0" anchor="ctr"/>
          <a:lstStyle/>
          <a:p>
            <a:r>
              <a:rPr lang="en-US" sz="1300" b="1">
                <a:solidFill>
                  <a:srgbClr val="B45309"/>
                </a:solidFill>
                <a:latin typeface="Aptos" panose="020B0004020202020204" pitchFamily="34" charset="0"/>
              </a:rPr>
              <a:t>Final message: the project is ready for approved-runtime execution and mentor review, not final hydrate claims.</a:t>
            </a:r>
          </a:p>
        </p:txBody>
      </p:sp>
      <p:sp>
        <p:nvSpPr>
          <p:cNvPr id="10" name="TextBox 9">
            <a:extLst>
              <a:ext uri="{FF2B5EF4-FFF2-40B4-BE49-F238E27FC236}">
                <a16:creationId xmlns:a16="http://schemas.microsoft.com/office/drawing/2014/main" id="{CCBC506B-0934-29DE-3051-0F8A34D03376}"/>
              </a:ext>
            </a:extLst>
          </p:cNvPr>
          <p:cNvSpPr txBox="1"/>
          <p:nvPr/>
        </p:nvSpPr>
        <p:spPr>
          <a:xfrm>
            <a:off x="533400" y="6426200"/>
            <a:ext cx="11125200" cy="225703"/>
          </a:xfrm>
          <a:prstGeom prst="rect">
            <a:avLst/>
          </a:prstGeom>
          <a:noFill/>
        </p:spPr>
        <p:txBody>
          <a:bodyPr vert="horz" wrap="square" lIns="76200" tIns="50800" rIns="76200" bIns="50800" rtlCol="0">
            <a:spAutoFit/>
          </a:bodyPr>
          <a:lstStyle/>
          <a:p>
            <a:pPr algn="ctr"/>
            <a:r>
              <a:rPr lang="en-US" sz="800">
                <a:solidFill>
                  <a:srgbClr val="64748B"/>
                </a:solidFill>
                <a:latin typeface="Aptos" panose="020B0004020202020204" pitchFamily="34" charset="0"/>
              </a:rPr>
              <a:t>All slide text, boxes, dividers, and status cards are editable.</a:t>
            </a:r>
          </a:p>
        </p:txBody>
      </p:sp>
    </p:spTree>
    <p:extLst>
      <p:ext uri="{BB962C8B-B14F-4D97-AF65-F5344CB8AC3E}">
        <p14:creationId xmlns:p14="http://schemas.microsoft.com/office/powerpoint/2010/main" val="4240376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1682</Words>
  <Application>Microsoft Office PowerPoint</Application>
  <PresentationFormat>Custom</PresentationFormat>
  <Paragraphs>134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Writam</dc:creator>
  <cp:lastModifiedBy>Writam</cp:lastModifiedBy>
  <cp:revision>1</cp:revision>
  <dcterms:created xsi:type="dcterms:W3CDTF">2026-06-19T22:10:38Z</dcterms:created>
  <dcterms:modified xsi:type="dcterms:W3CDTF">2026-06-19T22:10:38Z</dcterms:modified>
</cp:coreProperties>
</file>