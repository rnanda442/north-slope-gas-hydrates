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Gas Hydrate Occurrence and Saturation Prediction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Permafrost sediments on the Alaska North Slope using AI/ML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822960" y="1417320"/>
            <a:ext cx="1828800" cy="1828800"/>
          </a:xfrm>
          <a:prstGeom prst="ellipse">
            <a:avLst/>
          </a:prstGeom>
          <a:solidFill>
            <a:srgbClr val="EEF2F4"/>
          </a:solidFill>
          <a:ln cap="flat" cmpd="sng" w="9525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78992" y="2084831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photo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3017520" y="1325880"/>
            <a:ext cx="3657600" cy="114300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27248" y="1417320"/>
            <a:ext cx="34381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Rohan Nanda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27248" y="1709928"/>
            <a:ext cx="343814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Lead Geologist</a:t>
            </a:r>
            <a:b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M.S. Geosciences, University of Texas at Dallas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995160" y="1325880"/>
            <a:ext cx="3840480" cy="114300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104888" y="1417320"/>
            <a:ext cx="3621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04888" y="1709928"/>
            <a:ext cx="3621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0">
                <a:solidFill>
                  <a:srgbClr val="1F2933"/>
                </a:solidFill>
              </a:rPr>
              <a:t>I like drawing, and physical </a:t>
            </a:r>
            <a:r>
              <a:rPr lang="en-US" sz="890">
                <a:solidFill>
                  <a:srgbClr val="1F2933"/>
                </a:solidFill>
              </a:rPr>
              <a:t>activities</a:t>
            </a:r>
            <a:r>
              <a:rPr lang="en-US" sz="890">
                <a:solidFill>
                  <a:srgbClr val="1F2933"/>
                </a:solidFill>
              </a:rPr>
              <a:t> like swimming or running! 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3017520" y="3246120"/>
            <a:ext cx="7818120" cy="114300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127248" y="3337560"/>
            <a:ext cx="75986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127248" y="3630168"/>
            <a:ext cx="759866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approved well-log, NMR, and core-analysis data to predict gas hydrate occurrence and saturation, then communicate results as reservoir-characterization evidence.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Deck structure follows project email instructions received 2026-06-09.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Introduction: What and Why Gas Hydrates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A potential natural-gas resource that requires reservoir-scale characterization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31520" y="1234440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41248" y="1325880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1248" y="1618488"/>
            <a:ext cx="288950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Methane held inside crystalline water cages in sediment pore space.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4160520" y="1234440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270248" y="1325880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Why North Slope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270248" y="1618488"/>
            <a:ext cx="288950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Permafrost stability, documented hydrate-bearing sands, and large assessed resource potential.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589520" y="1234440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699248" y="1325880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Why characterize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699248" y="1618488"/>
            <a:ext cx="288950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Occurrence, saturation, reservoir quality, uncertainty, and producibility are separate questions.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31520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41248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endParaRPr/>
          </a:p>
        </p:txBody>
      </p:sp>
      <p:cxnSp>
        <p:nvCxnSpPr>
          <p:cNvPr id="115" name="Google Shape;115;p14"/>
          <p:cNvCxnSpPr/>
          <p:nvPr/>
        </p:nvCxnSpPr>
        <p:spPr>
          <a:xfrm>
            <a:off x="2075688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6" name="Google Shape;116;p14"/>
          <p:cNvSpPr/>
          <p:nvPr/>
        </p:nvSpPr>
        <p:spPr>
          <a:xfrm>
            <a:off x="2404872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2514600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sand</a:t>
            </a:r>
            <a:endParaRPr/>
          </a:p>
        </p:txBody>
      </p:sp>
      <p:cxnSp>
        <p:nvCxnSpPr>
          <p:cNvPr id="118" name="Google Shape;118;p14"/>
          <p:cNvCxnSpPr/>
          <p:nvPr/>
        </p:nvCxnSpPr>
        <p:spPr>
          <a:xfrm>
            <a:off x="3749039" y="3968496"/>
            <a:ext cx="256033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4"/>
          <p:cNvSpPr/>
          <p:nvPr/>
        </p:nvSpPr>
        <p:spPr>
          <a:xfrm>
            <a:off x="4078224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4187952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gas charge</a:t>
            </a:r>
            <a:endParaRPr/>
          </a:p>
        </p:txBody>
      </p:sp>
      <p:cxnSp>
        <p:nvCxnSpPr>
          <p:cNvPr id="121" name="Google Shape;121;p14"/>
          <p:cNvCxnSpPr/>
          <p:nvPr/>
        </p:nvCxnSpPr>
        <p:spPr>
          <a:xfrm>
            <a:off x="5422392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2" name="Google Shape;122;p14"/>
          <p:cNvSpPr/>
          <p:nvPr/>
        </p:nvSpPr>
        <p:spPr>
          <a:xfrm>
            <a:off x="5751576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5861304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log evidence</a:t>
            </a: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7095744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5" name="Google Shape;125;p14"/>
          <p:cNvSpPr/>
          <p:nvPr/>
        </p:nvSpPr>
        <p:spPr>
          <a:xfrm>
            <a:off x="7424928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534656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saturation</a:t>
            </a:r>
            <a:endParaRPr/>
          </a:p>
        </p:txBody>
      </p:sp>
      <p:cxnSp>
        <p:nvCxnSpPr>
          <p:cNvPr id="127" name="Google Shape;127;p14"/>
          <p:cNvCxnSpPr/>
          <p:nvPr/>
        </p:nvCxnSpPr>
        <p:spPr>
          <a:xfrm>
            <a:off x="8769096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8" name="Google Shape;128;p14"/>
          <p:cNvSpPr/>
          <p:nvPr/>
        </p:nvSpPr>
        <p:spPr>
          <a:xfrm>
            <a:off x="9098280" y="365760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9208008" y="3749039"/>
            <a:ext cx="1106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sweet spot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Sources: USGS 2019; DOE/NETL; Chong et al. 2022; Lee and Collett 2011; Haines et al. 2022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Parameters: Well-Log Scaffold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Measured curves, derived physics, QC fields, and targets stay separated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685800" y="123444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95528" y="132588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Lithology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95528" y="161848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GR, core lithology, clean-sand screening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4389120" y="123444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4498848" y="132588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Porosity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498848" y="161848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Density, neutron, NMR, core porosity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8092440" y="123444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8202167" y="132588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Electrical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202167" y="161848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Deep resistivity and source mnemonics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685800" y="274320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795528" y="283464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Elastic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95528" y="312724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Vp, Vs, Vp/Vs, impedance, moduli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389120" y="274320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498848" y="283464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4498848" y="312724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Sgh, S_h, NMR_SAT, phase classes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8092440" y="2743200"/>
            <a:ext cx="3154680" cy="10515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8202167" y="283464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202167" y="3127248"/>
            <a:ext cx="2935224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Caliper, outliers, depth match, missing curves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97280" y="48006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Leakage rule: target or interpretation columns can calibrate labels, but cannot enter the feature table as predictors.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Sources: recovered header screenshots; project Q&amp;A update; Lee and Collett 2011; Haines et al. 2022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ML Methodology: Architecture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Workflow adapted from gas-hydrate ML literature and approved-data constraints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85800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795528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raw logs</a:t>
            </a:r>
            <a:endParaRPr/>
          </a:p>
        </p:txBody>
      </p:sp>
      <p:cxnSp>
        <p:nvCxnSpPr>
          <p:cNvPr id="165" name="Google Shape;165;p16"/>
          <p:cNvCxnSpPr/>
          <p:nvPr/>
        </p:nvCxnSpPr>
        <p:spPr>
          <a:xfrm>
            <a:off x="2121408" y="1728216"/>
            <a:ext cx="256031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6" name="Google Shape;166;p16"/>
          <p:cNvSpPr/>
          <p:nvPr/>
        </p:nvSpPr>
        <p:spPr>
          <a:xfrm>
            <a:off x="2450592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560320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/>
          </a:p>
        </p:txBody>
      </p:sp>
      <p:cxnSp>
        <p:nvCxnSpPr>
          <p:cNvPr id="168" name="Google Shape;168;p16"/>
          <p:cNvCxnSpPr/>
          <p:nvPr/>
        </p:nvCxnSpPr>
        <p:spPr>
          <a:xfrm>
            <a:off x="3886200" y="172821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9" name="Google Shape;169;p16"/>
          <p:cNvSpPr/>
          <p:nvPr/>
        </p:nvSpPr>
        <p:spPr>
          <a:xfrm>
            <a:off x="4215384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4325112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cxnSp>
        <p:nvCxnSpPr>
          <p:cNvPr id="171" name="Google Shape;171;p16"/>
          <p:cNvCxnSpPr/>
          <p:nvPr/>
        </p:nvCxnSpPr>
        <p:spPr>
          <a:xfrm>
            <a:off x="5650992" y="172821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6"/>
          <p:cNvSpPr/>
          <p:nvPr/>
        </p:nvSpPr>
        <p:spPr>
          <a:xfrm>
            <a:off x="5980176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6089904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7415784" y="172821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5" name="Google Shape;175;p16"/>
          <p:cNvSpPr/>
          <p:nvPr/>
        </p:nvSpPr>
        <p:spPr>
          <a:xfrm>
            <a:off x="7744968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854696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cxnSp>
        <p:nvCxnSpPr>
          <p:cNvPr id="177" name="Google Shape;177;p16"/>
          <p:cNvCxnSpPr/>
          <p:nvPr/>
        </p:nvCxnSpPr>
        <p:spPr>
          <a:xfrm>
            <a:off x="9180576" y="172821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8" name="Google Shape;178;p16"/>
          <p:cNvSpPr/>
          <p:nvPr/>
        </p:nvSpPr>
        <p:spPr>
          <a:xfrm>
            <a:off x="9509760" y="141732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9619488" y="1508760"/>
            <a:ext cx="1197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868680" y="2971800"/>
            <a:ext cx="2834640" cy="123444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978407" y="3063240"/>
            <a:ext cx="26151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Data processing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978407" y="3355848"/>
            <a:ext cx="261518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Remove outliers, select depth intervals, align logs and core, and standardize units.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3977639" y="2971800"/>
            <a:ext cx="2834640" cy="123444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087368" y="3063240"/>
            <a:ext cx="26151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Modeling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087368" y="3355848"/>
            <a:ext cx="261518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Compare baselines, tree models, and Keras/ANN saturation models.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7086600" y="2971800"/>
            <a:ext cx="2834640" cy="123444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7196328" y="3063240"/>
            <a:ext cx="26151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7196328" y="3355848"/>
            <a:ext cx="2615184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complete-well holdouts and compare predictions against core and interpreted measurements.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 anchor: Chong et al. 2022; project runtime requirements map.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ML Methodology: Why These Parameters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Classification and regression need different evidence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731520" y="1188720"/>
            <a:ext cx="2971800" cy="137160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841248" y="128016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41248" y="1572768"/>
            <a:ext cx="2752344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Predict hydrate occurrence or phase class using lithology, resistivity, elastic, NMR, and QC context.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4160520" y="1188720"/>
            <a:ext cx="2971800" cy="137160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4270248" y="128016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4270248" y="1572768"/>
            <a:ext cx="2752344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Predict continuous hydrate saturation from calibrated logs, NMR-derived or core-calibrated targets, and physics features.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7589520" y="1188720"/>
            <a:ext cx="2971800" cy="137160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7699248" y="128016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Linear vs nonlinear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7699248" y="1572768"/>
            <a:ext cx="2752344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Linear baselines show traceable relationships; nonlinear models test interactions among reservoir, electrical, elastic, and NMR evidence.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960120" y="365760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Selected features: density, porosity, gamma ray, resistivity, Vp, Vs, NMR, Vp/Vs, impedance, lambda-rho, mu-rho, brittleness, and QC flags.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Sources: USGS 2019; DOE/NETL; Chong et al. 2022; Lee and Collett 2011; Haines et al. 2022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Geomechanical Feature Sketch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Rock-physics parameters help evaluate hydrate-consistent stiffness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731520" y="11430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841248" y="1234440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41248" y="15270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Density, Vp, Vs, gamma ray, porosity, NMR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3657600" y="1143000"/>
            <a:ext cx="4389120" cy="15087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3767328" y="1234440"/>
            <a:ext cx="4169663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Calculated properties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3767328" y="1527048"/>
            <a:ext cx="4169663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Young's modulus</a:t>
            </a:r>
            <a:b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Poisson's ratio</a:t>
            </a:r>
            <a:b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Brittleness</a:t>
            </a:r>
            <a:b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Mu-rho = (Vs * rho)^2</a:t>
            </a:r>
            <a:b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Lambda-rho = (Vp * rho)^2 - 2(Vs * rho)^2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8321040" y="11430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8430767" y="1234440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430767" y="15270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Compare hydrate, gas, water, shale, ice, and stress effects.</a:t>
            </a:r>
            <a:endParaRPr/>
          </a:p>
        </p:txBody>
      </p:sp>
      <p:cxnSp>
        <p:nvCxnSpPr>
          <p:cNvPr id="222" name="Google Shape;222;p18"/>
          <p:cNvCxnSpPr/>
          <p:nvPr/>
        </p:nvCxnSpPr>
        <p:spPr>
          <a:xfrm>
            <a:off x="3474720" y="1691640"/>
            <a:ext cx="137160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3" name="Google Shape;223;p18"/>
          <p:cNvCxnSpPr/>
          <p:nvPr/>
        </p:nvCxnSpPr>
        <p:spPr>
          <a:xfrm>
            <a:off x="8092440" y="16916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4" name="Google Shape;224;p18"/>
          <p:cNvSpPr txBox="1"/>
          <p:nvPr/>
        </p:nvSpPr>
        <p:spPr>
          <a:xfrm>
            <a:off x="868680" y="406908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Purpose: integrate mechanical behavior with log response so high resistivity or high velocity is not treated as a hydrate label by itself.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 anchor: project geomechanics screenshots and local equation-map documents.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3D Map and Well Context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Regional context constrains interpretation but does not replace log evidence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777240" y="1143000"/>
            <a:ext cx="5486400" cy="4251960"/>
          </a:xfrm>
          <a:prstGeom prst="roundRect">
            <a:avLst>
              <a:gd fmla="val 16667" name="adj"/>
            </a:avLst>
          </a:prstGeom>
          <a:solidFill>
            <a:srgbClr val="EEF2F4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1371600" y="4389120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103120" y="3566160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108960" y="3977639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886200" y="2926080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892040" y="3657600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5394960" y="2560320"/>
            <a:ext cx="109728" cy="109728"/>
          </a:xfrm>
          <a:prstGeom prst="ellipse">
            <a:avLst/>
          </a:prstGeom>
          <a:solidFill>
            <a:srgbClr val="167D8D"/>
          </a:solidFill>
          <a:ln cap="flat" cmpd="sng" w="9525">
            <a:solidFill>
              <a:srgbClr val="1234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1005840" y="1417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placeholder for 3D North Slope map with wells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6629400" y="1234440"/>
            <a:ext cx="4023360" cy="109728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739128" y="1325880"/>
            <a:ext cx="3803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Map use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739128" y="1618488"/>
            <a:ext cx="3803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Show well positions, structural context, data coverage, and candidate intervals.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6629400" y="2788920"/>
            <a:ext cx="4023360" cy="109728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6739128" y="2880360"/>
            <a:ext cx="3803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739128" y="3172968"/>
            <a:ext cx="3803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Public deck can show synthetic/public context; approved well identifiers and results stay in the authorized runtime.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 anchor: project GIS atlas and future approved-runtime outputs.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Results and Discussion Plan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Slides will be populated after approved-data execution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777240" y="1234440"/>
            <a:ext cx="2971800" cy="1280160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886968" y="132588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Expected figures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86968" y="1618488"/>
            <a:ext cx="2752344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Well-log panel, saturation plot, confusion matrix, calibration plot.</a:t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4160520" y="1234440"/>
            <a:ext cx="2971800" cy="12801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270248" y="132588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270248" y="1618488"/>
            <a:ext cx="2752344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Explain model behavior, false positives, uncertain intervals, and geologic controls.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7543800" y="1234440"/>
            <a:ext cx="2971800" cy="128016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7653527" y="1325880"/>
            <a:ext cx="2752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7653527" y="1618488"/>
            <a:ext cx="2752344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Occurrence class, saturation estimate, uncertainty, sweet-spot rank, review flags.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1143000" y="3657600"/>
            <a:ext cx="155448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252728" y="3749039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</p:txBody>
      </p:sp>
      <p:cxnSp>
        <p:nvCxnSpPr>
          <p:cNvPr id="264" name="Google Shape;264;p20"/>
          <p:cNvCxnSpPr/>
          <p:nvPr/>
        </p:nvCxnSpPr>
        <p:spPr>
          <a:xfrm>
            <a:off x="2715768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20"/>
          <p:cNvSpPr/>
          <p:nvPr/>
        </p:nvSpPr>
        <p:spPr>
          <a:xfrm>
            <a:off x="3044952" y="3657600"/>
            <a:ext cx="15544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154680" y="3749039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core check</a:t>
            </a:r>
            <a:endParaRPr/>
          </a:p>
        </p:txBody>
      </p:sp>
      <p:cxnSp>
        <p:nvCxnSpPr>
          <p:cNvPr id="267" name="Google Shape;267;p20"/>
          <p:cNvCxnSpPr/>
          <p:nvPr/>
        </p:nvCxnSpPr>
        <p:spPr>
          <a:xfrm>
            <a:off x="4617720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20"/>
          <p:cNvSpPr/>
          <p:nvPr/>
        </p:nvSpPr>
        <p:spPr>
          <a:xfrm>
            <a:off x="4946904" y="3657600"/>
            <a:ext cx="15544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5056632" y="3749039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cxnSp>
        <p:nvCxnSpPr>
          <p:cNvPr id="270" name="Google Shape;270;p20"/>
          <p:cNvCxnSpPr/>
          <p:nvPr/>
        </p:nvCxnSpPr>
        <p:spPr>
          <a:xfrm>
            <a:off x="6519672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/>
          <p:nvPr/>
        </p:nvSpPr>
        <p:spPr>
          <a:xfrm>
            <a:off x="6848856" y="3657600"/>
            <a:ext cx="1554480" cy="621792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6958584" y="3749039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cxnSp>
        <p:nvCxnSpPr>
          <p:cNvPr id="273" name="Google Shape;273;p20"/>
          <p:cNvCxnSpPr/>
          <p:nvPr/>
        </p:nvCxnSpPr>
        <p:spPr>
          <a:xfrm>
            <a:off x="8421624" y="3968496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4" name="Google Shape;274;p20"/>
          <p:cNvSpPr/>
          <p:nvPr/>
        </p:nvSpPr>
        <p:spPr>
          <a:xfrm>
            <a:off x="8750808" y="3657600"/>
            <a:ext cx="1554480" cy="621792"/>
          </a:xfrm>
          <a:prstGeom prst="roundRect">
            <a:avLst>
              <a:gd fmla="val 16667" name="adj"/>
            </a:avLst>
          </a:prstGeom>
          <a:solidFill>
            <a:srgbClr val="F4EFE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8860536" y="3749039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Sources: USGS 2019; DOE/NETL; Chong et al. 2022; Lee and Collett 2011; Haines et al. 2022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/>
        </p:nvSpPr>
        <p:spPr>
          <a:xfrm>
            <a:off x="502920" y="219456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530352" y="69494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Final project message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868680" y="1234440"/>
            <a:ext cx="2926080" cy="132588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978407" y="1325880"/>
            <a:ext cx="27066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Scientific value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978407" y="1618488"/>
            <a:ext cx="270662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Hydrate occurrence, saturation, reservoir quality, and producibility are separated.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4206240" y="1234440"/>
            <a:ext cx="2926080" cy="132588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315968" y="1325880"/>
            <a:ext cx="27066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ML value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4315968" y="1618488"/>
            <a:ext cx="270662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Models are trained on physics-backed features and tested by complete well.</a:t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7543800" y="1234440"/>
            <a:ext cx="2926080" cy="1325880"/>
          </a:xfrm>
          <a:prstGeom prst="roundRect">
            <a:avLst>
              <a:gd fmla="val 16667" name="adj"/>
            </a:avLst>
          </a:prstGeom>
          <a:solidFill>
            <a:srgbClr val="EAF5F6"/>
          </a:solidFill>
          <a:ln cap="flat" cmpd="sng" w="13950">
            <a:solidFill>
              <a:srgbClr val="167D8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7653527" y="1325880"/>
            <a:ext cx="27066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Energy value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7653527" y="1618488"/>
            <a:ext cx="270662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Characterization supports future natural-gas resource evaluation and energy security.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1097280" y="388620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3447"/>
                </a:solidFill>
                <a:latin typeface="Arial"/>
                <a:ea typeface="Arial"/>
                <a:cs typeface="Arial"/>
                <a:sym typeface="Arial"/>
              </a:rPr>
              <a:t>The goal is a defensible, explainable workflow for predicting gas hydrate occurrence and saturation from approved North Slope well-log and core data.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502920" y="656539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E6A71"/>
                </a:solidFill>
                <a:latin typeface="Arial"/>
                <a:ea typeface="Arial"/>
                <a:cs typeface="Arial"/>
                <a:sym typeface="Arial"/>
              </a:rPr>
              <a:t>Sources: USGS 2019; DOE/NETL; Chong et al. 2022; Lee and Collett 2011; Haines et al. 2022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