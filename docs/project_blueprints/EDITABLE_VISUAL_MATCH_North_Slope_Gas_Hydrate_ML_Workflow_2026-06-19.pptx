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20F2E-68C7-4430-863F-E80A0938A35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6B82C-D860-4688-B4B1-01B725ED9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77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opener as personal context only; no scientific claims are made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47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set context. The hydrate structure image has no drawn circle. The P-T panel is an admissibility diagram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73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directional movement, not final thresholds. Target labels stay out of X_allowed.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37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Two-minute script: first, the workflow begins with approved logs and core/NMR/lithology evidence while public GIS remains context only. Second, every header, unit, and depth axis is preserved so features are traceable. Third, saturation and occurrence labels are locked into the Y-only rail and cannot leak into X_allowed. Fourth, occurrence and saturation can be modeled as linked but separate outputs after validation. Close by saying the current deck explains the review system, not final hydrate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7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as equation checks only. Words under symbols are intentionally large and editable. Do not present equations as hydrate proof or final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97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gate between source variables and model-ready features. Keep targets out of X_allowed.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9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map as context only. Mention public field labels, DNR units, roads, TAPS, USGS hydrate AU outlines, GGD223 controls, and stability-screen status. Do not call it an ML overlay or a hydrate occurrence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50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stability as context/mask/confidence/caveat only, never as occurrence or saturation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22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by emphasizing current build status, not final hydrate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6B82C-D860-4688-B4B1-01B725ED9F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8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3A26-8415-0D86-2A6A-4E24D8F7F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31BB7-F220-07D1-BEB4-D46B1C914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D971C-041A-DB1F-5B16-7DBE6854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4C2FA-CF60-EF54-DEE5-359FD01C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DD38-92FC-4F05-CD4E-82471A9C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DC93-E516-3479-0CC3-7167272D3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208DC-0931-A8FF-9E2F-4B715F5B6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02BBE-F61B-81CE-C4B1-66C08D5E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2A778-69FC-6A44-1EF6-FA814454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A9B24-C1F4-D71D-4E2C-7307C450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C5FB-0BC6-496F-7C8C-011EED90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13B10-C602-4AAA-7912-ABB9BF43A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DDC4A-6BE1-F305-6103-25151667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A97EA-66DC-2901-CA80-96FC2922E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FF7AC-0CE2-6987-DEDA-C24855BA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9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85E4-276C-B861-781D-19281AAB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40F0F-9B68-3DEC-C6AF-5DE64439B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38C9A-A624-D7B7-460B-17763D201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434E4-F82D-8474-F475-AC8F651F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4A99F-CC21-3B2A-0FDB-F5B56D525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5A907-6C5E-090B-B95E-F3D2240C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92ED-AA18-3F6D-12A1-4B937147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7FC2D-47C0-7969-B4B9-DE92764B3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38B1C-51D9-58E3-B284-44CC9520E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4723D-BEEE-144B-7408-870EB346E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8BD3F-10B4-76A8-C804-2C1B15682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8DACA0-F43F-725A-7132-F0659488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F1EB-3D7E-6AF0-24F5-919101C8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A54B0-A47F-940C-5905-CD5A2B27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0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23FF-FDA7-A198-7224-7D1CEBA7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DBA68-BA57-233E-9B5B-BFBAA8F1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3AE71-1FCF-AF00-B7D3-636F8411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6D5AD-D21B-87FC-422F-70F165B1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3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812C2-FCBE-2A48-7EEC-16D3CD69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B70D4-6D1C-6CB3-BE0F-E64C3D6B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3CCD2-889B-945F-FBFD-CDCA357F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8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3231-7E2C-6E4E-96DC-D07A16436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78494-69E1-C8BC-237F-6026B485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16AC1-6E84-2904-F286-7A6C08461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39746-26AE-7BF0-968E-9652727B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F48D7-2B32-F572-F8A8-ABC18A8C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CCC65-7660-6C2C-741A-8D4AE555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52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2DDB-621A-E6E5-24C3-63FA886D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24F6F9-3D7E-2FBC-3F7B-F711BFAFB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668BB-772D-B49D-8A01-0766AA7A1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B7CB1-EEC8-ACBA-DE8D-DFCDDFC7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3EFA5-21DE-ABC8-95F9-4E851439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80210-FD98-0E28-92D7-51AEDDAA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7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3D20-47A5-08F6-A24F-2104A137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DA5BF-F98F-C3D4-4086-0FDF62918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F55F0-2743-86E4-FF83-EA1B688C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C16FC-F456-41F4-32E7-1CED40E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70226-57FF-3B19-D3C0-E62B0F31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3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527A1F-9F1A-CF17-44A9-4E7ACE9A5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CC2D9-2129-15C0-8E93-1E39D0AE1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FFCA1-9D83-3430-74FB-C37B00EC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BED90-F7B0-C979-9143-BFD6CB2C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93D7E-0672-C789-01E2-AEDF812E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9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75799-F7FC-7553-40D1-E0E76879D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6ADF0-0FB0-A37F-3891-1553DAB7E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98A37-CAA4-9964-5792-194D13E89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6CC96-EECC-400D-83F4-CA1E97C6568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A7C7-7530-161E-8FCC-349F94369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D4D26-6F77-DDB5-6BBF-78DAF7BCF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A0582-618C-480F-A0E4-557D36FC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0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C41F7F-DFDA-C3C0-36DF-05084031E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103DB7-CDBA-6C52-3698-57ECEA67ABA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58ACF-CEA9-3E27-71C5-F37012FE85ED}"/>
              </a:ext>
            </a:extLst>
          </p:cNvPr>
          <p:cNvSpPr txBox="1"/>
          <p:nvPr/>
        </p:nvSpPr>
        <p:spPr>
          <a:xfrm>
            <a:off x="457200" y="365760"/>
            <a:ext cx="95250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300" b="1">
                <a:solidFill>
                  <a:srgbClr val="0F2230"/>
                </a:solidFill>
                <a:latin typeface="Arial" panose="020B0604020202020204" pitchFamily="34" charset="0"/>
              </a:rPr>
              <a:t>Gas Hydrate Occurrence and Saturation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CC3EF-1D28-F8B3-8D07-A01AB949554E}"/>
              </a:ext>
            </a:extLst>
          </p:cNvPr>
          <p:cNvSpPr txBox="1"/>
          <p:nvPr/>
        </p:nvSpPr>
        <p:spPr>
          <a:xfrm>
            <a:off x="480060" y="784860"/>
            <a:ext cx="62484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>
                <a:solidFill>
                  <a:srgbClr val="536770"/>
                </a:solidFill>
                <a:latin typeface="Arial" panose="020B0604020202020204" pitchFamily="34" charset="0"/>
              </a:rPr>
              <a:t>Alaska North Slope permafrost reservoirs using physics-constrained AI/ML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81EF6-3FC0-0140-43E6-13CBC8FF0797}"/>
              </a:ext>
            </a:extLst>
          </p:cNvPr>
          <p:cNvSpPr txBox="1"/>
          <p:nvPr/>
        </p:nvSpPr>
        <p:spPr>
          <a:xfrm>
            <a:off x="502920" y="1219200"/>
            <a:ext cx="57912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536770"/>
                </a:solidFill>
                <a:latin typeface="Arial" panose="020B0604020202020204" pitchFamily="34" charset="0"/>
              </a:rPr>
              <a:t>Goal: combine approved well logs, NMR, core context, and public GIS without
exposing runtime-only data.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9317C3-1AE8-7695-B5E9-C96727C293C7}"/>
              </a:ext>
            </a:extLst>
          </p:cNvPr>
          <p:cNvSpPr/>
          <p:nvPr/>
        </p:nvSpPr>
        <p:spPr>
          <a:xfrm>
            <a:off x="495300" y="1752600"/>
            <a:ext cx="1135380" cy="289560"/>
          </a:xfrm>
          <a:prstGeom prst="roundRect">
            <a:avLst/>
          </a:prstGeom>
          <a:solidFill>
            <a:srgbClr val="10818F"/>
          </a:solidFill>
          <a:ln w="1016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source-backed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F5F89F-C82A-0623-8C6B-2F693B25FB6A}"/>
              </a:ext>
            </a:extLst>
          </p:cNvPr>
          <p:cNvSpPr/>
          <p:nvPr/>
        </p:nvSpPr>
        <p:spPr>
          <a:xfrm>
            <a:off x="1828800" y="1752600"/>
            <a:ext cx="1143000" cy="289560"/>
          </a:xfrm>
          <a:prstGeom prst="roundRect">
            <a:avLst/>
          </a:prstGeom>
          <a:solidFill>
            <a:srgbClr val="D6E7EC"/>
          </a:solidFill>
          <a:ln w="10160">
            <a:solidFill>
              <a:srgbClr val="D6E7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9 slides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56E96D-175D-665D-8DC8-BA0893DEF983}"/>
              </a:ext>
            </a:extLst>
          </p:cNvPr>
          <p:cNvSpPr/>
          <p:nvPr/>
        </p:nvSpPr>
        <p:spPr>
          <a:xfrm>
            <a:off x="3162300" y="1752600"/>
            <a:ext cx="1143000" cy="289560"/>
          </a:xfrm>
          <a:prstGeom prst="roundRect">
            <a:avLst/>
          </a:prstGeom>
          <a:solidFill>
            <a:srgbClr val="E9DDB9"/>
          </a:solidFill>
          <a:ln w="10160">
            <a:solidFill>
              <a:srgbClr val="E9DD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runtime-safe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41D1F-62A6-6774-0BD0-7BD4F7F9BF58}"/>
              </a:ext>
            </a:extLst>
          </p:cNvPr>
          <p:cNvSpPr txBox="1"/>
          <p:nvPr/>
        </p:nvSpPr>
        <p:spPr>
          <a:xfrm>
            <a:off x="502920" y="2453640"/>
            <a:ext cx="18288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0F2230"/>
                </a:solidFill>
                <a:latin typeface="Arial" panose="020B0604020202020204" pitchFamily="34" charset="0"/>
              </a:rPr>
              <a:t>About 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B2C004-84FD-B35F-81DE-8C4A486F03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735580"/>
            <a:ext cx="2804160" cy="2804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C300DD-EBF4-1576-E0E4-FA3EACD6E85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060" y="2735580"/>
            <a:ext cx="1684020" cy="1714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B15C33-E837-0ABE-B48C-A0DE3DE789E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060" y="4602480"/>
            <a:ext cx="1684020" cy="9448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AF1CB7-885D-1AD7-E6A4-CF37C78382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0" y="1013460"/>
            <a:ext cx="3688080" cy="47091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559C5C-7051-D229-07E2-A044CD39708F}"/>
              </a:ext>
            </a:extLst>
          </p:cNvPr>
          <p:cNvSpPr txBox="1"/>
          <p:nvPr/>
        </p:nvSpPr>
        <p:spPr>
          <a:xfrm>
            <a:off x="1295400" y="5684520"/>
            <a:ext cx="12954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536770"/>
                </a:solidFill>
                <a:latin typeface="Arial" panose="020B0604020202020204" pitchFamily="34" charset="0"/>
              </a:rPr>
              <a:t>drawing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3F9C1-1340-0172-1623-9F3B8A84AAE0}"/>
              </a:ext>
            </a:extLst>
          </p:cNvPr>
          <p:cNvSpPr txBox="1"/>
          <p:nvPr/>
        </p:nvSpPr>
        <p:spPr>
          <a:xfrm>
            <a:off x="3962400" y="5684520"/>
            <a:ext cx="9144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536770"/>
                </a:solidFill>
                <a:latin typeface="Arial" panose="020B0604020202020204" pitchFamily="34" charset="0"/>
              </a:rPr>
              <a:t>World Cup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72F3E2-55AF-210A-DC7C-6C5B7378555D}"/>
              </a:ext>
            </a:extLst>
          </p:cNvPr>
          <p:cNvSpPr/>
          <p:nvPr/>
        </p:nvSpPr>
        <p:spPr>
          <a:xfrm>
            <a:off x="5524500" y="4853940"/>
            <a:ext cx="838200" cy="342900"/>
          </a:xfrm>
          <a:prstGeom prst="roundRect">
            <a:avLst/>
          </a:prstGeom>
          <a:solidFill>
            <a:srgbClr val="E8F2F5"/>
          </a:solidFill>
          <a:ln w="10160">
            <a:solidFill>
              <a:srgbClr val="E8F2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gym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31A2CC-A4F5-D881-5382-BB143AA1D534}"/>
              </a:ext>
            </a:extLst>
          </p:cNvPr>
          <p:cNvSpPr/>
          <p:nvPr/>
        </p:nvSpPr>
        <p:spPr>
          <a:xfrm>
            <a:off x="6522720" y="4853940"/>
            <a:ext cx="830580" cy="342900"/>
          </a:xfrm>
          <a:prstGeom prst="roundRect">
            <a:avLst/>
          </a:prstGeom>
          <a:solidFill>
            <a:srgbClr val="E8F2F5"/>
          </a:solidFill>
          <a:ln w="10160">
            <a:solidFill>
              <a:srgbClr val="E8F2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running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622568-37DE-28CF-BB8D-E756A3C6144C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CC73CE-90BD-0EEA-427B-DD9063194B83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Personal images from 2026-06-11 Gmail instruction; public deck only.</a:t>
            </a:r>
          </a:p>
        </p:txBody>
      </p:sp>
    </p:spTree>
    <p:extLst>
      <p:ext uri="{BB962C8B-B14F-4D97-AF65-F5344CB8AC3E}">
        <p14:creationId xmlns:p14="http://schemas.microsoft.com/office/powerpoint/2010/main" val="225741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E4ACF4-A0FB-025B-172C-89D7F9BF3C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9CACC3-A0C3-B835-2D9B-1FA9A00E969C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94575-26EF-B7B8-75E4-DA2D80A1DFB5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Gas Hydrates And Why The North Slope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C867A-E405-BC24-535C-F55151C01650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Source-backed context only: hydrate structure, North Slope setting, and the pressure-temperature diagram used before any ML claim.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DD324B-36AA-D8D9-6C1B-DEA2C5192A80}"/>
              </a:ext>
            </a:extLst>
          </p:cNvPr>
          <p:cNvSpPr/>
          <p:nvPr/>
        </p:nvSpPr>
        <p:spPr>
          <a:xfrm>
            <a:off x="457200" y="1051560"/>
            <a:ext cx="4191000" cy="4968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FC5C0-C85F-35F4-4930-87AE0B39AFAE}"/>
              </a:ext>
            </a:extLst>
          </p:cNvPr>
          <p:cNvSpPr/>
          <p:nvPr/>
        </p:nvSpPr>
        <p:spPr>
          <a:xfrm>
            <a:off x="609600" y="1203960"/>
            <a:ext cx="259080" cy="25908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8D5D7-BB06-2BF9-1D5D-8F994AB34AB6}"/>
              </a:ext>
            </a:extLst>
          </p:cNvPr>
          <p:cNvSpPr txBox="1"/>
          <p:nvPr/>
        </p:nvSpPr>
        <p:spPr>
          <a:xfrm>
            <a:off x="960120" y="1234440"/>
            <a:ext cx="3276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0F2230"/>
                </a:solidFill>
                <a:latin typeface="Arial" panose="020B0604020202020204" pitchFamily="34" charset="0"/>
              </a:rPr>
              <a:t>What gas hydrate 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5E3473-E383-789B-4B1F-067103B306C0}"/>
              </a:ext>
            </a:extLst>
          </p:cNvPr>
          <p:cNvSpPr txBox="1"/>
          <p:nvPr/>
        </p:nvSpPr>
        <p:spPr>
          <a:xfrm>
            <a:off x="640080" y="1508760"/>
            <a:ext cx="3657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536770"/>
                </a:solidFill>
                <a:latin typeface="Arial" panose="020B0604020202020204" pitchFamily="34" charset="0"/>
              </a:rPr>
              <a:t>Water cages can trap gas under cold, high-pressure conditions.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911FB7-8EC7-7431-6A66-F041B9035A31}"/>
              </a:ext>
            </a:extLst>
          </p:cNvPr>
          <p:cNvSpPr/>
          <p:nvPr/>
        </p:nvSpPr>
        <p:spPr>
          <a:xfrm>
            <a:off x="640080" y="1737360"/>
            <a:ext cx="2179320" cy="24384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methane Structure I = current baseline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77A318-6B22-C411-AAF8-0A9B6BF48D88}"/>
              </a:ext>
            </a:extLst>
          </p:cNvPr>
          <p:cNvSpPr/>
          <p:nvPr/>
        </p:nvSpPr>
        <p:spPr>
          <a:xfrm>
            <a:off x="640080" y="2087880"/>
            <a:ext cx="38252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42A1D9-714B-6745-4B99-C7FE118D3F2A}"/>
              </a:ext>
            </a:extLst>
          </p:cNvPr>
          <p:cNvSpPr txBox="1"/>
          <p:nvPr/>
        </p:nvSpPr>
        <p:spPr>
          <a:xfrm>
            <a:off x="807720" y="2225040"/>
            <a:ext cx="32766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Editable hydrate structure schematic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1409FB-40F5-912C-C1AA-C491E11B94BF}"/>
              </a:ext>
            </a:extLst>
          </p:cNvPr>
          <p:cNvCxnSpPr/>
          <p:nvPr/>
        </p:nvCxnSpPr>
        <p:spPr>
          <a:xfrm>
            <a:off x="807720" y="2491740"/>
            <a:ext cx="345948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8AD194-BEC6-6174-A5A5-A39ADCC6EF67}"/>
              </a:ext>
            </a:extLst>
          </p:cNvPr>
          <p:cNvCxnSpPr/>
          <p:nvPr/>
        </p:nvCxnSpPr>
        <p:spPr>
          <a:xfrm>
            <a:off x="1005840" y="255270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51ADAD-F383-6AC4-87C9-C10B5485768E}"/>
              </a:ext>
            </a:extLst>
          </p:cNvPr>
          <p:cNvCxnSpPr/>
          <p:nvPr/>
        </p:nvCxnSpPr>
        <p:spPr>
          <a:xfrm>
            <a:off x="1211580" y="2667000"/>
            <a:ext cx="0" cy="2286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DFE3DB-4BC7-F7AF-FE6B-84C3594F5006}"/>
              </a:ext>
            </a:extLst>
          </p:cNvPr>
          <p:cNvCxnSpPr/>
          <p:nvPr/>
        </p:nvCxnSpPr>
        <p:spPr>
          <a:xfrm flipH="1">
            <a:off x="1005840" y="289560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AB1025-C4D6-1FEB-E7C2-C4A4C9A81E57}"/>
              </a:ext>
            </a:extLst>
          </p:cNvPr>
          <p:cNvCxnSpPr/>
          <p:nvPr/>
        </p:nvCxnSpPr>
        <p:spPr>
          <a:xfrm flipH="1" flipV="1">
            <a:off x="800100" y="289560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BB1B35-313E-F359-DDB9-B7F0C5FD4EE2}"/>
              </a:ext>
            </a:extLst>
          </p:cNvPr>
          <p:cNvCxnSpPr/>
          <p:nvPr/>
        </p:nvCxnSpPr>
        <p:spPr>
          <a:xfrm flipV="1">
            <a:off x="800100" y="2667000"/>
            <a:ext cx="0" cy="2286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B41CB1-AEB7-0F5B-B7DE-9FD843766279}"/>
              </a:ext>
            </a:extLst>
          </p:cNvPr>
          <p:cNvCxnSpPr/>
          <p:nvPr/>
        </p:nvCxnSpPr>
        <p:spPr>
          <a:xfrm flipV="1">
            <a:off x="800100" y="255270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DE93F1C-3BD7-7B1E-AAA3-578A3D5D21D6}"/>
              </a:ext>
            </a:extLst>
          </p:cNvPr>
          <p:cNvSpPr/>
          <p:nvPr/>
        </p:nvSpPr>
        <p:spPr>
          <a:xfrm>
            <a:off x="952500" y="249936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4DCE54-3A05-2DBC-53C1-92422B2FD16B}"/>
              </a:ext>
            </a:extLst>
          </p:cNvPr>
          <p:cNvSpPr/>
          <p:nvPr/>
        </p:nvSpPr>
        <p:spPr>
          <a:xfrm>
            <a:off x="1158240" y="261366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02AEC6-496E-D42D-982F-C73032BDE4F3}"/>
              </a:ext>
            </a:extLst>
          </p:cNvPr>
          <p:cNvSpPr/>
          <p:nvPr/>
        </p:nvSpPr>
        <p:spPr>
          <a:xfrm>
            <a:off x="1158240" y="284226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EDF7772-9D90-CE2E-74A7-93A537E6C747}"/>
              </a:ext>
            </a:extLst>
          </p:cNvPr>
          <p:cNvSpPr/>
          <p:nvPr/>
        </p:nvSpPr>
        <p:spPr>
          <a:xfrm>
            <a:off x="952500" y="295656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D05207A-EAD6-A612-4230-DFAA84E257A9}"/>
              </a:ext>
            </a:extLst>
          </p:cNvPr>
          <p:cNvSpPr/>
          <p:nvPr/>
        </p:nvSpPr>
        <p:spPr>
          <a:xfrm>
            <a:off x="746760" y="284226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391557-6A77-7713-0A55-D3465279F6EA}"/>
              </a:ext>
            </a:extLst>
          </p:cNvPr>
          <p:cNvSpPr/>
          <p:nvPr/>
        </p:nvSpPr>
        <p:spPr>
          <a:xfrm>
            <a:off x="746760" y="261366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59328D-B40A-1B3D-8644-767E26EF1113}"/>
              </a:ext>
            </a:extLst>
          </p:cNvPr>
          <p:cNvSpPr/>
          <p:nvPr/>
        </p:nvSpPr>
        <p:spPr>
          <a:xfrm>
            <a:off x="891540" y="266700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1FA7D-8839-40BD-BC99-56AD7C2C9913}"/>
              </a:ext>
            </a:extLst>
          </p:cNvPr>
          <p:cNvSpPr txBox="1"/>
          <p:nvPr/>
        </p:nvSpPr>
        <p:spPr>
          <a:xfrm>
            <a:off x="1447800" y="2567940"/>
            <a:ext cx="990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10818F"/>
                </a:solidFill>
                <a:latin typeface="Arial" panose="020B0604020202020204" pitchFamily="34" charset="0"/>
              </a:rPr>
              <a:t>Structure 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D02FFD-9349-219E-E137-A5BA727376BD}"/>
              </a:ext>
            </a:extLst>
          </p:cNvPr>
          <p:cNvSpPr txBox="1"/>
          <p:nvPr/>
        </p:nvSpPr>
        <p:spPr>
          <a:xfrm>
            <a:off x="1447800" y="2796540"/>
            <a:ext cx="2514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methane-dominant baseline for this project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02FBED-1E57-E2A1-DD78-F57DC0A0C7EC}"/>
              </a:ext>
            </a:extLst>
          </p:cNvPr>
          <p:cNvCxnSpPr/>
          <p:nvPr/>
        </p:nvCxnSpPr>
        <p:spPr>
          <a:xfrm>
            <a:off x="807720" y="3208020"/>
            <a:ext cx="345948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06980C-C693-D110-B232-196CB969B8DE}"/>
              </a:ext>
            </a:extLst>
          </p:cNvPr>
          <p:cNvCxnSpPr/>
          <p:nvPr/>
        </p:nvCxnSpPr>
        <p:spPr>
          <a:xfrm>
            <a:off x="1005840" y="326898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E8B7512-D917-D2C6-4C08-302B8CBFFBAB}"/>
              </a:ext>
            </a:extLst>
          </p:cNvPr>
          <p:cNvCxnSpPr/>
          <p:nvPr/>
        </p:nvCxnSpPr>
        <p:spPr>
          <a:xfrm>
            <a:off x="1211580" y="3383280"/>
            <a:ext cx="0" cy="2286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0F15300-D489-1D5B-67B4-4BEC82CFD5D6}"/>
              </a:ext>
            </a:extLst>
          </p:cNvPr>
          <p:cNvCxnSpPr/>
          <p:nvPr/>
        </p:nvCxnSpPr>
        <p:spPr>
          <a:xfrm flipH="1">
            <a:off x="1005840" y="361188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AF9DEE-C44C-071A-13D9-82DE3BA861E4}"/>
              </a:ext>
            </a:extLst>
          </p:cNvPr>
          <p:cNvCxnSpPr/>
          <p:nvPr/>
        </p:nvCxnSpPr>
        <p:spPr>
          <a:xfrm flipH="1" flipV="1">
            <a:off x="800100" y="361188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A53825-2C24-3B3C-1E16-C3A8DDD9BD44}"/>
              </a:ext>
            </a:extLst>
          </p:cNvPr>
          <p:cNvCxnSpPr/>
          <p:nvPr/>
        </p:nvCxnSpPr>
        <p:spPr>
          <a:xfrm flipV="1">
            <a:off x="800100" y="3383280"/>
            <a:ext cx="0" cy="2286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E1180F-5837-5CA6-89D5-163F71C09680}"/>
              </a:ext>
            </a:extLst>
          </p:cNvPr>
          <p:cNvCxnSpPr/>
          <p:nvPr/>
        </p:nvCxnSpPr>
        <p:spPr>
          <a:xfrm flipV="1">
            <a:off x="800100" y="326898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50A26DAC-46F4-1943-E874-0E5649B80C06}"/>
              </a:ext>
            </a:extLst>
          </p:cNvPr>
          <p:cNvSpPr/>
          <p:nvPr/>
        </p:nvSpPr>
        <p:spPr>
          <a:xfrm>
            <a:off x="952500" y="321564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29EA340-DA94-AD81-ACD4-744AA432F9F6}"/>
              </a:ext>
            </a:extLst>
          </p:cNvPr>
          <p:cNvSpPr/>
          <p:nvPr/>
        </p:nvSpPr>
        <p:spPr>
          <a:xfrm>
            <a:off x="1158240" y="332994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969F699-0AE0-FA4E-898D-5523D3754359}"/>
              </a:ext>
            </a:extLst>
          </p:cNvPr>
          <p:cNvSpPr/>
          <p:nvPr/>
        </p:nvSpPr>
        <p:spPr>
          <a:xfrm>
            <a:off x="1158240" y="355854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579158-F5F7-D788-2528-03B7040E93B1}"/>
              </a:ext>
            </a:extLst>
          </p:cNvPr>
          <p:cNvSpPr/>
          <p:nvPr/>
        </p:nvSpPr>
        <p:spPr>
          <a:xfrm>
            <a:off x="952500" y="367284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7437C5F-4462-15A1-B2DA-65FC5072A902}"/>
              </a:ext>
            </a:extLst>
          </p:cNvPr>
          <p:cNvSpPr/>
          <p:nvPr/>
        </p:nvSpPr>
        <p:spPr>
          <a:xfrm>
            <a:off x="746760" y="355854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77C644C-758E-CEF5-580C-5832E60982EF}"/>
              </a:ext>
            </a:extLst>
          </p:cNvPr>
          <p:cNvSpPr/>
          <p:nvPr/>
        </p:nvSpPr>
        <p:spPr>
          <a:xfrm>
            <a:off x="746760" y="332994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9B8EF8F-9529-20E4-F901-7383BB275C0D}"/>
              </a:ext>
            </a:extLst>
          </p:cNvPr>
          <p:cNvSpPr/>
          <p:nvPr/>
        </p:nvSpPr>
        <p:spPr>
          <a:xfrm>
            <a:off x="891540" y="3383280"/>
            <a:ext cx="228600" cy="228600"/>
          </a:xfrm>
          <a:prstGeom prst="ellipse">
            <a:avLst/>
          </a:prstGeom>
          <a:solidFill>
            <a:srgbClr val="E0A12D"/>
          </a:solidFill>
          <a:ln w="1270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CF79A4-0E15-C0F0-BDBA-6EFD5B7FFCB6}"/>
              </a:ext>
            </a:extLst>
          </p:cNvPr>
          <p:cNvSpPr txBox="1"/>
          <p:nvPr/>
        </p:nvSpPr>
        <p:spPr>
          <a:xfrm>
            <a:off x="1447800" y="3284220"/>
            <a:ext cx="990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E0A12D"/>
                </a:solidFill>
                <a:latin typeface="Arial" panose="020B0604020202020204" pitchFamily="34" charset="0"/>
              </a:rPr>
              <a:t>Structure II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5EA9AA-38BF-8FFF-8370-2AC220623606}"/>
              </a:ext>
            </a:extLst>
          </p:cNvPr>
          <p:cNvSpPr txBox="1"/>
          <p:nvPr/>
        </p:nvSpPr>
        <p:spPr>
          <a:xfrm>
            <a:off x="1447800" y="3512820"/>
            <a:ext cx="2514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larger hydrocarbons or mixed gas context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0772BC-F08E-2828-6EE4-55E3BC71C41E}"/>
              </a:ext>
            </a:extLst>
          </p:cNvPr>
          <p:cNvCxnSpPr/>
          <p:nvPr/>
        </p:nvCxnSpPr>
        <p:spPr>
          <a:xfrm>
            <a:off x="807720" y="3924300"/>
            <a:ext cx="345948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744B0F1-5A39-00EA-D8E5-291F27E5CD57}"/>
              </a:ext>
            </a:extLst>
          </p:cNvPr>
          <p:cNvCxnSpPr/>
          <p:nvPr/>
        </p:nvCxnSpPr>
        <p:spPr>
          <a:xfrm>
            <a:off x="1005840" y="398526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D6C5132-7714-359A-085E-1AFC7997721D}"/>
              </a:ext>
            </a:extLst>
          </p:cNvPr>
          <p:cNvCxnSpPr/>
          <p:nvPr/>
        </p:nvCxnSpPr>
        <p:spPr>
          <a:xfrm>
            <a:off x="1211580" y="4099560"/>
            <a:ext cx="0" cy="2286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FD93527-3A99-C7B8-BE8E-3428816AF71E}"/>
              </a:ext>
            </a:extLst>
          </p:cNvPr>
          <p:cNvCxnSpPr/>
          <p:nvPr/>
        </p:nvCxnSpPr>
        <p:spPr>
          <a:xfrm flipH="1">
            <a:off x="1005840" y="432816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01AC42-C218-C843-2439-FB2B0DD2B1EB}"/>
              </a:ext>
            </a:extLst>
          </p:cNvPr>
          <p:cNvCxnSpPr/>
          <p:nvPr/>
        </p:nvCxnSpPr>
        <p:spPr>
          <a:xfrm flipH="1" flipV="1">
            <a:off x="800100" y="432816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75713F0-45A0-8F41-0EEF-A819B206DB9E}"/>
              </a:ext>
            </a:extLst>
          </p:cNvPr>
          <p:cNvCxnSpPr/>
          <p:nvPr/>
        </p:nvCxnSpPr>
        <p:spPr>
          <a:xfrm flipV="1">
            <a:off x="800100" y="4099560"/>
            <a:ext cx="0" cy="2286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AB67D05-FFB1-148D-80D3-FA2B7CF3EAA6}"/>
              </a:ext>
            </a:extLst>
          </p:cNvPr>
          <p:cNvCxnSpPr/>
          <p:nvPr/>
        </p:nvCxnSpPr>
        <p:spPr>
          <a:xfrm flipV="1">
            <a:off x="800100" y="3985260"/>
            <a:ext cx="205740" cy="114300"/>
          </a:xfrm>
          <a:prstGeom prst="straightConnector1">
            <a:avLst/>
          </a:prstGeom>
          <a:ln w="15240">
            <a:solidFill>
              <a:srgbClr val="6B8E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C1E140DD-89DF-BE4C-2C9C-46918C3B8C23}"/>
              </a:ext>
            </a:extLst>
          </p:cNvPr>
          <p:cNvSpPr/>
          <p:nvPr/>
        </p:nvSpPr>
        <p:spPr>
          <a:xfrm>
            <a:off x="952500" y="393192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01DF6D0-28B7-A438-1971-F3E4C0D7E328}"/>
              </a:ext>
            </a:extLst>
          </p:cNvPr>
          <p:cNvSpPr/>
          <p:nvPr/>
        </p:nvSpPr>
        <p:spPr>
          <a:xfrm>
            <a:off x="1158240" y="404622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1B3DEF1-CF6D-3B13-048E-F3E8B781B0A4}"/>
              </a:ext>
            </a:extLst>
          </p:cNvPr>
          <p:cNvSpPr/>
          <p:nvPr/>
        </p:nvSpPr>
        <p:spPr>
          <a:xfrm>
            <a:off x="1158240" y="427482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DEE3F4C-590A-D40E-A8BD-FF6D63228633}"/>
              </a:ext>
            </a:extLst>
          </p:cNvPr>
          <p:cNvSpPr/>
          <p:nvPr/>
        </p:nvSpPr>
        <p:spPr>
          <a:xfrm>
            <a:off x="952500" y="438912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A2D18E4-5C51-931A-5950-B0A7E871F7B1}"/>
              </a:ext>
            </a:extLst>
          </p:cNvPr>
          <p:cNvSpPr/>
          <p:nvPr/>
        </p:nvSpPr>
        <p:spPr>
          <a:xfrm>
            <a:off x="746760" y="427482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82D68F-D42C-E2F9-18B7-4CEDC9136249}"/>
              </a:ext>
            </a:extLst>
          </p:cNvPr>
          <p:cNvSpPr/>
          <p:nvPr/>
        </p:nvSpPr>
        <p:spPr>
          <a:xfrm>
            <a:off x="746760" y="4046220"/>
            <a:ext cx="106680" cy="106680"/>
          </a:xfrm>
          <a:prstGeom prst="ellipse">
            <a:avLst/>
          </a:prstGeom>
          <a:solidFill>
            <a:srgbClr val="77C9D2"/>
          </a:solidFill>
          <a:ln w="12700">
            <a:solidFill>
              <a:srgbClr val="5B94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3F726AB-CD3B-2544-FDDC-FF5614F1BBDD}"/>
              </a:ext>
            </a:extLst>
          </p:cNvPr>
          <p:cNvSpPr/>
          <p:nvPr/>
        </p:nvSpPr>
        <p:spPr>
          <a:xfrm>
            <a:off x="891540" y="4099560"/>
            <a:ext cx="228600" cy="228600"/>
          </a:xfrm>
          <a:prstGeom prst="ellipse">
            <a:avLst/>
          </a:prstGeom>
          <a:solidFill>
            <a:srgbClr val="705FC3"/>
          </a:solidFill>
          <a:ln w="1270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925A79-B77A-6DB6-737A-DD1C6AA14EDD}"/>
              </a:ext>
            </a:extLst>
          </p:cNvPr>
          <p:cNvSpPr txBox="1"/>
          <p:nvPr/>
        </p:nvSpPr>
        <p:spPr>
          <a:xfrm>
            <a:off x="1447800" y="4000500"/>
            <a:ext cx="990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705FC3"/>
                </a:solidFill>
                <a:latin typeface="Arial" panose="020B0604020202020204" pitchFamily="34" charset="0"/>
              </a:rPr>
              <a:t>Structure 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C16E82-DD9A-CABB-9992-69CD8FE30A68}"/>
              </a:ext>
            </a:extLst>
          </p:cNvPr>
          <p:cNvSpPr txBox="1"/>
          <p:nvPr/>
        </p:nvSpPr>
        <p:spPr>
          <a:xfrm>
            <a:off x="1447800" y="4229100"/>
            <a:ext cx="2514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larger molecule and scenario-chemistry context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FFD2E61-1890-9FAF-DF8C-E8894A6BA29B}"/>
              </a:ext>
            </a:extLst>
          </p:cNvPr>
          <p:cNvSpPr/>
          <p:nvPr/>
        </p:nvSpPr>
        <p:spPr>
          <a:xfrm>
            <a:off x="640080" y="4770120"/>
            <a:ext cx="1203960" cy="594360"/>
          </a:xfrm>
          <a:prstGeom prst="roundRect">
            <a:avLst/>
          </a:prstGeom>
          <a:solidFill>
            <a:srgbClr val="E0F8FA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24307C-548E-0CAC-E2CD-0F3A9C6ED74F}"/>
              </a:ext>
            </a:extLst>
          </p:cNvPr>
          <p:cNvSpPr txBox="1"/>
          <p:nvPr/>
        </p:nvSpPr>
        <p:spPr>
          <a:xfrm>
            <a:off x="731520" y="4846320"/>
            <a:ext cx="100584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Structure 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A58D8F-59A4-C862-7323-4FB6F43C3E90}"/>
              </a:ext>
            </a:extLst>
          </p:cNvPr>
          <p:cNvSpPr txBox="1"/>
          <p:nvPr/>
        </p:nvSpPr>
        <p:spPr>
          <a:xfrm>
            <a:off x="731520" y="5044440"/>
            <a:ext cx="100584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0F2230"/>
                </a:solidFill>
                <a:latin typeface="Arial" panose="020B0604020202020204" pitchFamily="34" charset="0"/>
              </a:rPr>
              <a:t>methane baseline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F3187CC-CFDF-3DEF-6665-61DBE4680807}"/>
              </a:ext>
            </a:extLst>
          </p:cNvPr>
          <p:cNvSpPr/>
          <p:nvPr/>
        </p:nvSpPr>
        <p:spPr>
          <a:xfrm>
            <a:off x="1950720" y="4770120"/>
            <a:ext cx="1203960" cy="594360"/>
          </a:xfrm>
          <a:prstGeom prst="roundRect">
            <a:avLst/>
          </a:prstGeom>
          <a:solidFill>
            <a:srgbClr val="FFF6DE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28A964-3503-1773-3063-DE0E7B62D715}"/>
              </a:ext>
            </a:extLst>
          </p:cNvPr>
          <p:cNvSpPr txBox="1"/>
          <p:nvPr/>
        </p:nvSpPr>
        <p:spPr>
          <a:xfrm>
            <a:off x="2042160" y="4846320"/>
            <a:ext cx="100584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E0A12D"/>
                </a:solidFill>
                <a:latin typeface="Arial" panose="020B0604020202020204" pitchFamily="34" charset="0"/>
              </a:rPr>
              <a:t>Structure II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728E8B-84C2-CB7B-89CC-A77822E18253}"/>
              </a:ext>
            </a:extLst>
          </p:cNvPr>
          <p:cNvSpPr txBox="1"/>
          <p:nvPr/>
        </p:nvSpPr>
        <p:spPr>
          <a:xfrm>
            <a:off x="2042160" y="5044440"/>
            <a:ext cx="100584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0F2230"/>
                </a:solidFill>
                <a:latin typeface="Arial" panose="020B0604020202020204" pitchFamily="34" charset="0"/>
              </a:rPr>
              <a:t>larger gases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7ADA40F-800F-2773-0071-E589607207D3}"/>
              </a:ext>
            </a:extLst>
          </p:cNvPr>
          <p:cNvSpPr/>
          <p:nvPr/>
        </p:nvSpPr>
        <p:spPr>
          <a:xfrm>
            <a:off x="3261360" y="4770120"/>
            <a:ext cx="1203960" cy="594360"/>
          </a:xfrm>
          <a:prstGeom prst="roundRect">
            <a:avLst/>
          </a:prstGeom>
          <a:solidFill>
            <a:srgbClr val="F5EEFF"/>
          </a:solidFill>
          <a:ln w="1524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B71E1F-AA85-09BF-02B3-8334A228C4AF}"/>
              </a:ext>
            </a:extLst>
          </p:cNvPr>
          <p:cNvSpPr txBox="1"/>
          <p:nvPr/>
        </p:nvSpPr>
        <p:spPr>
          <a:xfrm>
            <a:off x="3352800" y="4846320"/>
            <a:ext cx="100584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705FC3"/>
                </a:solidFill>
                <a:latin typeface="Arial" panose="020B0604020202020204" pitchFamily="34" charset="0"/>
              </a:rPr>
              <a:t>Structure H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BD6F55C-35B7-BC0A-12A4-4281881ECD3B}"/>
              </a:ext>
            </a:extLst>
          </p:cNvPr>
          <p:cNvSpPr txBox="1"/>
          <p:nvPr/>
        </p:nvSpPr>
        <p:spPr>
          <a:xfrm>
            <a:off x="3352800" y="5044440"/>
            <a:ext cx="100584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0F2230"/>
                </a:solidFill>
                <a:latin typeface="Arial" panose="020B0604020202020204" pitchFamily="34" charset="0"/>
              </a:rPr>
              <a:t>scenario chemistry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ECD8D0-A585-F882-4363-CAD2DB814908}"/>
              </a:ext>
            </a:extLst>
          </p:cNvPr>
          <p:cNvSpPr txBox="1"/>
          <p:nvPr/>
        </p:nvSpPr>
        <p:spPr>
          <a:xfrm>
            <a:off x="640080" y="5577840"/>
            <a:ext cx="367284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Structure II and H can host larger hydrocarbons or mixed gas; methane Structure I is the project baseline.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5585220-9B6E-95A2-2DCD-727EE839E449}"/>
              </a:ext>
            </a:extLst>
          </p:cNvPr>
          <p:cNvSpPr/>
          <p:nvPr/>
        </p:nvSpPr>
        <p:spPr>
          <a:xfrm>
            <a:off x="4724400" y="1051560"/>
            <a:ext cx="4762500" cy="4968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C11D9F8-E61E-7188-20BD-675F1DE75EBA}"/>
              </a:ext>
            </a:extLst>
          </p:cNvPr>
          <p:cNvSpPr/>
          <p:nvPr/>
        </p:nvSpPr>
        <p:spPr>
          <a:xfrm>
            <a:off x="4876800" y="1203960"/>
            <a:ext cx="259080" cy="259080"/>
          </a:xfrm>
          <a:prstGeom prst="ellipse">
            <a:avLst/>
          </a:prstGeom>
          <a:solidFill>
            <a:srgbClr val="3786CF"/>
          </a:solidFill>
          <a:ln w="1270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A3AF17-3531-9324-2223-65A9CD863A97}"/>
              </a:ext>
            </a:extLst>
          </p:cNvPr>
          <p:cNvSpPr txBox="1"/>
          <p:nvPr/>
        </p:nvSpPr>
        <p:spPr>
          <a:xfrm>
            <a:off x="5227320" y="1234440"/>
            <a:ext cx="3276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0F2230"/>
                </a:solidFill>
                <a:latin typeface="Arial" panose="020B0604020202020204" pitchFamily="34" charset="0"/>
              </a:rPr>
              <a:t>Why the North Slope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2E21A5-380B-C7DC-D0C4-4B9A91B0F20A}"/>
              </a:ext>
            </a:extLst>
          </p:cNvPr>
          <p:cNvSpPr txBox="1"/>
          <p:nvPr/>
        </p:nvSpPr>
        <p:spPr>
          <a:xfrm>
            <a:off x="4907280" y="1508760"/>
            <a:ext cx="43053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536770"/>
                </a:solidFill>
                <a:latin typeface="Arial" panose="020B0604020202020204" pitchFamily="34" charset="0"/>
              </a:rPr>
              <a:t>The updated 2D stability-screen map uses OSL-staged DNR units, roads, TAPS, communities, and field labels.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DB10320E-F057-2BB3-6C7F-714C05D94B5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40" y="1813560"/>
            <a:ext cx="4579620" cy="306324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E1EE03BF-652D-1DE4-A5E5-735255560D87}"/>
              </a:ext>
            </a:extLst>
          </p:cNvPr>
          <p:cNvSpPr/>
          <p:nvPr/>
        </p:nvSpPr>
        <p:spPr>
          <a:xfrm>
            <a:off x="4815840" y="4693920"/>
            <a:ext cx="4579621" cy="182880"/>
          </a:xfrm>
          <a:prstGeom prst="rect">
            <a:avLst/>
          </a:prstGeom>
          <a:solidFill>
            <a:srgbClr val="0B2330"/>
          </a:solidFill>
          <a:ln w="6350">
            <a:solidFill>
              <a:srgbClr val="0B2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7D63A9-0B6E-53E1-6B0A-FDCBE0087343}"/>
              </a:ext>
            </a:extLst>
          </p:cNvPr>
          <p:cNvSpPr txBox="1"/>
          <p:nvPr/>
        </p:nvSpPr>
        <p:spPr>
          <a:xfrm>
            <a:off x="4892040" y="4716780"/>
            <a:ext cx="442722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Public 2D context map: DNR units + AKDOT roads + TAPS overlays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870F1B3-BD75-9B1A-6882-34C4874247E5}"/>
              </a:ext>
            </a:extLst>
          </p:cNvPr>
          <p:cNvSpPr/>
          <p:nvPr/>
        </p:nvSpPr>
        <p:spPr>
          <a:xfrm>
            <a:off x="4815840" y="5044440"/>
            <a:ext cx="1379220" cy="320040"/>
          </a:xfrm>
          <a:prstGeom prst="roundRect">
            <a:avLst/>
          </a:prstGeom>
          <a:solidFill>
            <a:srgbClr val="F8FCFD"/>
          </a:solidFill>
          <a:ln w="1016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2E4DB3C-BAC7-059A-F993-B4B93E7B993E}"/>
              </a:ext>
            </a:extLst>
          </p:cNvPr>
          <p:cNvSpPr txBox="1"/>
          <p:nvPr/>
        </p:nvSpPr>
        <p:spPr>
          <a:xfrm>
            <a:off x="4907280" y="5113020"/>
            <a:ext cx="18288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10818F"/>
                </a:solidFill>
                <a:latin typeface="Arial" panose="020B0604020202020204" pitchFamily="34" charset="0"/>
              </a:rPr>
              <a:t>#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3DDF76-4843-BC8E-0CF4-3BAACC27C160}"/>
              </a:ext>
            </a:extLst>
          </p:cNvPr>
          <p:cNvSpPr txBox="1"/>
          <p:nvPr/>
        </p:nvSpPr>
        <p:spPr>
          <a:xfrm>
            <a:off x="5135880" y="5143500"/>
            <a:ext cx="98298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DNR units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500373A-F0E1-77DC-393D-48555078208A}"/>
              </a:ext>
            </a:extLst>
          </p:cNvPr>
          <p:cNvSpPr/>
          <p:nvPr/>
        </p:nvSpPr>
        <p:spPr>
          <a:xfrm>
            <a:off x="6309360" y="5044440"/>
            <a:ext cx="1531620" cy="320040"/>
          </a:xfrm>
          <a:prstGeom prst="roundRect">
            <a:avLst/>
          </a:prstGeom>
          <a:solidFill>
            <a:srgbClr val="F8FCFD"/>
          </a:solidFill>
          <a:ln w="1016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0125497-6F1F-EF17-9FB5-04457AB1FFA4}"/>
              </a:ext>
            </a:extLst>
          </p:cNvPr>
          <p:cNvSpPr txBox="1"/>
          <p:nvPr/>
        </p:nvSpPr>
        <p:spPr>
          <a:xfrm>
            <a:off x="6400800" y="5113020"/>
            <a:ext cx="18288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10818F"/>
                </a:solidFill>
                <a:latin typeface="Arial" panose="020B0604020202020204" pitchFamily="34" charset="0"/>
              </a:rPr>
              <a:t>|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0BA0B4E-BCD0-6294-1812-594691F67CCA}"/>
              </a:ext>
            </a:extLst>
          </p:cNvPr>
          <p:cNvSpPr txBox="1"/>
          <p:nvPr/>
        </p:nvSpPr>
        <p:spPr>
          <a:xfrm>
            <a:off x="6629400" y="5143500"/>
            <a:ext cx="113538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Dalton + TAPS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06FFF04-378E-FF67-EEF9-62980A647E9F}"/>
              </a:ext>
            </a:extLst>
          </p:cNvPr>
          <p:cNvSpPr/>
          <p:nvPr/>
        </p:nvSpPr>
        <p:spPr>
          <a:xfrm>
            <a:off x="7955280" y="5044440"/>
            <a:ext cx="1440181" cy="320040"/>
          </a:xfrm>
          <a:prstGeom prst="roundRect">
            <a:avLst/>
          </a:prstGeom>
          <a:solidFill>
            <a:srgbClr val="F8FCFD"/>
          </a:solidFill>
          <a:ln w="1016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98E89DD-DA4E-868C-B5A6-1B16B421A6D9}"/>
              </a:ext>
            </a:extLst>
          </p:cNvPr>
          <p:cNvSpPr txBox="1"/>
          <p:nvPr/>
        </p:nvSpPr>
        <p:spPr>
          <a:xfrm>
            <a:off x="8046720" y="5113020"/>
            <a:ext cx="18288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10818F"/>
                </a:solidFill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A9ACD11-FDA4-7548-2548-BF7A5EB15484}"/>
              </a:ext>
            </a:extLst>
          </p:cNvPr>
          <p:cNvSpPr txBox="1"/>
          <p:nvPr/>
        </p:nvSpPr>
        <p:spPr>
          <a:xfrm>
            <a:off x="8275320" y="5143500"/>
            <a:ext cx="104394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field labels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6284203-DFED-CB54-8311-D084B34BE4D9}"/>
              </a:ext>
            </a:extLst>
          </p:cNvPr>
          <p:cNvSpPr txBox="1"/>
          <p:nvPr/>
        </p:nvSpPr>
        <p:spPr>
          <a:xfrm>
            <a:off x="4815840" y="5547360"/>
            <a:ext cx="44577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D9373A"/>
                </a:solidFill>
                <a:latin typeface="Arial" panose="020B0604020202020204" pitchFamily="34" charset="0"/>
              </a:rPr>
              <a:t>Map layers locate the public scaffold; they do not claim occurrence or saturation.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FE1E00D-884A-70F6-DEBF-15F52EDAA534}"/>
              </a:ext>
            </a:extLst>
          </p:cNvPr>
          <p:cNvSpPr/>
          <p:nvPr/>
        </p:nvSpPr>
        <p:spPr>
          <a:xfrm>
            <a:off x="9563100" y="1051560"/>
            <a:ext cx="2171700" cy="4968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543F606-3E6B-0A18-B857-8746B2F497E3}"/>
              </a:ext>
            </a:extLst>
          </p:cNvPr>
          <p:cNvSpPr/>
          <p:nvPr/>
        </p:nvSpPr>
        <p:spPr>
          <a:xfrm>
            <a:off x="9715500" y="1203960"/>
            <a:ext cx="259080" cy="259080"/>
          </a:xfrm>
          <a:prstGeom prst="ellipse">
            <a:avLst/>
          </a:prstGeom>
          <a:solidFill>
            <a:srgbClr val="239E70"/>
          </a:solidFill>
          <a:ln w="1270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4A0D38F-3E5B-3924-2DF3-7A08C1EE035E}"/>
              </a:ext>
            </a:extLst>
          </p:cNvPr>
          <p:cNvSpPr txBox="1"/>
          <p:nvPr/>
        </p:nvSpPr>
        <p:spPr>
          <a:xfrm>
            <a:off x="10066020" y="1234440"/>
            <a:ext cx="3276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0F2230"/>
                </a:solidFill>
                <a:latin typeface="Arial" panose="020B0604020202020204" pitchFamily="34" charset="0"/>
              </a:rPr>
              <a:t>P-T diagram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82E073-4375-F775-316D-3B452B3B8E96}"/>
              </a:ext>
            </a:extLst>
          </p:cNvPr>
          <p:cNvSpPr txBox="1"/>
          <p:nvPr/>
        </p:nvSpPr>
        <p:spPr>
          <a:xfrm>
            <a:off x="9700260" y="1508760"/>
            <a:ext cx="17526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The diagram screens whether hydrate is physically admissible under selected assumptions.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4B41B55-CDA3-ABBF-62A8-62A0FD7A477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260" y="1859280"/>
            <a:ext cx="1866900" cy="192024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043CCD90-F329-C381-AA85-05D61E18830E}"/>
              </a:ext>
            </a:extLst>
          </p:cNvPr>
          <p:cNvSpPr/>
          <p:nvPr/>
        </p:nvSpPr>
        <p:spPr>
          <a:xfrm>
            <a:off x="9700260" y="3596640"/>
            <a:ext cx="1866900" cy="182880"/>
          </a:xfrm>
          <a:prstGeom prst="rect">
            <a:avLst/>
          </a:prstGeom>
          <a:solidFill>
            <a:srgbClr val="0B2330"/>
          </a:solidFill>
          <a:ln w="6350">
            <a:solidFill>
              <a:srgbClr val="0B2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C0F9245-D1F6-4ADA-C089-B00B9FF392FB}"/>
              </a:ext>
            </a:extLst>
          </p:cNvPr>
          <p:cNvSpPr txBox="1"/>
          <p:nvPr/>
        </p:nvSpPr>
        <p:spPr>
          <a:xfrm>
            <a:off x="9776460" y="3619500"/>
            <a:ext cx="17145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Selected USGS/DOE North Slope hydrate stability figure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30EE6BB-8C47-4EA7-07D1-77113E4202D7}"/>
              </a:ext>
            </a:extLst>
          </p:cNvPr>
          <p:cNvSpPr/>
          <p:nvPr/>
        </p:nvSpPr>
        <p:spPr>
          <a:xfrm>
            <a:off x="9700260" y="3962400"/>
            <a:ext cx="1866900" cy="457200"/>
          </a:xfrm>
          <a:prstGeom prst="roundRect">
            <a:avLst/>
          </a:prstGeom>
          <a:solidFill>
            <a:srgbClr val="D9F7F9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4DF2B24-1C98-8675-0BDB-E8C395EA7575}"/>
              </a:ext>
            </a:extLst>
          </p:cNvPr>
          <p:cNvSpPr txBox="1"/>
          <p:nvPr/>
        </p:nvSpPr>
        <p:spPr>
          <a:xfrm>
            <a:off x="9806940" y="4076700"/>
            <a:ext cx="1600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Current assumption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2EFBA2-132B-E9D2-BACD-AD11A3FEF094}"/>
              </a:ext>
            </a:extLst>
          </p:cNvPr>
          <p:cNvSpPr txBox="1"/>
          <p:nvPr/>
        </p:nvSpPr>
        <p:spPr>
          <a:xfrm>
            <a:off x="9806940" y="4267200"/>
            <a:ext cx="1600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methane / Structure I / 5 ppt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D11806E-E84F-6136-0D86-76B91EA2FA4C}"/>
              </a:ext>
            </a:extLst>
          </p:cNvPr>
          <p:cNvSpPr/>
          <p:nvPr/>
        </p:nvSpPr>
        <p:spPr>
          <a:xfrm>
            <a:off x="9700260" y="4526280"/>
            <a:ext cx="1866900" cy="441960"/>
          </a:xfrm>
          <a:prstGeom prst="roundRect">
            <a:avLst/>
          </a:prstGeom>
          <a:solidFill>
            <a:srgbClr val="EBFAF4"/>
          </a:solidFill>
          <a:ln w="1524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C9CA8AF-EF98-3C02-124A-BF01CB19434B}"/>
              </a:ext>
            </a:extLst>
          </p:cNvPr>
          <p:cNvSpPr txBox="1"/>
          <p:nvPr/>
        </p:nvSpPr>
        <p:spPr>
          <a:xfrm>
            <a:off x="9806940" y="4632960"/>
            <a:ext cx="1600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239E70"/>
                </a:solidFill>
                <a:latin typeface="Arial" panose="020B0604020202020204" pitchFamily="34" charset="0"/>
              </a:rPr>
              <a:t>Meaning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1F44B7D-67BE-D611-E6F4-C4450079E0B2}"/>
              </a:ext>
            </a:extLst>
          </p:cNvPr>
          <p:cNvSpPr txBox="1"/>
          <p:nvPr/>
        </p:nvSpPr>
        <p:spPr>
          <a:xfrm>
            <a:off x="9806940" y="4815840"/>
            <a:ext cx="1600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admissible under assumptions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9A96F9B7-967A-44D7-F731-EAF94081BA2B}"/>
              </a:ext>
            </a:extLst>
          </p:cNvPr>
          <p:cNvSpPr/>
          <p:nvPr/>
        </p:nvSpPr>
        <p:spPr>
          <a:xfrm>
            <a:off x="9700260" y="5074920"/>
            <a:ext cx="1866900" cy="44196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E2274FE-77A2-EFFB-D1C3-12599A4535D2}"/>
              </a:ext>
            </a:extLst>
          </p:cNvPr>
          <p:cNvSpPr txBox="1"/>
          <p:nvPr/>
        </p:nvSpPr>
        <p:spPr>
          <a:xfrm>
            <a:off x="9806940" y="5181600"/>
            <a:ext cx="1600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D9373A"/>
                </a:solidFill>
                <a:latin typeface="Arial" panose="020B0604020202020204" pitchFamily="34" charset="0"/>
              </a:rPr>
              <a:t>Guardrail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BD5C4DD-13D1-88EF-1DC8-FC1CDA52A866}"/>
              </a:ext>
            </a:extLst>
          </p:cNvPr>
          <p:cNvSpPr txBox="1"/>
          <p:nvPr/>
        </p:nvSpPr>
        <p:spPr>
          <a:xfrm>
            <a:off x="9806940" y="5364480"/>
            <a:ext cx="1600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not proof; not saturation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C1E9CC6A-E2EA-B423-E97B-9D03D7BF017E}"/>
              </a:ext>
            </a:extLst>
          </p:cNvPr>
          <p:cNvSpPr/>
          <p:nvPr/>
        </p:nvSpPr>
        <p:spPr>
          <a:xfrm>
            <a:off x="457200" y="6134100"/>
            <a:ext cx="11277600" cy="2286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64B439A-3625-FFA0-5E68-B20181227C9E}"/>
              </a:ext>
            </a:extLst>
          </p:cNvPr>
          <p:cNvSpPr txBox="1"/>
          <p:nvPr/>
        </p:nvSpPr>
        <p:spPr>
          <a:xfrm>
            <a:off x="609600" y="619506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Why this project: North Slope methane hydrate needs integrated geology + stability + well-log/core evidence before occurrence or saturation ML can make reviewed claims.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E4B6CEA-CCD6-BBF2-BDF1-2BF4BC970798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16D06C0-796D-A816-1532-CC3B8433861F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Context only: hydrate structure, public North Slope map layers, and a P-T stability diagram. Stability is not hydrate proof.</a:t>
            </a:r>
          </a:p>
        </p:txBody>
      </p:sp>
    </p:spTree>
    <p:extLst>
      <p:ext uri="{BB962C8B-B14F-4D97-AF65-F5344CB8AC3E}">
        <p14:creationId xmlns:p14="http://schemas.microsoft.com/office/powerpoint/2010/main" val="959345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FA9AD9-B3B6-34D4-42F0-CB299BD500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7A404A-1EE0-AB5F-38C1-C61662A06C2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94E9B-A5DE-97A6-3DAD-1621B516BF9D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Parameters And Expected Hydrate Ranges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C9212-E8FD-A1BE-625D-3E2D8830AADA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Working normalized screening envelopes only: direction, opposite meaning, mimic risk, and ML role.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B7B32-853A-C4DC-503F-FD7DB50C5120}"/>
              </a:ext>
            </a:extLst>
          </p:cNvPr>
          <p:cNvSpPr txBox="1"/>
          <p:nvPr/>
        </p:nvSpPr>
        <p:spPr>
          <a:xfrm>
            <a:off x="624840" y="952500"/>
            <a:ext cx="11430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family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F95B6-5286-7194-BA3C-663FF05BC706}"/>
              </a:ext>
            </a:extLst>
          </p:cNvPr>
          <p:cNvSpPr txBox="1"/>
          <p:nvPr/>
        </p:nvSpPr>
        <p:spPr>
          <a:xfrm>
            <a:off x="2286000" y="952500"/>
            <a:ext cx="11430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range direction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3F65B-6B37-F01C-7A5C-6C112DE7C6D7}"/>
              </a:ext>
            </a:extLst>
          </p:cNvPr>
          <p:cNvSpPr txBox="1"/>
          <p:nvPr/>
        </p:nvSpPr>
        <p:spPr>
          <a:xfrm>
            <a:off x="7056120" y="952500"/>
            <a:ext cx="11430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supports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FA064-A44D-35A7-D12C-592928B53A8B}"/>
              </a:ext>
            </a:extLst>
          </p:cNvPr>
          <p:cNvSpPr txBox="1"/>
          <p:nvPr/>
        </p:nvSpPr>
        <p:spPr>
          <a:xfrm>
            <a:off x="8138160" y="952500"/>
            <a:ext cx="11430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opposite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F0900-47A7-EC91-D2A1-351519F97438}"/>
              </a:ext>
            </a:extLst>
          </p:cNvPr>
          <p:cNvSpPr txBox="1"/>
          <p:nvPr/>
        </p:nvSpPr>
        <p:spPr>
          <a:xfrm>
            <a:off x="9410700" y="952500"/>
            <a:ext cx="11430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mimic / mask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6C2E67-81E6-3D0A-4E1C-349C9B837372}"/>
              </a:ext>
            </a:extLst>
          </p:cNvPr>
          <p:cNvSpPr txBox="1"/>
          <p:nvPr/>
        </p:nvSpPr>
        <p:spPr>
          <a:xfrm>
            <a:off x="10820400" y="952500"/>
            <a:ext cx="11430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role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AEEF8C-9725-6AAC-7C76-20AD97404803}"/>
              </a:ext>
            </a:extLst>
          </p:cNvPr>
          <p:cNvSpPr/>
          <p:nvPr/>
        </p:nvSpPr>
        <p:spPr>
          <a:xfrm>
            <a:off x="441960" y="1173480"/>
            <a:ext cx="1130808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E6F75-87E9-EC55-1199-A3DA8B498294}"/>
              </a:ext>
            </a:extLst>
          </p:cNvPr>
          <p:cNvSpPr txBox="1"/>
          <p:nvPr/>
        </p:nvSpPr>
        <p:spPr>
          <a:xfrm>
            <a:off x="624840" y="127254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GR clean sand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1EDBEE-5769-63AC-3855-B5BC07C89921}"/>
              </a:ext>
            </a:extLst>
          </p:cNvPr>
          <p:cNvCxnSpPr/>
          <p:nvPr/>
        </p:nvCxnSpPr>
        <p:spPr>
          <a:xfrm>
            <a:off x="2286000" y="1447800"/>
            <a:ext cx="4572000" cy="0"/>
          </a:xfrm>
          <a:prstGeom prst="straightConnector1">
            <a:avLst/>
          </a:prstGeom>
          <a:ln w="95250">
            <a:solidFill>
              <a:srgbClr val="DC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449BD8-6C54-0E36-F840-C983F79AA6F0}"/>
              </a:ext>
            </a:extLst>
          </p:cNvPr>
          <p:cNvCxnSpPr/>
          <p:nvPr/>
        </p:nvCxnSpPr>
        <p:spPr>
          <a:xfrm>
            <a:off x="2286000" y="1447800"/>
            <a:ext cx="1600200" cy="0"/>
          </a:xfrm>
          <a:prstGeom prst="straightConnector1">
            <a:avLst/>
          </a:prstGeom>
          <a:ln w="10414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3E5ED1D-8BB1-91AC-B4BA-47A31CB1392E}"/>
              </a:ext>
            </a:extLst>
          </p:cNvPr>
          <p:cNvSpPr/>
          <p:nvPr/>
        </p:nvSpPr>
        <p:spPr>
          <a:xfrm rot="5400000">
            <a:off x="3870960" y="1356360"/>
            <a:ext cx="182880" cy="182880"/>
          </a:xfrm>
          <a:prstGeom prst="triangle">
            <a:avLst/>
          </a:prstGeom>
          <a:solidFill>
            <a:srgbClr val="239E70"/>
          </a:solidFill>
          <a:ln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371BED-8E2B-481E-F08C-3E92EB569550}"/>
              </a:ext>
            </a:extLst>
          </p:cNvPr>
          <p:cNvCxnSpPr/>
          <p:nvPr/>
        </p:nvCxnSpPr>
        <p:spPr>
          <a:xfrm>
            <a:off x="2286000" y="1356360"/>
            <a:ext cx="0" cy="182880"/>
          </a:xfrm>
          <a:prstGeom prst="straightConnector1">
            <a:avLst/>
          </a:prstGeom>
          <a:ln w="2540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45F58D-A95D-2346-5815-27277714B1D7}"/>
              </a:ext>
            </a:extLst>
          </p:cNvPr>
          <p:cNvSpPr txBox="1"/>
          <p:nvPr/>
        </p:nvSpPr>
        <p:spPr>
          <a:xfrm>
            <a:off x="2286000" y="124206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clean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0CE321-59A3-6026-2829-DA390381441C}"/>
              </a:ext>
            </a:extLst>
          </p:cNvPr>
          <p:cNvSpPr txBox="1"/>
          <p:nvPr/>
        </p:nvSpPr>
        <p:spPr>
          <a:xfrm>
            <a:off x="5715000" y="124206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shaly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ABBB1A-B44A-D922-A64E-85A75217C93D}"/>
              </a:ext>
            </a:extLst>
          </p:cNvPr>
          <p:cNvSpPr txBox="1"/>
          <p:nvPr/>
        </p:nvSpPr>
        <p:spPr>
          <a:xfrm>
            <a:off x="7056120" y="1234440"/>
            <a:ext cx="990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239E70"/>
                </a:solidFill>
                <a:latin typeface="Arial" panose="020B0604020202020204" pitchFamily="34" charset="0"/>
              </a:rPr>
              <a:t>clean sand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D081E-25EA-DDE7-BB1F-C40083457C57}"/>
              </a:ext>
            </a:extLst>
          </p:cNvPr>
          <p:cNvSpPr txBox="1"/>
          <p:nvPr/>
        </p:nvSpPr>
        <p:spPr>
          <a:xfrm>
            <a:off x="8138160" y="1234440"/>
            <a:ext cx="1219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shale/clay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848AE5-8497-7C06-83F8-4CEAAAEF89EC}"/>
              </a:ext>
            </a:extLst>
          </p:cNvPr>
          <p:cNvSpPr txBox="1"/>
          <p:nvPr/>
        </p:nvSpPr>
        <p:spPr>
          <a:xfrm>
            <a:off x="9410700" y="1234440"/>
            <a:ext cx="1295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radioactive minerals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3AA6F5-C09D-1E80-8F08-5932129DF0A8}"/>
              </a:ext>
            </a:extLst>
          </p:cNvPr>
          <p:cNvSpPr/>
          <p:nvPr/>
        </p:nvSpPr>
        <p:spPr>
          <a:xfrm>
            <a:off x="10774680" y="1325880"/>
            <a:ext cx="777240" cy="22860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input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C0EA97-73A5-C1F0-0011-03FEA643E045}"/>
              </a:ext>
            </a:extLst>
          </p:cNvPr>
          <p:cNvSpPr/>
          <p:nvPr/>
        </p:nvSpPr>
        <p:spPr>
          <a:xfrm>
            <a:off x="441960" y="1752600"/>
            <a:ext cx="1130808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22A52D-1D00-4E78-7350-30A04C1E2DD5}"/>
              </a:ext>
            </a:extLst>
          </p:cNvPr>
          <p:cNvSpPr txBox="1"/>
          <p:nvPr/>
        </p:nvSpPr>
        <p:spPr>
          <a:xfrm>
            <a:off x="624840" y="185166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Density / porosity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C07907-310E-D18A-8846-8F27FAE94F52}"/>
              </a:ext>
            </a:extLst>
          </p:cNvPr>
          <p:cNvCxnSpPr/>
          <p:nvPr/>
        </p:nvCxnSpPr>
        <p:spPr>
          <a:xfrm>
            <a:off x="2286000" y="2026920"/>
            <a:ext cx="4572000" cy="0"/>
          </a:xfrm>
          <a:prstGeom prst="straightConnector1">
            <a:avLst/>
          </a:prstGeom>
          <a:ln w="95250">
            <a:solidFill>
              <a:srgbClr val="DC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3E6ED1-67A8-8E9C-E5BE-690FEB930CA2}"/>
              </a:ext>
            </a:extLst>
          </p:cNvPr>
          <p:cNvCxnSpPr/>
          <p:nvPr/>
        </p:nvCxnSpPr>
        <p:spPr>
          <a:xfrm>
            <a:off x="4343400" y="2026920"/>
            <a:ext cx="1371600" cy="0"/>
          </a:xfrm>
          <a:prstGeom prst="straightConnector1">
            <a:avLst/>
          </a:prstGeom>
          <a:ln w="104140">
            <a:solidFill>
              <a:srgbClr val="378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A7D944CE-3658-0151-1CF0-5A2E8F7A56DD}"/>
              </a:ext>
            </a:extLst>
          </p:cNvPr>
          <p:cNvSpPr/>
          <p:nvPr/>
        </p:nvSpPr>
        <p:spPr>
          <a:xfrm rot="5400000">
            <a:off x="5699760" y="1935480"/>
            <a:ext cx="182880" cy="182880"/>
          </a:xfrm>
          <a:prstGeom prst="triangle">
            <a:avLst/>
          </a:prstGeom>
          <a:solidFill>
            <a:srgbClr val="3786CF"/>
          </a:solidFill>
          <a:ln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6D3375-95F2-EEEE-CC6C-4AD2C737D170}"/>
              </a:ext>
            </a:extLst>
          </p:cNvPr>
          <p:cNvCxnSpPr/>
          <p:nvPr/>
        </p:nvCxnSpPr>
        <p:spPr>
          <a:xfrm>
            <a:off x="4343400" y="1935480"/>
            <a:ext cx="0" cy="182880"/>
          </a:xfrm>
          <a:prstGeom prst="straightConnector1">
            <a:avLst/>
          </a:prstGeom>
          <a:ln w="25400">
            <a:solidFill>
              <a:srgbClr val="378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04FA77F-6A11-3456-8130-FCBF146105F5}"/>
              </a:ext>
            </a:extLst>
          </p:cNvPr>
          <p:cNvSpPr txBox="1"/>
          <p:nvPr/>
        </p:nvSpPr>
        <p:spPr>
          <a:xfrm>
            <a:off x="2286000" y="182118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tight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5E683D-2FE7-CDF9-E374-05B1481AF800}"/>
              </a:ext>
            </a:extLst>
          </p:cNvPr>
          <p:cNvSpPr txBox="1"/>
          <p:nvPr/>
        </p:nvSpPr>
        <p:spPr>
          <a:xfrm>
            <a:off x="5715000" y="182118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porous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CA3D3-D289-2904-6419-B2A72432C167}"/>
              </a:ext>
            </a:extLst>
          </p:cNvPr>
          <p:cNvSpPr txBox="1"/>
          <p:nvPr/>
        </p:nvSpPr>
        <p:spPr>
          <a:xfrm>
            <a:off x="7056120" y="1813560"/>
            <a:ext cx="990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3786CF"/>
                </a:solidFill>
                <a:latin typeface="Arial" panose="020B0604020202020204" pitchFamily="34" charset="0"/>
              </a:rPr>
              <a:t>porous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B7972A-FB9B-B593-CBC3-8E8414B7359A}"/>
              </a:ext>
            </a:extLst>
          </p:cNvPr>
          <p:cNvSpPr txBox="1"/>
          <p:nvPr/>
        </p:nvSpPr>
        <p:spPr>
          <a:xfrm>
            <a:off x="8138160" y="1813560"/>
            <a:ext cx="1219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tight/shale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BF068D-7ED6-4088-C880-D47FAA120F96}"/>
              </a:ext>
            </a:extLst>
          </p:cNvPr>
          <p:cNvSpPr txBox="1"/>
          <p:nvPr/>
        </p:nvSpPr>
        <p:spPr>
          <a:xfrm>
            <a:off x="9410700" y="1813560"/>
            <a:ext cx="1295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gas, washout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B91927D-2950-6317-2C53-1E016BEB3C7B}"/>
              </a:ext>
            </a:extLst>
          </p:cNvPr>
          <p:cNvSpPr/>
          <p:nvPr/>
        </p:nvSpPr>
        <p:spPr>
          <a:xfrm>
            <a:off x="10774680" y="1905000"/>
            <a:ext cx="777240" cy="22860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input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D5E700-3BD9-5713-22CA-87DA0DD91DB1}"/>
              </a:ext>
            </a:extLst>
          </p:cNvPr>
          <p:cNvSpPr/>
          <p:nvPr/>
        </p:nvSpPr>
        <p:spPr>
          <a:xfrm>
            <a:off x="441960" y="2331720"/>
            <a:ext cx="1130808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1EBAA0-930B-8362-B66E-2B9F796DB18C}"/>
              </a:ext>
            </a:extLst>
          </p:cNvPr>
          <p:cNvSpPr txBox="1"/>
          <p:nvPr/>
        </p:nvSpPr>
        <p:spPr>
          <a:xfrm>
            <a:off x="624840" y="243078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Deep resistivity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4C039F-57AC-23FE-326B-216025F8C738}"/>
              </a:ext>
            </a:extLst>
          </p:cNvPr>
          <p:cNvCxnSpPr/>
          <p:nvPr/>
        </p:nvCxnSpPr>
        <p:spPr>
          <a:xfrm>
            <a:off x="2286000" y="2606040"/>
            <a:ext cx="4572000" cy="0"/>
          </a:xfrm>
          <a:prstGeom prst="straightConnector1">
            <a:avLst/>
          </a:prstGeom>
          <a:ln w="95250">
            <a:solidFill>
              <a:srgbClr val="DC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460380-2095-2F45-4B6E-9FF788BD967B}"/>
              </a:ext>
            </a:extLst>
          </p:cNvPr>
          <p:cNvCxnSpPr/>
          <p:nvPr/>
        </p:nvCxnSpPr>
        <p:spPr>
          <a:xfrm>
            <a:off x="5257800" y="2606040"/>
            <a:ext cx="1508760" cy="0"/>
          </a:xfrm>
          <a:prstGeom prst="straightConnector1">
            <a:avLst/>
          </a:prstGeom>
          <a:ln w="104140">
            <a:solidFill>
              <a:srgbClr val="D9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EC27341D-6538-4459-226C-242020F56AF8}"/>
              </a:ext>
            </a:extLst>
          </p:cNvPr>
          <p:cNvSpPr/>
          <p:nvPr/>
        </p:nvSpPr>
        <p:spPr>
          <a:xfrm rot="5400000">
            <a:off x="6751320" y="2514600"/>
            <a:ext cx="182880" cy="182880"/>
          </a:xfrm>
          <a:prstGeom prst="triangle">
            <a:avLst/>
          </a:prstGeom>
          <a:solidFill>
            <a:srgbClr val="D9373A"/>
          </a:solidFill>
          <a:ln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8DF3871-A4A9-D9D3-C78C-FFA7FA57FD75}"/>
              </a:ext>
            </a:extLst>
          </p:cNvPr>
          <p:cNvCxnSpPr/>
          <p:nvPr/>
        </p:nvCxnSpPr>
        <p:spPr>
          <a:xfrm>
            <a:off x="5257800" y="2514600"/>
            <a:ext cx="0" cy="182880"/>
          </a:xfrm>
          <a:prstGeom prst="straightConnector1">
            <a:avLst/>
          </a:prstGeom>
          <a:ln w="25400">
            <a:solidFill>
              <a:srgbClr val="D9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8544681-3EA7-B4D5-765D-FFB9A6E27BC3}"/>
              </a:ext>
            </a:extLst>
          </p:cNvPr>
          <p:cNvSpPr txBox="1"/>
          <p:nvPr/>
        </p:nvSpPr>
        <p:spPr>
          <a:xfrm>
            <a:off x="2286000" y="240030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conductive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0F2562-1387-FCC9-B591-1049DE58BCB0}"/>
              </a:ext>
            </a:extLst>
          </p:cNvPr>
          <p:cNvSpPr txBox="1"/>
          <p:nvPr/>
        </p:nvSpPr>
        <p:spPr>
          <a:xfrm>
            <a:off x="5715000" y="240030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resistive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592534-53F6-91AE-84F5-AF2DAE7034CA}"/>
              </a:ext>
            </a:extLst>
          </p:cNvPr>
          <p:cNvSpPr txBox="1"/>
          <p:nvPr/>
        </p:nvSpPr>
        <p:spPr>
          <a:xfrm>
            <a:off x="7056120" y="2392680"/>
            <a:ext cx="990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D9373A"/>
                </a:solidFill>
                <a:latin typeface="Arial" panose="020B0604020202020204" pitchFamily="34" charset="0"/>
              </a:rPr>
              <a:t>resistive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7C2F07-56EF-8E17-4462-56A5F9406568}"/>
              </a:ext>
            </a:extLst>
          </p:cNvPr>
          <p:cNvSpPr txBox="1"/>
          <p:nvPr/>
        </p:nvSpPr>
        <p:spPr>
          <a:xfrm>
            <a:off x="8138160" y="2392680"/>
            <a:ext cx="1219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wet/saline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9B13D-8036-74BB-3949-14B3AD3BFBD4}"/>
              </a:ext>
            </a:extLst>
          </p:cNvPr>
          <p:cNvSpPr txBox="1"/>
          <p:nvPr/>
        </p:nvSpPr>
        <p:spPr>
          <a:xfrm>
            <a:off x="9410700" y="2392680"/>
            <a:ext cx="1295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ice/free gas/tight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608B6AC-43B6-42AD-43B8-7E112D459A79}"/>
              </a:ext>
            </a:extLst>
          </p:cNvPr>
          <p:cNvSpPr/>
          <p:nvPr/>
        </p:nvSpPr>
        <p:spPr>
          <a:xfrm>
            <a:off x="10774680" y="2484120"/>
            <a:ext cx="777240" cy="22860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input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CB85A42-9EE4-3C79-2FA2-55BF8DC77517}"/>
              </a:ext>
            </a:extLst>
          </p:cNvPr>
          <p:cNvSpPr/>
          <p:nvPr/>
        </p:nvSpPr>
        <p:spPr>
          <a:xfrm>
            <a:off x="441960" y="2910840"/>
            <a:ext cx="1130808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FB50C3-9ABC-A5E7-5A95-CFB9DF2D2577}"/>
              </a:ext>
            </a:extLst>
          </p:cNvPr>
          <p:cNvSpPr txBox="1"/>
          <p:nvPr/>
        </p:nvSpPr>
        <p:spPr>
          <a:xfrm>
            <a:off x="624840" y="300990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NMR separation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484872E-C439-7B5C-30D0-76F840D4E5CE}"/>
              </a:ext>
            </a:extLst>
          </p:cNvPr>
          <p:cNvCxnSpPr/>
          <p:nvPr/>
        </p:nvCxnSpPr>
        <p:spPr>
          <a:xfrm>
            <a:off x="2286000" y="3185160"/>
            <a:ext cx="4572000" cy="0"/>
          </a:xfrm>
          <a:prstGeom prst="straightConnector1">
            <a:avLst/>
          </a:prstGeom>
          <a:ln w="95250">
            <a:solidFill>
              <a:srgbClr val="DC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DC3A515-5576-0779-8906-C6696A7AE9EF}"/>
              </a:ext>
            </a:extLst>
          </p:cNvPr>
          <p:cNvCxnSpPr/>
          <p:nvPr/>
        </p:nvCxnSpPr>
        <p:spPr>
          <a:xfrm>
            <a:off x="5029200" y="3185160"/>
            <a:ext cx="1371600" cy="0"/>
          </a:xfrm>
          <a:prstGeom prst="straightConnector1">
            <a:avLst/>
          </a:prstGeom>
          <a:ln w="10414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41884707-4AE0-81B2-34FA-341BCA277F87}"/>
              </a:ext>
            </a:extLst>
          </p:cNvPr>
          <p:cNvSpPr/>
          <p:nvPr/>
        </p:nvSpPr>
        <p:spPr>
          <a:xfrm rot="5400000">
            <a:off x="6385560" y="3093720"/>
            <a:ext cx="182880" cy="182880"/>
          </a:xfrm>
          <a:prstGeom prst="triangle">
            <a:avLst/>
          </a:prstGeom>
          <a:solidFill>
            <a:srgbClr val="705FC3"/>
          </a:solidFill>
          <a:ln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9BFE3C8-DA80-7090-BC54-35A22736DD01}"/>
              </a:ext>
            </a:extLst>
          </p:cNvPr>
          <p:cNvCxnSpPr/>
          <p:nvPr/>
        </p:nvCxnSpPr>
        <p:spPr>
          <a:xfrm>
            <a:off x="5029200" y="3093720"/>
            <a:ext cx="0" cy="182880"/>
          </a:xfrm>
          <a:prstGeom prst="straightConnector1">
            <a:avLst/>
          </a:prstGeom>
          <a:ln w="2540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B5A4971-41A2-9302-F12A-62FC6B36EDC6}"/>
              </a:ext>
            </a:extLst>
          </p:cNvPr>
          <p:cNvSpPr txBox="1"/>
          <p:nvPr/>
        </p:nvSpPr>
        <p:spPr>
          <a:xfrm>
            <a:off x="2286000" y="297942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mobile water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114352-BAB4-4271-408E-69AEA1196AA1}"/>
              </a:ext>
            </a:extLst>
          </p:cNvPr>
          <p:cNvSpPr txBox="1"/>
          <p:nvPr/>
        </p:nvSpPr>
        <p:spPr>
          <a:xfrm>
            <a:off x="5715000" y="297942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separation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4FA004-F839-6B7B-2AFD-1A6B61AA7F0B}"/>
              </a:ext>
            </a:extLst>
          </p:cNvPr>
          <p:cNvSpPr txBox="1"/>
          <p:nvPr/>
        </p:nvSpPr>
        <p:spPr>
          <a:xfrm>
            <a:off x="7056120" y="2971800"/>
            <a:ext cx="990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705FC3"/>
                </a:solidFill>
                <a:latin typeface="Arial" panose="020B0604020202020204" pitchFamily="34" charset="0"/>
              </a:rPr>
              <a:t>separation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7A2222-45C9-428C-C546-266038F127DB}"/>
              </a:ext>
            </a:extLst>
          </p:cNvPr>
          <p:cNvSpPr txBox="1"/>
          <p:nvPr/>
        </p:nvSpPr>
        <p:spPr>
          <a:xfrm>
            <a:off x="8138160" y="2971800"/>
            <a:ext cx="1219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water/clay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CC0B81-DC56-D1F6-15ED-47EA44D82626}"/>
              </a:ext>
            </a:extLst>
          </p:cNvPr>
          <p:cNvSpPr txBox="1"/>
          <p:nvPr/>
        </p:nvSpPr>
        <p:spPr>
          <a:xfrm>
            <a:off x="9410700" y="2971800"/>
            <a:ext cx="1295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processing/depth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0580641-F692-9036-CF33-5704D8F47F1A}"/>
              </a:ext>
            </a:extLst>
          </p:cNvPr>
          <p:cNvSpPr/>
          <p:nvPr/>
        </p:nvSpPr>
        <p:spPr>
          <a:xfrm>
            <a:off x="10774680" y="3063240"/>
            <a:ext cx="777240" cy="22860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input/Y guard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5537F4C-9E4E-762A-84BE-7A4BD70F9BB4}"/>
              </a:ext>
            </a:extLst>
          </p:cNvPr>
          <p:cNvSpPr/>
          <p:nvPr/>
        </p:nvSpPr>
        <p:spPr>
          <a:xfrm>
            <a:off x="441960" y="3489960"/>
            <a:ext cx="1130808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0AEF02-0323-24D6-9821-6B8A34B28583}"/>
              </a:ext>
            </a:extLst>
          </p:cNvPr>
          <p:cNvSpPr txBox="1"/>
          <p:nvPr/>
        </p:nvSpPr>
        <p:spPr>
          <a:xfrm>
            <a:off x="624840" y="358902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Vp/Vs/AI elastic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A4FDE68-D587-03B5-BE24-88A01F72782F}"/>
              </a:ext>
            </a:extLst>
          </p:cNvPr>
          <p:cNvCxnSpPr/>
          <p:nvPr/>
        </p:nvCxnSpPr>
        <p:spPr>
          <a:xfrm>
            <a:off x="2286000" y="3764280"/>
            <a:ext cx="4572000" cy="0"/>
          </a:xfrm>
          <a:prstGeom prst="straightConnector1">
            <a:avLst/>
          </a:prstGeom>
          <a:ln w="95250">
            <a:solidFill>
              <a:srgbClr val="DC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60C5003-B3B5-FD2F-F255-8CE9E0A54A3A}"/>
              </a:ext>
            </a:extLst>
          </p:cNvPr>
          <p:cNvCxnSpPr/>
          <p:nvPr/>
        </p:nvCxnSpPr>
        <p:spPr>
          <a:xfrm>
            <a:off x="3429000" y="3764280"/>
            <a:ext cx="2880360" cy="0"/>
          </a:xfrm>
          <a:prstGeom prst="straightConnector1">
            <a:avLst/>
          </a:prstGeom>
          <a:ln w="10414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03C655DC-3FDF-7C57-B070-6F4ABD0CE24C}"/>
              </a:ext>
            </a:extLst>
          </p:cNvPr>
          <p:cNvSpPr/>
          <p:nvPr/>
        </p:nvSpPr>
        <p:spPr>
          <a:xfrm rot="5400000">
            <a:off x="6294120" y="3672840"/>
            <a:ext cx="182880" cy="182880"/>
          </a:xfrm>
          <a:prstGeom prst="triangle">
            <a:avLst/>
          </a:prstGeom>
          <a:solidFill>
            <a:srgbClr val="705FC3"/>
          </a:solidFill>
          <a:ln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2277236-A55D-27BB-5A82-71D68E23846E}"/>
              </a:ext>
            </a:extLst>
          </p:cNvPr>
          <p:cNvCxnSpPr/>
          <p:nvPr/>
        </p:nvCxnSpPr>
        <p:spPr>
          <a:xfrm>
            <a:off x="3429000" y="3672840"/>
            <a:ext cx="0" cy="182880"/>
          </a:xfrm>
          <a:prstGeom prst="straightConnector1">
            <a:avLst/>
          </a:prstGeom>
          <a:ln w="2540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479F88D-8F1B-7B31-F6F2-D9C1F6A3825D}"/>
              </a:ext>
            </a:extLst>
          </p:cNvPr>
          <p:cNvSpPr txBox="1"/>
          <p:nvPr/>
        </p:nvSpPr>
        <p:spPr>
          <a:xfrm>
            <a:off x="2286000" y="355854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soft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13A66D-D7AB-1396-20D5-E7D86A62C90A}"/>
              </a:ext>
            </a:extLst>
          </p:cNvPr>
          <p:cNvSpPr txBox="1"/>
          <p:nvPr/>
        </p:nvSpPr>
        <p:spPr>
          <a:xfrm>
            <a:off x="5715000" y="355854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stiff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CE7996-363D-2013-82B3-E38A21F74121}"/>
              </a:ext>
            </a:extLst>
          </p:cNvPr>
          <p:cNvSpPr txBox="1"/>
          <p:nvPr/>
        </p:nvSpPr>
        <p:spPr>
          <a:xfrm>
            <a:off x="7056120" y="3550920"/>
            <a:ext cx="990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705FC3"/>
                </a:solidFill>
                <a:latin typeface="Arial" panose="020B0604020202020204" pitchFamily="34" charset="0"/>
              </a:rPr>
              <a:t>stiff contrast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170787-8409-CA0F-DE15-824809F3118E}"/>
              </a:ext>
            </a:extLst>
          </p:cNvPr>
          <p:cNvSpPr txBox="1"/>
          <p:nvPr/>
        </p:nvSpPr>
        <p:spPr>
          <a:xfrm>
            <a:off x="8138160" y="3550920"/>
            <a:ext cx="1219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soft/gas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E537F6-6341-B21D-45A6-AD1E50D60522}"/>
              </a:ext>
            </a:extLst>
          </p:cNvPr>
          <p:cNvSpPr txBox="1"/>
          <p:nvPr/>
        </p:nvSpPr>
        <p:spPr>
          <a:xfrm>
            <a:off x="9410700" y="3550920"/>
            <a:ext cx="1295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compaction/cement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9E39B16-E174-4CEE-0F54-9523AD9D74C8}"/>
              </a:ext>
            </a:extLst>
          </p:cNvPr>
          <p:cNvSpPr/>
          <p:nvPr/>
        </p:nvSpPr>
        <p:spPr>
          <a:xfrm>
            <a:off x="10774680" y="3642360"/>
            <a:ext cx="777240" cy="22860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derived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0C1D5A3-D5BE-9BE0-5F6D-905546AF45F5}"/>
              </a:ext>
            </a:extLst>
          </p:cNvPr>
          <p:cNvSpPr/>
          <p:nvPr/>
        </p:nvSpPr>
        <p:spPr>
          <a:xfrm>
            <a:off x="441960" y="4069080"/>
            <a:ext cx="1130808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0FDA20-D5CD-3B7A-2442-6909473C10A9}"/>
              </a:ext>
            </a:extLst>
          </p:cNvPr>
          <p:cNvSpPr txBox="1"/>
          <p:nvPr/>
        </p:nvSpPr>
        <p:spPr>
          <a:xfrm>
            <a:off x="624840" y="416814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Caliper QC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A3EC216-AAC1-548E-DB98-84DEC10A3153}"/>
              </a:ext>
            </a:extLst>
          </p:cNvPr>
          <p:cNvCxnSpPr/>
          <p:nvPr/>
        </p:nvCxnSpPr>
        <p:spPr>
          <a:xfrm>
            <a:off x="2286000" y="4343400"/>
            <a:ext cx="4572000" cy="0"/>
          </a:xfrm>
          <a:prstGeom prst="straightConnector1">
            <a:avLst/>
          </a:prstGeom>
          <a:ln w="95250">
            <a:solidFill>
              <a:srgbClr val="DC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F461C4C-B320-A53F-B3D5-006DDF719355}"/>
              </a:ext>
            </a:extLst>
          </p:cNvPr>
          <p:cNvCxnSpPr/>
          <p:nvPr/>
        </p:nvCxnSpPr>
        <p:spPr>
          <a:xfrm>
            <a:off x="2286000" y="4343400"/>
            <a:ext cx="1143000" cy="0"/>
          </a:xfrm>
          <a:prstGeom prst="straightConnector1">
            <a:avLst/>
          </a:prstGeom>
          <a:ln w="104140">
            <a:solidFill>
              <a:srgbClr val="E0A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116F9397-3AA6-4D54-BE60-91FFD630BE3C}"/>
              </a:ext>
            </a:extLst>
          </p:cNvPr>
          <p:cNvSpPr/>
          <p:nvPr/>
        </p:nvSpPr>
        <p:spPr>
          <a:xfrm rot="5400000">
            <a:off x="3413760" y="4251960"/>
            <a:ext cx="182880" cy="182880"/>
          </a:xfrm>
          <a:prstGeom prst="triangle">
            <a:avLst/>
          </a:prstGeom>
          <a:solidFill>
            <a:srgbClr val="E0A12D"/>
          </a:solidFill>
          <a:ln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DD67CF5-DC43-C78E-2BC6-AA59515C4895}"/>
              </a:ext>
            </a:extLst>
          </p:cNvPr>
          <p:cNvCxnSpPr/>
          <p:nvPr/>
        </p:nvCxnSpPr>
        <p:spPr>
          <a:xfrm>
            <a:off x="2286000" y="4251960"/>
            <a:ext cx="0" cy="182880"/>
          </a:xfrm>
          <a:prstGeom prst="straightConnector1">
            <a:avLst/>
          </a:prstGeom>
          <a:ln w="25400">
            <a:solidFill>
              <a:srgbClr val="E0A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43659D2-7F79-0D04-6149-9100A230ACE3}"/>
              </a:ext>
            </a:extLst>
          </p:cNvPr>
          <p:cNvSpPr txBox="1"/>
          <p:nvPr/>
        </p:nvSpPr>
        <p:spPr>
          <a:xfrm>
            <a:off x="2286000" y="413766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in gauge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BF5D33-B2CA-2BEC-B7F1-8C2BBAF2A911}"/>
              </a:ext>
            </a:extLst>
          </p:cNvPr>
          <p:cNvSpPr txBox="1"/>
          <p:nvPr/>
        </p:nvSpPr>
        <p:spPr>
          <a:xfrm>
            <a:off x="5715000" y="413766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washout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52990F-BDBC-F441-0D9B-A636446DEB23}"/>
              </a:ext>
            </a:extLst>
          </p:cNvPr>
          <p:cNvSpPr txBox="1"/>
          <p:nvPr/>
        </p:nvSpPr>
        <p:spPr>
          <a:xfrm>
            <a:off x="7056120" y="4130040"/>
            <a:ext cx="990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E0A12D"/>
                </a:solidFill>
                <a:latin typeface="Arial" panose="020B0604020202020204" pitchFamily="34" charset="0"/>
              </a:rPr>
              <a:t>trust gate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66FF1F-9967-F945-6114-4D89FE194F16}"/>
              </a:ext>
            </a:extLst>
          </p:cNvPr>
          <p:cNvSpPr txBox="1"/>
          <p:nvPr/>
        </p:nvSpPr>
        <p:spPr>
          <a:xfrm>
            <a:off x="8138160" y="4130040"/>
            <a:ext cx="1219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bad hole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087535-1A95-C8B7-F00A-6E01882F1E6B}"/>
              </a:ext>
            </a:extLst>
          </p:cNvPr>
          <p:cNvSpPr txBox="1"/>
          <p:nvPr/>
        </p:nvSpPr>
        <p:spPr>
          <a:xfrm>
            <a:off x="9410700" y="4130040"/>
            <a:ext cx="1295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tool standoff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6B51B3F-B7F1-0979-F0F7-F473D1471D7D}"/>
              </a:ext>
            </a:extLst>
          </p:cNvPr>
          <p:cNvSpPr/>
          <p:nvPr/>
        </p:nvSpPr>
        <p:spPr>
          <a:xfrm>
            <a:off x="10774680" y="4221480"/>
            <a:ext cx="777240" cy="22860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QC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1A0BF66-DBE0-EB43-31C2-76448CDEC42A}"/>
              </a:ext>
            </a:extLst>
          </p:cNvPr>
          <p:cNvSpPr/>
          <p:nvPr/>
        </p:nvSpPr>
        <p:spPr>
          <a:xfrm>
            <a:off x="441960" y="4648200"/>
            <a:ext cx="1130808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A72A37-4D7C-5D86-E426-075DE9912EF6}"/>
              </a:ext>
            </a:extLst>
          </p:cNvPr>
          <p:cNvSpPr txBox="1"/>
          <p:nvPr/>
        </p:nvSpPr>
        <p:spPr>
          <a:xfrm>
            <a:off x="624840" y="474726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Stability context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AA2077F-B982-19CE-B18B-093B80045525}"/>
              </a:ext>
            </a:extLst>
          </p:cNvPr>
          <p:cNvCxnSpPr/>
          <p:nvPr/>
        </p:nvCxnSpPr>
        <p:spPr>
          <a:xfrm>
            <a:off x="2286000" y="4922520"/>
            <a:ext cx="4572000" cy="0"/>
          </a:xfrm>
          <a:prstGeom prst="straightConnector1">
            <a:avLst/>
          </a:prstGeom>
          <a:ln w="95250">
            <a:solidFill>
              <a:srgbClr val="DC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49C49AC-E061-56AF-D65C-C4B64A75ACDC}"/>
              </a:ext>
            </a:extLst>
          </p:cNvPr>
          <p:cNvCxnSpPr/>
          <p:nvPr/>
        </p:nvCxnSpPr>
        <p:spPr>
          <a:xfrm>
            <a:off x="5029200" y="4922520"/>
            <a:ext cx="1828800" cy="0"/>
          </a:xfrm>
          <a:prstGeom prst="straightConnector1">
            <a:avLst/>
          </a:prstGeom>
          <a:ln w="104140">
            <a:solidFill>
              <a:srgbClr val="108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290FAEFB-4AD6-C2F0-E24F-8498F6C553DF}"/>
              </a:ext>
            </a:extLst>
          </p:cNvPr>
          <p:cNvSpPr/>
          <p:nvPr/>
        </p:nvSpPr>
        <p:spPr>
          <a:xfrm rot="5400000">
            <a:off x="6842760" y="4831080"/>
            <a:ext cx="182880" cy="182880"/>
          </a:xfrm>
          <a:prstGeom prst="triangle">
            <a:avLst/>
          </a:prstGeom>
          <a:solidFill>
            <a:srgbClr val="10818F"/>
          </a:solidFill>
          <a:ln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D25F061-8088-DF04-C051-04DB6F3FB145}"/>
              </a:ext>
            </a:extLst>
          </p:cNvPr>
          <p:cNvCxnSpPr/>
          <p:nvPr/>
        </p:nvCxnSpPr>
        <p:spPr>
          <a:xfrm>
            <a:off x="5029200" y="4831080"/>
            <a:ext cx="0" cy="182880"/>
          </a:xfrm>
          <a:prstGeom prst="straightConnector1">
            <a:avLst/>
          </a:prstGeom>
          <a:ln w="25400">
            <a:solidFill>
              <a:srgbClr val="108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5728A8B-715B-B390-5B42-EBADBBACA27A}"/>
              </a:ext>
            </a:extLst>
          </p:cNvPr>
          <p:cNvSpPr txBox="1"/>
          <p:nvPr/>
        </p:nvSpPr>
        <p:spPr>
          <a:xfrm>
            <a:off x="2286000" y="471678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outside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D4015AC-BB91-F451-2A6F-BA8D4E90F127}"/>
              </a:ext>
            </a:extLst>
          </p:cNvPr>
          <p:cNvSpPr txBox="1"/>
          <p:nvPr/>
        </p:nvSpPr>
        <p:spPr>
          <a:xfrm>
            <a:off x="5715000" y="4716780"/>
            <a:ext cx="11430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inside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5F66F4-81D6-E0F4-D13A-553DF6AF8FA6}"/>
              </a:ext>
            </a:extLst>
          </p:cNvPr>
          <p:cNvSpPr txBox="1"/>
          <p:nvPr/>
        </p:nvSpPr>
        <p:spPr>
          <a:xfrm>
            <a:off x="7056120" y="4709160"/>
            <a:ext cx="9906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admissible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1C158C2-AF65-2752-A60E-E876F68331E4}"/>
              </a:ext>
            </a:extLst>
          </p:cNvPr>
          <p:cNvSpPr txBox="1"/>
          <p:nvPr/>
        </p:nvSpPr>
        <p:spPr>
          <a:xfrm>
            <a:off x="8138160" y="4709160"/>
            <a:ext cx="1219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unstable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840373A-02D9-C7D7-B0EC-421F249CAFC6}"/>
              </a:ext>
            </a:extLst>
          </p:cNvPr>
          <p:cNvSpPr txBox="1"/>
          <p:nvPr/>
        </p:nvSpPr>
        <p:spPr>
          <a:xfrm>
            <a:off x="9410700" y="4709160"/>
            <a:ext cx="1295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536770"/>
                </a:solidFill>
                <a:latin typeface="Arial" panose="020B0604020202020204" pitchFamily="34" charset="0"/>
              </a:rPr>
              <a:t>gas/depth/temp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36DD68AE-E57A-6B61-A328-65E927FD6B59}"/>
              </a:ext>
            </a:extLst>
          </p:cNvPr>
          <p:cNvSpPr/>
          <p:nvPr/>
        </p:nvSpPr>
        <p:spPr>
          <a:xfrm>
            <a:off x="10774680" y="4800600"/>
            <a:ext cx="777240" cy="228600"/>
          </a:xfrm>
          <a:prstGeom prst="roundRect">
            <a:avLst/>
          </a:prstGeom>
          <a:solidFill>
            <a:srgbClr val="E0F8FA"/>
          </a:solidFill>
          <a:ln w="10160">
            <a:solidFill>
              <a:srgbClr val="E0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10818F"/>
                </a:solidFill>
                <a:latin typeface="Arial" panose="020B0604020202020204" pitchFamily="34" charset="0"/>
              </a:rPr>
              <a:t>context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A2AA0C14-B43B-5B4C-60B9-1F074EA47BCE}"/>
              </a:ext>
            </a:extLst>
          </p:cNvPr>
          <p:cNvSpPr/>
          <p:nvPr/>
        </p:nvSpPr>
        <p:spPr>
          <a:xfrm>
            <a:off x="441960" y="5227320"/>
            <a:ext cx="11308080" cy="5334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CDA568C-0AD8-8816-60E4-45592C1A7EF1}"/>
              </a:ext>
            </a:extLst>
          </p:cNvPr>
          <p:cNvSpPr txBox="1"/>
          <p:nvPr/>
        </p:nvSpPr>
        <p:spPr>
          <a:xfrm>
            <a:off x="624840" y="532638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D9373A"/>
                </a:solidFill>
                <a:latin typeface="Arial" panose="020B0604020202020204" pitchFamily="34" charset="0"/>
              </a:rPr>
              <a:t>Occurrence / saturation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57D9AFC-7C90-4F83-28A6-78F93ADD25C3}"/>
              </a:ext>
            </a:extLst>
          </p:cNvPr>
          <p:cNvSpPr txBox="1"/>
          <p:nvPr/>
        </p:nvSpPr>
        <p:spPr>
          <a:xfrm>
            <a:off x="2270760" y="5341620"/>
            <a:ext cx="1447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D9373A"/>
                </a:solidFill>
                <a:latin typeface="Arial" panose="020B0604020202020204" pitchFamily="34" charset="0"/>
              </a:rPr>
              <a:t>Y-only target rail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1DD6345-32BB-0886-ADEB-6A62ED150256}"/>
              </a:ext>
            </a:extLst>
          </p:cNvPr>
          <p:cNvSpPr txBox="1"/>
          <p:nvPr/>
        </p:nvSpPr>
        <p:spPr>
          <a:xfrm>
            <a:off x="3962400" y="5341620"/>
            <a:ext cx="46482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Labels supervise training and validation, but never enter X_allowed.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107C673-A18B-8108-B7C7-16D7DB9C7B8D}"/>
              </a:ext>
            </a:extLst>
          </p:cNvPr>
          <p:cNvSpPr/>
          <p:nvPr/>
        </p:nvSpPr>
        <p:spPr>
          <a:xfrm>
            <a:off x="9601200" y="5364480"/>
            <a:ext cx="1790700" cy="228600"/>
          </a:xfrm>
          <a:prstGeom prst="roundRect">
            <a:avLst/>
          </a:prstGeom>
          <a:solidFill>
            <a:srgbClr val="FFEFEF"/>
          </a:solidFill>
          <a:ln w="10160">
            <a:solidFill>
              <a:srgbClr val="FFE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D9373A"/>
                </a:solidFill>
                <a:latin typeface="Arial" panose="020B0604020202020204" pitchFamily="34" charset="0"/>
              </a:rPr>
              <a:t>Y-only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076E0C9-7E1A-60EA-0546-72E6A8574E44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C664B2-09EE-632F-EFB9-BA463943D0C4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Source: data/public_ml_products/public_parameter_evidence_registry_2026-06-16.csv. Ranges are working envelopes unless source-locked; none prove hydrate.</a:t>
            </a:r>
          </a:p>
        </p:txBody>
      </p:sp>
    </p:spTree>
    <p:extLst>
      <p:ext uri="{BB962C8B-B14F-4D97-AF65-F5344CB8AC3E}">
        <p14:creationId xmlns:p14="http://schemas.microsoft.com/office/powerpoint/2010/main" val="216527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19D4F-7711-D71A-A0F4-DB5DC1EB1A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C7AD3C-35B7-FE5F-F667-11777FE8725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D50CA-923F-FC07-0ABA-5F9AD64F14CC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Four-Well Workflow: Audience Version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F0C9A-27FF-E45E-D216-61A27F0AF413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The full architecture is reduced to editable steps: source intake, QC, leakage guardrails, model path, validation, and reviewed outputs.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96638A-64DA-261E-95F5-1D891F992E79}"/>
              </a:ext>
            </a:extLst>
          </p:cNvPr>
          <p:cNvSpPr/>
          <p:nvPr/>
        </p:nvSpPr>
        <p:spPr>
          <a:xfrm>
            <a:off x="457200" y="1104900"/>
            <a:ext cx="11277600" cy="20955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382A8-8B9C-5F4C-D7AD-409A17DD070D}"/>
              </a:ext>
            </a:extLst>
          </p:cNvPr>
          <p:cNvSpPr txBox="1"/>
          <p:nvPr/>
        </p:nvSpPr>
        <p:spPr>
          <a:xfrm>
            <a:off x="655320" y="1264920"/>
            <a:ext cx="3429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10818F"/>
                </a:solidFill>
                <a:latin typeface="Arial" panose="020B0604020202020204" pitchFamily="34" charset="0"/>
              </a:rPr>
              <a:t>Editable main flow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F559AB-16A1-DDE2-64FA-43109B4DEE1F}"/>
              </a:ext>
            </a:extLst>
          </p:cNvPr>
          <p:cNvSpPr/>
          <p:nvPr/>
        </p:nvSpPr>
        <p:spPr>
          <a:xfrm>
            <a:off x="640080" y="1600200"/>
            <a:ext cx="1661160" cy="121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A050CE-F025-3910-0709-33DCCF902E81}"/>
              </a:ext>
            </a:extLst>
          </p:cNvPr>
          <p:cNvSpPr/>
          <p:nvPr/>
        </p:nvSpPr>
        <p:spPr>
          <a:xfrm>
            <a:off x="754380" y="1722120"/>
            <a:ext cx="259080" cy="25908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5AB1C-EFF6-BC09-BF1F-24142713AF30}"/>
              </a:ext>
            </a:extLst>
          </p:cNvPr>
          <p:cNvSpPr txBox="1"/>
          <p:nvPr/>
        </p:nvSpPr>
        <p:spPr>
          <a:xfrm>
            <a:off x="1097280" y="1699260"/>
            <a:ext cx="990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10818F"/>
                </a:solidFill>
                <a:latin typeface="Arial" panose="020B0604020202020204" pitchFamily="34" charset="0"/>
              </a:rPr>
              <a:t>Inputs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1D2C8D-D364-9028-F26E-C15961EA4597}"/>
              </a:ext>
            </a:extLst>
          </p:cNvPr>
          <p:cNvSpPr txBox="1"/>
          <p:nvPr/>
        </p:nvSpPr>
        <p:spPr>
          <a:xfrm>
            <a:off x="777240" y="2103120"/>
            <a:ext cx="1371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approved logs + core/NMR + lithology + public GIS context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FEA80D-1362-CDCA-17C8-0E1C40F4233E}"/>
              </a:ext>
            </a:extLst>
          </p:cNvPr>
          <p:cNvCxnSpPr/>
          <p:nvPr/>
        </p:nvCxnSpPr>
        <p:spPr>
          <a:xfrm>
            <a:off x="2331720" y="2209800"/>
            <a:ext cx="152400" cy="0"/>
          </a:xfrm>
          <a:prstGeom prst="straightConnector1">
            <a:avLst/>
          </a:prstGeom>
          <a:ln w="25400">
            <a:solidFill>
              <a:srgbClr val="5367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9962D7-35ED-D266-EF49-DD51096E881F}"/>
              </a:ext>
            </a:extLst>
          </p:cNvPr>
          <p:cNvSpPr/>
          <p:nvPr/>
        </p:nvSpPr>
        <p:spPr>
          <a:xfrm>
            <a:off x="2499360" y="1600200"/>
            <a:ext cx="1661160" cy="121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F9570C-2D74-F1DC-24A9-A534849671F5}"/>
              </a:ext>
            </a:extLst>
          </p:cNvPr>
          <p:cNvSpPr/>
          <p:nvPr/>
        </p:nvSpPr>
        <p:spPr>
          <a:xfrm>
            <a:off x="2613660" y="1722120"/>
            <a:ext cx="259080" cy="259080"/>
          </a:xfrm>
          <a:prstGeom prst="ellipse">
            <a:avLst/>
          </a:prstGeom>
          <a:solidFill>
            <a:srgbClr val="3786CF"/>
          </a:solidFill>
          <a:ln w="1270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ADE47D-CFB2-F4CF-FBFF-2BD1E1F7A861}"/>
              </a:ext>
            </a:extLst>
          </p:cNvPr>
          <p:cNvSpPr txBox="1"/>
          <p:nvPr/>
        </p:nvSpPr>
        <p:spPr>
          <a:xfrm>
            <a:off x="2956560" y="1699260"/>
            <a:ext cx="990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3786CF"/>
                </a:solidFill>
                <a:latin typeface="Arial" panose="020B0604020202020204" pitchFamily="34" charset="0"/>
              </a:rPr>
              <a:t>Prepare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D99623-039A-73F4-7D11-7BCE841FC75D}"/>
              </a:ext>
            </a:extLst>
          </p:cNvPr>
          <p:cNvSpPr txBox="1"/>
          <p:nvPr/>
        </p:nvSpPr>
        <p:spPr>
          <a:xfrm>
            <a:off x="2636520" y="2103120"/>
            <a:ext cx="1371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preserve headers, units, depth axis, and missingness flags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2DC3CA-83F5-8C49-D440-A257B92216E2}"/>
              </a:ext>
            </a:extLst>
          </p:cNvPr>
          <p:cNvCxnSpPr/>
          <p:nvPr/>
        </p:nvCxnSpPr>
        <p:spPr>
          <a:xfrm>
            <a:off x="4191000" y="2209800"/>
            <a:ext cx="152400" cy="0"/>
          </a:xfrm>
          <a:prstGeom prst="straightConnector1">
            <a:avLst/>
          </a:prstGeom>
          <a:ln w="25400">
            <a:solidFill>
              <a:srgbClr val="5367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478805-F8D6-E46E-C6E7-45EE6258BF33}"/>
              </a:ext>
            </a:extLst>
          </p:cNvPr>
          <p:cNvSpPr/>
          <p:nvPr/>
        </p:nvSpPr>
        <p:spPr>
          <a:xfrm>
            <a:off x="4358640" y="1600200"/>
            <a:ext cx="1661160" cy="121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4373AE-FD99-0AA9-B101-544B13BFBE94}"/>
              </a:ext>
            </a:extLst>
          </p:cNvPr>
          <p:cNvSpPr/>
          <p:nvPr/>
        </p:nvSpPr>
        <p:spPr>
          <a:xfrm>
            <a:off x="4472940" y="1722120"/>
            <a:ext cx="259080" cy="25908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1E854E-A833-BC8C-3831-9319D4355051}"/>
              </a:ext>
            </a:extLst>
          </p:cNvPr>
          <p:cNvSpPr txBox="1"/>
          <p:nvPr/>
        </p:nvSpPr>
        <p:spPr>
          <a:xfrm>
            <a:off x="4815840" y="1699260"/>
            <a:ext cx="990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D9373A"/>
                </a:solidFill>
                <a:latin typeface="Arial" panose="020B0604020202020204" pitchFamily="34" charset="0"/>
              </a:rPr>
              <a:t>Leakage barrier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DB94F0-A7A0-5A0A-55D4-877670BA410C}"/>
              </a:ext>
            </a:extLst>
          </p:cNvPr>
          <p:cNvSpPr txBox="1"/>
          <p:nvPr/>
        </p:nvSpPr>
        <p:spPr>
          <a:xfrm>
            <a:off x="4495800" y="2103120"/>
            <a:ext cx="1371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remove saturation and occurrence labels from predictors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71205B-6C5B-E6C3-1DC5-12168129ACF1}"/>
              </a:ext>
            </a:extLst>
          </p:cNvPr>
          <p:cNvCxnSpPr/>
          <p:nvPr/>
        </p:nvCxnSpPr>
        <p:spPr>
          <a:xfrm>
            <a:off x="6050280" y="2209800"/>
            <a:ext cx="152400" cy="0"/>
          </a:xfrm>
          <a:prstGeom prst="straightConnector1">
            <a:avLst/>
          </a:prstGeom>
          <a:ln w="25400">
            <a:solidFill>
              <a:srgbClr val="5367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10C79E8-AD31-0E82-A379-B3E4FC4E6FE9}"/>
              </a:ext>
            </a:extLst>
          </p:cNvPr>
          <p:cNvSpPr/>
          <p:nvPr/>
        </p:nvSpPr>
        <p:spPr>
          <a:xfrm>
            <a:off x="6217920" y="1600200"/>
            <a:ext cx="1661160" cy="121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DA6C036-C2B2-631F-4AC1-6DEA625D0840}"/>
              </a:ext>
            </a:extLst>
          </p:cNvPr>
          <p:cNvSpPr/>
          <p:nvPr/>
        </p:nvSpPr>
        <p:spPr>
          <a:xfrm>
            <a:off x="6332220" y="1722120"/>
            <a:ext cx="259080" cy="259080"/>
          </a:xfrm>
          <a:prstGeom prst="ellipse">
            <a:avLst/>
          </a:prstGeom>
          <a:solidFill>
            <a:srgbClr val="705FC3"/>
          </a:solidFill>
          <a:ln w="1270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1DF39E-7CA5-CD08-843A-D07153E09CC7}"/>
              </a:ext>
            </a:extLst>
          </p:cNvPr>
          <p:cNvSpPr txBox="1"/>
          <p:nvPr/>
        </p:nvSpPr>
        <p:spPr>
          <a:xfrm>
            <a:off x="6675120" y="1699260"/>
            <a:ext cx="990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705FC3"/>
                </a:solidFill>
                <a:latin typeface="Arial" panose="020B0604020202020204" pitchFamily="34" charset="0"/>
              </a:rPr>
              <a:t>Model path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2DCB37-4968-515A-4BD2-DB47A33C21DA}"/>
              </a:ext>
            </a:extLst>
          </p:cNvPr>
          <p:cNvSpPr txBox="1"/>
          <p:nvPr/>
        </p:nvSpPr>
        <p:spPr>
          <a:xfrm>
            <a:off x="6355080" y="2103120"/>
            <a:ext cx="1371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occurrence and saturation stay linked but separate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A9747A-8CCE-65F3-7DAC-C98720F5C90A}"/>
              </a:ext>
            </a:extLst>
          </p:cNvPr>
          <p:cNvCxnSpPr/>
          <p:nvPr/>
        </p:nvCxnSpPr>
        <p:spPr>
          <a:xfrm>
            <a:off x="7909560" y="2209800"/>
            <a:ext cx="152400" cy="0"/>
          </a:xfrm>
          <a:prstGeom prst="straightConnector1">
            <a:avLst/>
          </a:prstGeom>
          <a:ln w="25400">
            <a:solidFill>
              <a:srgbClr val="5367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AD1EEB-5FD6-B06C-BCA8-FF89AE703539}"/>
              </a:ext>
            </a:extLst>
          </p:cNvPr>
          <p:cNvSpPr/>
          <p:nvPr/>
        </p:nvSpPr>
        <p:spPr>
          <a:xfrm>
            <a:off x="8077200" y="1600200"/>
            <a:ext cx="1661160" cy="121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5ABF1E-FD23-4E5F-E31B-EEA30635441F}"/>
              </a:ext>
            </a:extLst>
          </p:cNvPr>
          <p:cNvSpPr/>
          <p:nvPr/>
        </p:nvSpPr>
        <p:spPr>
          <a:xfrm>
            <a:off x="8191500" y="1722120"/>
            <a:ext cx="259080" cy="259080"/>
          </a:xfrm>
          <a:prstGeom prst="ellipse">
            <a:avLst/>
          </a:prstGeom>
          <a:solidFill>
            <a:srgbClr val="239E70"/>
          </a:solidFill>
          <a:ln w="1270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B9773E-784E-7347-8B94-C6F48557DD3B}"/>
              </a:ext>
            </a:extLst>
          </p:cNvPr>
          <p:cNvSpPr txBox="1"/>
          <p:nvPr/>
        </p:nvSpPr>
        <p:spPr>
          <a:xfrm>
            <a:off x="8534400" y="1699260"/>
            <a:ext cx="990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239E70"/>
                </a:solidFill>
                <a:latin typeface="Arial" panose="020B0604020202020204" pitchFamily="34" charset="0"/>
              </a:rPr>
              <a:t>Validate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EB8A9A-53A3-369D-1E66-DE276EA4BF69}"/>
              </a:ext>
            </a:extLst>
          </p:cNvPr>
          <p:cNvSpPr txBox="1"/>
          <p:nvPr/>
        </p:nvSpPr>
        <p:spPr>
          <a:xfrm>
            <a:off x="8214360" y="2103120"/>
            <a:ext cx="1371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whole-well or geography-aware split before metrics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2148CC-C75D-5FE2-5894-B00381775803}"/>
              </a:ext>
            </a:extLst>
          </p:cNvPr>
          <p:cNvCxnSpPr/>
          <p:nvPr/>
        </p:nvCxnSpPr>
        <p:spPr>
          <a:xfrm>
            <a:off x="9768840" y="2209800"/>
            <a:ext cx="152400" cy="0"/>
          </a:xfrm>
          <a:prstGeom prst="straightConnector1">
            <a:avLst/>
          </a:prstGeom>
          <a:ln w="25400">
            <a:solidFill>
              <a:srgbClr val="5367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D0F28DD-0205-E147-B4F3-652BB42F7AA2}"/>
              </a:ext>
            </a:extLst>
          </p:cNvPr>
          <p:cNvSpPr/>
          <p:nvPr/>
        </p:nvSpPr>
        <p:spPr>
          <a:xfrm>
            <a:off x="9936480" y="1600200"/>
            <a:ext cx="1661160" cy="121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A128FF2-7FEC-D273-810E-13D992E7EEE4}"/>
              </a:ext>
            </a:extLst>
          </p:cNvPr>
          <p:cNvSpPr/>
          <p:nvPr/>
        </p:nvSpPr>
        <p:spPr>
          <a:xfrm>
            <a:off x="10050780" y="1722120"/>
            <a:ext cx="259081" cy="259080"/>
          </a:xfrm>
          <a:prstGeom prst="ellipse">
            <a:avLst/>
          </a:prstGeom>
          <a:solidFill>
            <a:srgbClr val="E0A12D"/>
          </a:solidFill>
          <a:ln w="1270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D2E51A-5CDF-7519-DD41-2C48AA6861BD}"/>
              </a:ext>
            </a:extLst>
          </p:cNvPr>
          <p:cNvSpPr txBox="1"/>
          <p:nvPr/>
        </p:nvSpPr>
        <p:spPr>
          <a:xfrm>
            <a:off x="10393680" y="1699260"/>
            <a:ext cx="990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E0A12D"/>
                </a:solidFill>
                <a:latin typeface="Arial" panose="020B0604020202020204" pitchFamily="34" charset="0"/>
              </a:rPr>
              <a:t>Review outputs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F0113E-C288-7C7C-B3E1-250556E5131D}"/>
              </a:ext>
            </a:extLst>
          </p:cNvPr>
          <p:cNvSpPr txBox="1"/>
          <p:nvPr/>
        </p:nvSpPr>
        <p:spPr>
          <a:xfrm>
            <a:off x="10073640" y="2103120"/>
            <a:ext cx="1371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figures, uncertainty, maps, and manuscript exports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31107F-0325-A7A7-AD8F-F31A6FDA0459}"/>
              </a:ext>
            </a:extLst>
          </p:cNvPr>
          <p:cNvSpPr/>
          <p:nvPr/>
        </p:nvSpPr>
        <p:spPr>
          <a:xfrm>
            <a:off x="457200" y="3581400"/>
            <a:ext cx="3505200" cy="2324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93C45-06D6-4A5C-5A21-9A233F82C60B}"/>
              </a:ext>
            </a:extLst>
          </p:cNvPr>
          <p:cNvSpPr txBox="1"/>
          <p:nvPr/>
        </p:nvSpPr>
        <p:spPr>
          <a:xfrm>
            <a:off x="685800" y="3794760"/>
            <a:ext cx="28956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10818F"/>
                </a:solidFill>
                <a:latin typeface="Arial" panose="020B0604020202020204" pitchFamily="34" charset="0"/>
              </a:rPr>
              <a:t>What is collapsed from the full diagram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7D9FCB3-3C99-F9F8-CAB7-98BD56D73F9E}"/>
              </a:ext>
            </a:extLst>
          </p:cNvPr>
          <p:cNvSpPr/>
          <p:nvPr/>
        </p:nvSpPr>
        <p:spPr>
          <a:xfrm>
            <a:off x="701040" y="4229100"/>
            <a:ext cx="106680" cy="10668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BF943B-7FFC-7080-E15B-185B5E67A0F4}"/>
              </a:ext>
            </a:extLst>
          </p:cNvPr>
          <p:cNvSpPr txBox="1"/>
          <p:nvPr/>
        </p:nvSpPr>
        <p:spPr>
          <a:xfrm>
            <a:off x="929640" y="4191000"/>
            <a:ext cx="25146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source library and workbook intake detail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1F9561-9881-8CB8-D255-C8F857AF77FF}"/>
              </a:ext>
            </a:extLst>
          </p:cNvPr>
          <p:cNvSpPr/>
          <p:nvPr/>
        </p:nvSpPr>
        <p:spPr>
          <a:xfrm>
            <a:off x="701040" y="4579620"/>
            <a:ext cx="106680" cy="10668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024ED1-413E-3403-5786-1AA569AC7902}"/>
              </a:ext>
            </a:extLst>
          </p:cNvPr>
          <p:cNvSpPr txBox="1"/>
          <p:nvPr/>
        </p:nvSpPr>
        <p:spPr>
          <a:xfrm>
            <a:off x="929640" y="4541520"/>
            <a:ext cx="25146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schema mapping and unit normalization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042CE8-8DDA-5D50-3F3C-6D9C67A449F0}"/>
              </a:ext>
            </a:extLst>
          </p:cNvPr>
          <p:cNvSpPr/>
          <p:nvPr/>
        </p:nvSpPr>
        <p:spPr>
          <a:xfrm>
            <a:off x="701040" y="4930140"/>
            <a:ext cx="106680" cy="10668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702C05-EC0C-25A6-23A3-E6F0998353B1}"/>
              </a:ext>
            </a:extLst>
          </p:cNvPr>
          <p:cNvSpPr txBox="1"/>
          <p:nvPr/>
        </p:nvSpPr>
        <p:spPr>
          <a:xfrm>
            <a:off x="929640" y="4892040"/>
            <a:ext cx="25146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feature families and runtime branches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297C89B-54F6-0455-0773-C79689A4B37B}"/>
              </a:ext>
            </a:extLst>
          </p:cNvPr>
          <p:cNvSpPr/>
          <p:nvPr/>
        </p:nvSpPr>
        <p:spPr>
          <a:xfrm>
            <a:off x="701040" y="5280660"/>
            <a:ext cx="106680" cy="10668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963EB4-A139-EC0A-C997-C2297D368EDE}"/>
              </a:ext>
            </a:extLst>
          </p:cNvPr>
          <p:cNvSpPr txBox="1"/>
          <p:nvPr/>
        </p:nvSpPr>
        <p:spPr>
          <a:xfrm>
            <a:off x="929640" y="5242560"/>
            <a:ext cx="2514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export packaging for Word, slides, and website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097582D-B17A-F873-4239-B0DEB68A3627}"/>
              </a:ext>
            </a:extLst>
          </p:cNvPr>
          <p:cNvSpPr/>
          <p:nvPr/>
        </p:nvSpPr>
        <p:spPr>
          <a:xfrm>
            <a:off x="4343400" y="3581400"/>
            <a:ext cx="3581400" cy="2324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8E1288-7264-2058-B149-EA9AC54405FF}"/>
              </a:ext>
            </a:extLst>
          </p:cNvPr>
          <p:cNvSpPr txBox="1"/>
          <p:nvPr/>
        </p:nvSpPr>
        <p:spPr>
          <a:xfrm>
            <a:off x="4572000" y="3794760"/>
            <a:ext cx="28956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D9373A"/>
                </a:solidFill>
                <a:latin typeface="Arial" panose="020B0604020202020204" pitchFamily="34" charset="0"/>
              </a:rPr>
              <a:t>What stays out of predictor inputs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801C6F0-BFC6-6A5E-2547-F5349242151E}"/>
              </a:ext>
            </a:extLst>
          </p:cNvPr>
          <p:cNvSpPr/>
          <p:nvPr/>
        </p:nvSpPr>
        <p:spPr>
          <a:xfrm>
            <a:off x="4587240" y="4229100"/>
            <a:ext cx="106680" cy="10668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5E2C54-2B30-FAC5-3230-D805922CC769}"/>
              </a:ext>
            </a:extLst>
          </p:cNvPr>
          <p:cNvSpPr txBox="1"/>
          <p:nvPr/>
        </p:nvSpPr>
        <p:spPr>
          <a:xfrm>
            <a:off x="4815840" y="4191000"/>
            <a:ext cx="2590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hydrate saturation labels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722B27E-584A-F2F3-4A6E-BDAD66CB1A67}"/>
              </a:ext>
            </a:extLst>
          </p:cNvPr>
          <p:cNvSpPr/>
          <p:nvPr/>
        </p:nvSpPr>
        <p:spPr>
          <a:xfrm>
            <a:off x="4587240" y="4579620"/>
            <a:ext cx="106680" cy="10668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18BE37-F7E7-62F7-31A9-3720BA419140}"/>
              </a:ext>
            </a:extLst>
          </p:cNvPr>
          <p:cNvSpPr txBox="1"/>
          <p:nvPr/>
        </p:nvSpPr>
        <p:spPr>
          <a:xfrm>
            <a:off x="4815840" y="4541520"/>
            <a:ext cx="2590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core hydrate observations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074AA69-8CE3-B8C8-7FF2-2A6A24337DDF}"/>
              </a:ext>
            </a:extLst>
          </p:cNvPr>
          <p:cNvSpPr/>
          <p:nvPr/>
        </p:nvSpPr>
        <p:spPr>
          <a:xfrm>
            <a:off x="4587240" y="4930140"/>
            <a:ext cx="106680" cy="10668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3DEFDC-9BC5-D359-38DF-6FE9D9AEEDFA}"/>
              </a:ext>
            </a:extLst>
          </p:cNvPr>
          <p:cNvSpPr txBox="1"/>
          <p:nvPr/>
        </p:nvSpPr>
        <p:spPr>
          <a:xfrm>
            <a:off x="4815840" y="4892040"/>
            <a:ext cx="2590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pressure-core saturation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79C0FA6-0169-9B2D-F2AB-4E0A458520C3}"/>
              </a:ext>
            </a:extLst>
          </p:cNvPr>
          <p:cNvSpPr/>
          <p:nvPr/>
        </p:nvSpPr>
        <p:spPr>
          <a:xfrm>
            <a:off x="4587240" y="5280660"/>
            <a:ext cx="106680" cy="10668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F8D845-104F-48D5-F2C2-40D903C22294}"/>
              </a:ext>
            </a:extLst>
          </p:cNvPr>
          <p:cNvSpPr txBox="1"/>
          <p:nvPr/>
        </p:nvSpPr>
        <p:spPr>
          <a:xfrm>
            <a:off x="4815840" y="5242560"/>
            <a:ext cx="25908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occurrence labels and final interpretations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07E0743-262A-D05F-AEDF-9E08D9AC2951}"/>
              </a:ext>
            </a:extLst>
          </p:cNvPr>
          <p:cNvSpPr/>
          <p:nvPr/>
        </p:nvSpPr>
        <p:spPr>
          <a:xfrm>
            <a:off x="4663440" y="5448300"/>
            <a:ext cx="2941321" cy="29718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653AF0-70DF-7678-15D9-F701F3A8498E}"/>
              </a:ext>
            </a:extLst>
          </p:cNvPr>
          <p:cNvSpPr txBox="1"/>
          <p:nvPr/>
        </p:nvSpPr>
        <p:spPr>
          <a:xfrm>
            <a:off x="4815840" y="5516880"/>
            <a:ext cx="26289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700" b="1">
                <a:solidFill>
                  <a:srgbClr val="D9373A"/>
                </a:solidFill>
                <a:latin typeface="Arial" panose="020B0604020202020204" pitchFamily="34" charset="0"/>
              </a:rPr>
              <a:t>Y-only evidence supports labels, calibration, validation, and review.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DA6FD4D-AB2C-C5CB-590A-8CD03F697098}"/>
              </a:ext>
            </a:extLst>
          </p:cNvPr>
          <p:cNvSpPr/>
          <p:nvPr/>
        </p:nvSpPr>
        <p:spPr>
          <a:xfrm>
            <a:off x="8305800" y="3581400"/>
            <a:ext cx="3429000" cy="2324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74158D-E392-E042-F6DC-043B506D5193}"/>
              </a:ext>
            </a:extLst>
          </p:cNvPr>
          <p:cNvSpPr txBox="1"/>
          <p:nvPr/>
        </p:nvSpPr>
        <p:spPr>
          <a:xfrm>
            <a:off x="8534400" y="3794760"/>
            <a:ext cx="2667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705FC3"/>
                </a:solidFill>
                <a:latin typeface="Arial" panose="020B0604020202020204" pitchFamily="34" charset="0"/>
              </a:rPr>
              <a:t>Two-minute talk-track structure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F7E191C-6B72-4024-835B-D3D6D31BB6A7}"/>
              </a:ext>
            </a:extLst>
          </p:cNvPr>
          <p:cNvSpPr/>
          <p:nvPr/>
        </p:nvSpPr>
        <p:spPr>
          <a:xfrm>
            <a:off x="8549640" y="4229100"/>
            <a:ext cx="106680" cy="106680"/>
          </a:xfrm>
          <a:prstGeom prst="ellipse">
            <a:avLst/>
          </a:prstGeom>
          <a:solidFill>
            <a:srgbClr val="705FC3"/>
          </a:solidFill>
          <a:ln w="1270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F74F9-93AA-375B-06E0-7096EC4FE6CE}"/>
              </a:ext>
            </a:extLst>
          </p:cNvPr>
          <p:cNvSpPr txBox="1"/>
          <p:nvPr/>
        </p:nvSpPr>
        <p:spPr>
          <a:xfrm>
            <a:off x="8778240" y="4191000"/>
            <a:ext cx="25146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Start with what data are allowed.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CB20287-7C83-EE07-8890-08AE964C4E95}"/>
              </a:ext>
            </a:extLst>
          </p:cNvPr>
          <p:cNvSpPr/>
          <p:nvPr/>
        </p:nvSpPr>
        <p:spPr>
          <a:xfrm>
            <a:off x="8549640" y="4579620"/>
            <a:ext cx="106680" cy="106680"/>
          </a:xfrm>
          <a:prstGeom prst="ellipse">
            <a:avLst/>
          </a:prstGeom>
          <a:solidFill>
            <a:srgbClr val="705FC3"/>
          </a:solidFill>
          <a:ln w="1270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0D980C-9226-9493-1CCA-1692083DDE1B}"/>
              </a:ext>
            </a:extLst>
          </p:cNvPr>
          <p:cNvSpPr txBox="1"/>
          <p:nvPr/>
        </p:nvSpPr>
        <p:spPr>
          <a:xfrm>
            <a:off x="8778240" y="4541520"/>
            <a:ext cx="2514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Explain how source names and units survive QC.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41541D5-51AF-EC6D-085D-DE6FD1E7AB01}"/>
              </a:ext>
            </a:extLst>
          </p:cNvPr>
          <p:cNvSpPr/>
          <p:nvPr/>
        </p:nvSpPr>
        <p:spPr>
          <a:xfrm>
            <a:off x="8549640" y="4930140"/>
            <a:ext cx="106680" cy="106680"/>
          </a:xfrm>
          <a:prstGeom prst="ellipse">
            <a:avLst/>
          </a:prstGeom>
          <a:solidFill>
            <a:srgbClr val="705FC3"/>
          </a:solidFill>
          <a:ln w="1270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2DDEC6-FC8C-F740-98BD-3EF90D472F3B}"/>
              </a:ext>
            </a:extLst>
          </p:cNvPr>
          <p:cNvSpPr txBox="1"/>
          <p:nvPr/>
        </p:nvSpPr>
        <p:spPr>
          <a:xfrm>
            <a:off x="8778240" y="4892040"/>
            <a:ext cx="2514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Show why targets are separated from features.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5DFE6AC-EBDC-2FCF-0A5D-7F608AFC0AB4}"/>
              </a:ext>
            </a:extLst>
          </p:cNvPr>
          <p:cNvSpPr/>
          <p:nvPr/>
        </p:nvSpPr>
        <p:spPr>
          <a:xfrm>
            <a:off x="8549640" y="5280660"/>
            <a:ext cx="106680" cy="106680"/>
          </a:xfrm>
          <a:prstGeom prst="ellipse">
            <a:avLst/>
          </a:prstGeom>
          <a:solidFill>
            <a:srgbClr val="705FC3"/>
          </a:solidFill>
          <a:ln w="1270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BBF46C-0157-46F1-1512-F653CB3FC1A7}"/>
              </a:ext>
            </a:extLst>
          </p:cNvPr>
          <p:cNvSpPr txBox="1"/>
          <p:nvPr/>
        </p:nvSpPr>
        <p:spPr>
          <a:xfrm>
            <a:off x="8778240" y="5242560"/>
            <a:ext cx="2514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End with reviewed outputs, not unsupported results.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FB6A083-7B52-3ECD-19A7-0644CAC4E19A}"/>
              </a:ext>
            </a:extLst>
          </p:cNvPr>
          <p:cNvSpPr/>
          <p:nvPr/>
        </p:nvSpPr>
        <p:spPr>
          <a:xfrm>
            <a:off x="457200" y="6134100"/>
            <a:ext cx="11277600" cy="2286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609227-E4E8-7780-E043-18AF32483B4A}"/>
              </a:ext>
            </a:extLst>
          </p:cNvPr>
          <p:cNvSpPr txBox="1"/>
          <p:nvPr/>
        </p:nvSpPr>
        <p:spPr>
          <a:xfrm>
            <a:off x="609600" y="6195060"/>
            <a:ext cx="107442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 b="1">
                <a:solidFill>
                  <a:srgbClr val="0F2230"/>
                </a:solidFill>
                <a:latin typeface="Arial" panose="020B0604020202020204" pitchFamily="34" charset="0"/>
              </a:rPr>
              <a:t>This slide explains process, not final ML performance. Approved runtime outputs are reviewed later against lithology, core/NMR calibration, uncertainty, and false positives.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1858A0D-FA99-B4C4-9DCB-90748DF1CCF3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B958B62-9254-F87D-5EA3-5627A760DBB8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Sources: project revision base, science-to-ML logic ladder, baseline source ledger, and editable rebuild source-of-truth notes.</a:t>
            </a:r>
          </a:p>
        </p:txBody>
      </p:sp>
    </p:spTree>
    <p:extLst>
      <p:ext uri="{BB962C8B-B14F-4D97-AF65-F5344CB8AC3E}">
        <p14:creationId xmlns:p14="http://schemas.microsoft.com/office/powerpoint/2010/main" val="216861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01E1B6-9BDD-5611-272D-89F781E4CF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0A595-98CC-7957-DE09-0D810ADF0B8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76B24-7AFD-8C78-AF5B-0226410F2C2F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Equation Checks For The Four-Well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5699F-4FF1-8D7B-FC10-25159FBD51E1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Large editable checks only: source-backed quantities, real fraction bars, readable words under each symbol, and no result claim.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7A5272-25F3-18DE-4ED4-D6E087580DD6}"/>
              </a:ext>
            </a:extLst>
          </p:cNvPr>
          <p:cNvSpPr/>
          <p:nvPr/>
        </p:nvSpPr>
        <p:spPr>
          <a:xfrm>
            <a:off x="7696200" y="388620"/>
            <a:ext cx="952500" cy="2514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239E70"/>
                </a:solidFill>
                <a:latin typeface="Arial" panose="020B0604020202020204" pitchFamily="34" charset="0"/>
              </a:rPr>
              <a:t>log input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2F847E-FACC-06C9-957F-4E91CCCE4C0E}"/>
              </a:ext>
            </a:extLst>
          </p:cNvPr>
          <p:cNvSpPr/>
          <p:nvPr/>
        </p:nvSpPr>
        <p:spPr>
          <a:xfrm>
            <a:off x="8801100" y="388620"/>
            <a:ext cx="952500" cy="2514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E0A12D"/>
                </a:solidFill>
                <a:latin typeface="Arial" panose="020B0604020202020204" pitchFamily="34" charset="0"/>
              </a:rPr>
              <a:t>core/lab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A831D2-EE85-3C90-3254-64D31E970D47}"/>
              </a:ext>
            </a:extLst>
          </p:cNvPr>
          <p:cNvSpPr/>
          <p:nvPr/>
        </p:nvSpPr>
        <p:spPr>
          <a:xfrm>
            <a:off x="9906000" y="388620"/>
            <a:ext cx="990600" cy="2514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3786CF"/>
                </a:solidFill>
                <a:latin typeface="Arial" panose="020B0604020202020204" pitchFamily="34" charset="0"/>
              </a:rPr>
              <a:t>stability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EDFC39-1CEC-6725-BB8B-A62D0B4F0CA4}"/>
              </a:ext>
            </a:extLst>
          </p:cNvPr>
          <p:cNvSpPr/>
          <p:nvPr/>
        </p:nvSpPr>
        <p:spPr>
          <a:xfrm>
            <a:off x="11049000" y="388620"/>
            <a:ext cx="762000" cy="2514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705FC3"/>
                </a:solidFill>
                <a:latin typeface="Arial" panose="020B0604020202020204" pitchFamily="34" charset="0"/>
              </a:rPr>
              <a:t>check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C44A52-127A-0A46-ACD3-998904DBCE4D}"/>
              </a:ext>
            </a:extLst>
          </p:cNvPr>
          <p:cNvSpPr/>
          <p:nvPr/>
        </p:nvSpPr>
        <p:spPr>
          <a:xfrm>
            <a:off x="457200" y="1104900"/>
            <a:ext cx="3665220" cy="20574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B7D93-06C6-90A8-BB90-1AE4A29EC99B}"/>
              </a:ext>
            </a:extLst>
          </p:cNvPr>
          <p:cNvSpPr/>
          <p:nvPr/>
        </p:nvSpPr>
        <p:spPr>
          <a:xfrm>
            <a:off x="457200" y="1104900"/>
            <a:ext cx="3665220" cy="342900"/>
          </a:xfrm>
          <a:prstGeom prst="rect">
            <a:avLst/>
          </a:prstGeom>
          <a:solidFill>
            <a:srgbClr val="3786CF"/>
          </a:solidFill>
          <a:ln w="635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DEAB1-2444-B99D-F8DC-1724A3233699}"/>
              </a:ext>
            </a:extLst>
          </p:cNvPr>
          <p:cNvSpPr txBox="1"/>
          <p:nvPr/>
        </p:nvSpPr>
        <p:spPr>
          <a:xfrm>
            <a:off x="594360" y="1203960"/>
            <a:ext cx="32766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Hydrostatic pressure-depth relation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FE0EF-D220-D827-DD49-3C6263FCEAD5}"/>
              </a:ext>
            </a:extLst>
          </p:cNvPr>
          <p:cNvSpPr txBox="1"/>
          <p:nvPr/>
        </p:nvSpPr>
        <p:spPr>
          <a:xfrm>
            <a:off x="655320" y="1706880"/>
            <a:ext cx="1905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700" b="1">
                <a:solidFill>
                  <a:srgbClr val="0F2230"/>
                </a:solidFill>
                <a:latin typeface="Arial" panose="020B0604020202020204" pitchFamily="34" charset="0"/>
              </a:rPr>
              <a:t>Pabs(z) = P0 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98C062-27BA-0A14-73ED-408013A6803D}"/>
              </a:ext>
            </a:extLst>
          </p:cNvPr>
          <p:cNvSpPr txBox="1"/>
          <p:nvPr/>
        </p:nvSpPr>
        <p:spPr>
          <a:xfrm>
            <a:off x="2552700" y="1630680"/>
            <a:ext cx="13716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0F2230"/>
                </a:solidFill>
                <a:latin typeface="Arial" panose="020B0604020202020204" pitchFamily="34" charset="0"/>
              </a:rPr>
              <a:t>rho w g z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A11C74-B42C-DD7E-CE3B-7B3741EDA912}"/>
              </a:ext>
            </a:extLst>
          </p:cNvPr>
          <p:cNvCxnSpPr/>
          <p:nvPr/>
        </p:nvCxnSpPr>
        <p:spPr>
          <a:xfrm>
            <a:off x="2651760" y="1920240"/>
            <a:ext cx="1173480" cy="0"/>
          </a:xfrm>
          <a:prstGeom prst="straightConnector1">
            <a:avLst/>
          </a:prstGeom>
          <a:ln w="27940">
            <a:solidFill>
              <a:srgbClr val="0F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E5AC63-09FB-CD53-0D3E-AF13AD2FDFEF}"/>
              </a:ext>
            </a:extLst>
          </p:cNvPr>
          <p:cNvSpPr txBox="1"/>
          <p:nvPr/>
        </p:nvSpPr>
        <p:spPr>
          <a:xfrm>
            <a:off x="2781300" y="1996440"/>
            <a:ext cx="914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0F2230"/>
                </a:solidFill>
                <a:latin typeface="Arial" panose="020B0604020202020204" pitchFamily="34" charset="0"/>
              </a:rPr>
              <a:t>1e6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B5C134-E053-4213-9966-3EA425DAAA70}"/>
              </a:ext>
            </a:extLst>
          </p:cNvPr>
          <p:cNvSpPr txBox="1"/>
          <p:nvPr/>
        </p:nvSpPr>
        <p:spPr>
          <a:xfrm>
            <a:off x="670560" y="2438400"/>
            <a:ext cx="62484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Pabs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98D166-FB5F-C92C-CAEC-E9581E65B5FD}"/>
              </a:ext>
            </a:extLst>
          </p:cNvPr>
          <p:cNvCxnSpPr/>
          <p:nvPr/>
        </p:nvCxnSpPr>
        <p:spPr>
          <a:xfrm>
            <a:off x="731520" y="2644140"/>
            <a:ext cx="502920" cy="0"/>
          </a:xfrm>
          <a:prstGeom prst="straightConnector1">
            <a:avLst/>
          </a:prstGeom>
          <a:ln w="29210">
            <a:solidFill>
              <a:srgbClr val="378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B03397-711C-AE42-66B2-A97473D18E42}"/>
              </a:ext>
            </a:extLst>
          </p:cNvPr>
          <p:cNvSpPr txBox="1"/>
          <p:nvPr/>
        </p:nvSpPr>
        <p:spPr>
          <a:xfrm>
            <a:off x="670560" y="2682240"/>
            <a:ext cx="62484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absolute
pressure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53F962-F48F-A76A-A947-929974142D9B}"/>
              </a:ext>
            </a:extLst>
          </p:cNvPr>
          <p:cNvSpPr txBox="1"/>
          <p:nvPr/>
        </p:nvSpPr>
        <p:spPr>
          <a:xfrm>
            <a:off x="1303020" y="2438400"/>
            <a:ext cx="48768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P0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7284A6-2D01-44BB-DAD8-DE3414B3CA1C}"/>
              </a:ext>
            </a:extLst>
          </p:cNvPr>
          <p:cNvCxnSpPr/>
          <p:nvPr/>
        </p:nvCxnSpPr>
        <p:spPr>
          <a:xfrm>
            <a:off x="1363980" y="2644140"/>
            <a:ext cx="365760" cy="0"/>
          </a:xfrm>
          <a:prstGeom prst="straightConnector1">
            <a:avLst/>
          </a:prstGeom>
          <a:ln w="29210">
            <a:solidFill>
              <a:srgbClr val="378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D29758A-BF74-680A-DFBE-461F1B2E011D}"/>
              </a:ext>
            </a:extLst>
          </p:cNvPr>
          <p:cNvSpPr txBox="1"/>
          <p:nvPr/>
        </p:nvSpPr>
        <p:spPr>
          <a:xfrm>
            <a:off x="1303020" y="2682240"/>
            <a:ext cx="48768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surface
pressure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8F70EF-494D-858C-CDAE-2D59E9D4D4AE}"/>
              </a:ext>
            </a:extLst>
          </p:cNvPr>
          <p:cNvSpPr txBox="1"/>
          <p:nvPr/>
        </p:nvSpPr>
        <p:spPr>
          <a:xfrm>
            <a:off x="1905000" y="2438400"/>
            <a:ext cx="62484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rho w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03F774-4388-D1F8-3B26-B2350A6EE255}"/>
              </a:ext>
            </a:extLst>
          </p:cNvPr>
          <p:cNvCxnSpPr/>
          <p:nvPr/>
        </p:nvCxnSpPr>
        <p:spPr>
          <a:xfrm>
            <a:off x="1965960" y="2644140"/>
            <a:ext cx="502920" cy="0"/>
          </a:xfrm>
          <a:prstGeom prst="straightConnector1">
            <a:avLst/>
          </a:prstGeom>
          <a:ln w="29210">
            <a:solidFill>
              <a:srgbClr val="378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FC2975-E974-3E42-5BAD-2EC07B6D3D4C}"/>
              </a:ext>
            </a:extLst>
          </p:cNvPr>
          <p:cNvSpPr txBox="1"/>
          <p:nvPr/>
        </p:nvSpPr>
        <p:spPr>
          <a:xfrm>
            <a:off x="1905000" y="2682240"/>
            <a:ext cx="62484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fluid
density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9C874F-3BC0-A459-B152-DDBF501EA78C}"/>
              </a:ext>
            </a:extLst>
          </p:cNvPr>
          <p:cNvSpPr txBox="1"/>
          <p:nvPr/>
        </p:nvSpPr>
        <p:spPr>
          <a:xfrm>
            <a:off x="2590800" y="2438400"/>
            <a:ext cx="39624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CF0290-0904-7A6D-12F4-6B817A1198FE}"/>
              </a:ext>
            </a:extLst>
          </p:cNvPr>
          <p:cNvCxnSpPr/>
          <p:nvPr/>
        </p:nvCxnSpPr>
        <p:spPr>
          <a:xfrm>
            <a:off x="2651760" y="2644140"/>
            <a:ext cx="274320" cy="0"/>
          </a:xfrm>
          <a:prstGeom prst="straightConnector1">
            <a:avLst/>
          </a:prstGeom>
          <a:ln w="29210">
            <a:solidFill>
              <a:srgbClr val="378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625C7EB-19B6-86D7-8B33-517B2DFE5A28}"/>
              </a:ext>
            </a:extLst>
          </p:cNvPr>
          <p:cNvSpPr txBox="1"/>
          <p:nvPr/>
        </p:nvSpPr>
        <p:spPr>
          <a:xfrm>
            <a:off x="2590800" y="2682240"/>
            <a:ext cx="39624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gravity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034723-CDE8-F85E-1BF2-3914BF0BDAD1}"/>
              </a:ext>
            </a:extLst>
          </p:cNvPr>
          <p:cNvSpPr txBox="1"/>
          <p:nvPr/>
        </p:nvSpPr>
        <p:spPr>
          <a:xfrm>
            <a:off x="3063240" y="2438400"/>
            <a:ext cx="36576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z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F8B5AF-9F07-5332-FF60-ABA5DB91BE0A}"/>
              </a:ext>
            </a:extLst>
          </p:cNvPr>
          <p:cNvCxnSpPr/>
          <p:nvPr/>
        </p:nvCxnSpPr>
        <p:spPr>
          <a:xfrm>
            <a:off x="3124200" y="2644140"/>
            <a:ext cx="243840" cy="0"/>
          </a:xfrm>
          <a:prstGeom prst="straightConnector1">
            <a:avLst/>
          </a:prstGeom>
          <a:ln w="29210">
            <a:solidFill>
              <a:srgbClr val="378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09505FB-1ACF-500F-77A1-F7FA3BB01CC5}"/>
              </a:ext>
            </a:extLst>
          </p:cNvPr>
          <p:cNvSpPr txBox="1"/>
          <p:nvPr/>
        </p:nvSpPr>
        <p:spPr>
          <a:xfrm>
            <a:off x="3063240" y="2682240"/>
            <a:ext cx="36576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depth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F5B7F0-762C-67B1-E439-F6326D64851D}"/>
              </a:ext>
            </a:extLst>
          </p:cNvPr>
          <p:cNvSpPr txBox="1"/>
          <p:nvPr/>
        </p:nvSpPr>
        <p:spPr>
          <a:xfrm>
            <a:off x="3474720" y="2438400"/>
            <a:ext cx="59436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1e6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7907658-563B-4E0D-58AF-0E8B7AA2B7FB}"/>
              </a:ext>
            </a:extLst>
          </p:cNvPr>
          <p:cNvCxnSpPr/>
          <p:nvPr/>
        </p:nvCxnSpPr>
        <p:spPr>
          <a:xfrm>
            <a:off x="3535680" y="2644140"/>
            <a:ext cx="472440" cy="0"/>
          </a:xfrm>
          <a:prstGeom prst="straightConnector1">
            <a:avLst/>
          </a:prstGeom>
          <a:ln w="2921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94E53E4-31E3-FBCD-BC56-2E89BA9E2057}"/>
              </a:ext>
            </a:extLst>
          </p:cNvPr>
          <p:cNvSpPr txBox="1"/>
          <p:nvPr/>
        </p:nvSpPr>
        <p:spPr>
          <a:xfrm>
            <a:off x="3474720" y="2682240"/>
            <a:ext cx="59436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Pa to MPa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0A91EAE-589F-9477-C754-5BAC1D737787}"/>
              </a:ext>
            </a:extLst>
          </p:cNvPr>
          <p:cNvSpPr/>
          <p:nvPr/>
        </p:nvSpPr>
        <p:spPr>
          <a:xfrm>
            <a:off x="4343400" y="1104900"/>
            <a:ext cx="3398520" cy="20574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B39E7B-B6CC-FA78-00E8-ADA3CD9E8EAC}"/>
              </a:ext>
            </a:extLst>
          </p:cNvPr>
          <p:cNvSpPr/>
          <p:nvPr/>
        </p:nvSpPr>
        <p:spPr>
          <a:xfrm>
            <a:off x="4343400" y="1104900"/>
            <a:ext cx="3398520" cy="342900"/>
          </a:xfrm>
          <a:prstGeom prst="rect">
            <a:avLst/>
          </a:prstGeom>
          <a:solidFill>
            <a:srgbClr val="239E70"/>
          </a:solidFill>
          <a:ln w="635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4A3262-3FCA-3CAE-FA11-A7DB7502EFE2}"/>
              </a:ext>
            </a:extLst>
          </p:cNvPr>
          <p:cNvSpPr txBox="1"/>
          <p:nvPr/>
        </p:nvSpPr>
        <p:spPr>
          <a:xfrm>
            <a:off x="4480560" y="1203960"/>
            <a:ext cx="1905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Velocity ratio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048658-E2A8-F4E5-3245-DF8B99F426B8}"/>
              </a:ext>
            </a:extLst>
          </p:cNvPr>
          <p:cNvSpPr txBox="1"/>
          <p:nvPr/>
        </p:nvSpPr>
        <p:spPr>
          <a:xfrm>
            <a:off x="4838700" y="1752600"/>
            <a:ext cx="990600" cy="6976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100" b="1">
                <a:solidFill>
                  <a:srgbClr val="0F2230"/>
                </a:solidFill>
                <a:latin typeface="Arial" panose="020B0604020202020204" pitchFamily="34" charset="0"/>
              </a:rPr>
              <a:t>VpVs =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AA06F7-8BE5-B7F9-F49C-44D7FB122D9E}"/>
              </a:ext>
            </a:extLst>
          </p:cNvPr>
          <p:cNvSpPr txBox="1"/>
          <p:nvPr/>
        </p:nvSpPr>
        <p:spPr>
          <a:xfrm>
            <a:off x="6019800" y="1577340"/>
            <a:ext cx="73152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100" b="1">
                <a:solidFill>
                  <a:srgbClr val="0F2230"/>
                </a:solidFill>
                <a:latin typeface="Arial" panose="020B0604020202020204" pitchFamily="34" charset="0"/>
              </a:rPr>
              <a:t>Vp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F47DCA-7F6B-C7C3-7154-EE19BC088020}"/>
              </a:ext>
            </a:extLst>
          </p:cNvPr>
          <p:cNvCxnSpPr/>
          <p:nvPr/>
        </p:nvCxnSpPr>
        <p:spPr>
          <a:xfrm>
            <a:off x="6019800" y="1920240"/>
            <a:ext cx="731520" cy="0"/>
          </a:xfrm>
          <a:prstGeom prst="straightConnector1">
            <a:avLst/>
          </a:prstGeom>
          <a:ln w="27940">
            <a:solidFill>
              <a:srgbClr val="0F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B1F22E6-4771-120E-B7E6-48D9DBED11A4}"/>
              </a:ext>
            </a:extLst>
          </p:cNvPr>
          <p:cNvSpPr txBox="1"/>
          <p:nvPr/>
        </p:nvSpPr>
        <p:spPr>
          <a:xfrm>
            <a:off x="6019800" y="1981200"/>
            <a:ext cx="73152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100" b="1">
                <a:solidFill>
                  <a:srgbClr val="0F2230"/>
                </a:solidFill>
                <a:latin typeface="Arial" panose="020B0604020202020204" pitchFamily="34" charset="0"/>
              </a:rPr>
              <a:t>Vs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2E5465-F632-69B8-972C-878E0B2831D0}"/>
              </a:ext>
            </a:extLst>
          </p:cNvPr>
          <p:cNvSpPr txBox="1"/>
          <p:nvPr/>
        </p:nvSpPr>
        <p:spPr>
          <a:xfrm>
            <a:off x="4762500" y="2438400"/>
            <a:ext cx="685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VpVs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B0CA75-DA1E-C5C0-EC12-8401E561E468}"/>
              </a:ext>
            </a:extLst>
          </p:cNvPr>
          <p:cNvCxnSpPr/>
          <p:nvPr/>
        </p:nvCxnSpPr>
        <p:spPr>
          <a:xfrm>
            <a:off x="4823460" y="2644140"/>
            <a:ext cx="563880" cy="0"/>
          </a:xfrm>
          <a:prstGeom prst="straightConnector1">
            <a:avLst/>
          </a:prstGeom>
          <a:ln w="2921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786602F-FFEF-E794-B735-DDC776374246}"/>
              </a:ext>
            </a:extLst>
          </p:cNvPr>
          <p:cNvSpPr txBox="1"/>
          <p:nvPr/>
        </p:nvSpPr>
        <p:spPr>
          <a:xfrm>
            <a:off x="4762500" y="2682240"/>
            <a:ext cx="685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velocity
ratio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4AF78-2AF1-A934-D3AD-F5E954ED3F8F}"/>
              </a:ext>
            </a:extLst>
          </p:cNvPr>
          <p:cNvSpPr txBox="1"/>
          <p:nvPr/>
        </p:nvSpPr>
        <p:spPr>
          <a:xfrm>
            <a:off x="5753100" y="2438400"/>
            <a:ext cx="7239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Vp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B1D242-2125-2B28-4CE5-950AB3E1FC32}"/>
              </a:ext>
            </a:extLst>
          </p:cNvPr>
          <p:cNvCxnSpPr/>
          <p:nvPr/>
        </p:nvCxnSpPr>
        <p:spPr>
          <a:xfrm>
            <a:off x="5814060" y="2644140"/>
            <a:ext cx="60198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E256E7B-01FD-D31E-6F94-D858CB4F32EF}"/>
              </a:ext>
            </a:extLst>
          </p:cNvPr>
          <p:cNvSpPr txBox="1"/>
          <p:nvPr/>
        </p:nvSpPr>
        <p:spPr>
          <a:xfrm>
            <a:off x="5753100" y="2682240"/>
            <a:ext cx="7239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P wave
velocity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B384DC-0317-1A41-797D-1B9A435B45A2}"/>
              </a:ext>
            </a:extLst>
          </p:cNvPr>
          <p:cNvSpPr txBox="1"/>
          <p:nvPr/>
        </p:nvSpPr>
        <p:spPr>
          <a:xfrm>
            <a:off x="6743700" y="2438400"/>
            <a:ext cx="7239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Vs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1B2239-046E-08D5-7866-1E8AEA14DBE3}"/>
              </a:ext>
            </a:extLst>
          </p:cNvPr>
          <p:cNvCxnSpPr/>
          <p:nvPr/>
        </p:nvCxnSpPr>
        <p:spPr>
          <a:xfrm>
            <a:off x="6804660" y="2644140"/>
            <a:ext cx="60198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87AF314-0623-6211-16AC-D62A24A4A390}"/>
              </a:ext>
            </a:extLst>
          </p:cNvPr>
          <p:cNvSpPr txBox="1"/>
          <p:nvPr/>
        </p:nvSpPr>
        <p:spPr>
          <a:xfrm>
            <a:off x="6743700" y="2682240"/>
            <a:ext cx="7239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S wave
velocity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44468D4-D65C-3B08-119F-C986E35D6D82}"/>
              </a:ext>
            </a:extLst>
          </p:cNvPr>
          <p:cNvSpPr/>
          <p:nvPr/>
        </p:nvSpPr>
        <p:spPr>
          <a:xfrm>
            <a:off x="7962900" y="1104900"/>
            <a:ext cx="3779520" cy="20574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F1186AF-816E-D838-0A50-325148E18A84}"/>
              </a:ext>
            </a:extLst>
          </p:cNvPr>
          <p:cNvSpPr/>
          <p:nvPr/>
        </p:nvSpPr>
        <p:spPr>
          <a:xfrm>
            <a:off x="7962900" y="1104900"/>
            <a:ext cx="3779520" cy="3429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041789-B87B-483A-8782-0C39D7B890E0}"/>
              </a:ext>
            </a:extLst>
          </p:cNvPr>
          <p:cNvSpPr txBox="1"/>
          <p:nvPr/>
        </p:nvSpPr>
        <p:spPr>
          <a:xfrm>
            <a:off x="8100060" y="1203960"/>
            <a:ext cx="1981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Acoustic impedance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C37510-7ADA-0BD7-AD33-B7EDE1061B4B}"/>
              </a:ext>
            </a:extLst>
          </p:cNvPr>
          <p:cNvSpPr txBox="1"/>
          <p:nvPr/>
        </p:nvSpPr>
        <p:spPr>
          <a:xfrm>
            <a:off x="8572500" y="1813560"/>
            <a:ext cx="25527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100" b="1">
                <a:solidFill>
                  <a:srgbClr val="0F2230"/>
                </a:solidFill>
                <a:latin typeface="Arial" panose="020B0604020202020204" pitchFamily="34" charset="0"/>
              </a:rPr>
              <a:t>AI = RHOB * Vp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A2F229-7C93-05A1-A73D-FBD06AA9822E}"/>
              </a:ext>
            </a:extLst>
          </p:cNvPr>
          <p:cNvSpPr txBox="1"/>
          <p:nvPr/>
        </p:nvSpPr>
        <p:spPr>
          <a:xfrm>
            <a:off x="8382000" y="2438400"/>
            <a:ext cx="70104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AI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EB9B393-5477-6879-3AA5-082B23BBB6E1}"/>
              </a:ext>
            </a:extLst>
          </p:cNvPr>
          <p:cNvCxnSpPr/>
          <p:nvPr/>
        </p:nvCxnSpPr>
        <p:spPr>
          <a:xfrm>
            <a:off x="8442960" y="2644140"/>
            <a:ext cx="579120" cy="0"/>
          </a:xfrm>
          <a:prstGeom prst="straightConnector1">
            <a:avLst/>
          </a:prstGeom>
          <a:ln w="2921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9F43C57-7BEB-3F4F-4492-CB7A3C27398E}"/>
              </a:ext>
            </a:extLst>
          </p:cNvPr>
          <p:cNvSpPr txBox="1"/>
          <p:nvPr/>
        </p:nvSpPr>
        <p:spPr>
          <a:xfrm>
            <a:off x="8382000" y="2682240"/>
            <a:ext cx="70104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acoustic
impedance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39273F-C2AE-40DA-50C1-6BBCDE43FF70}"/>
              </a:ext>
            </a:extLst>
          </p:cNvPr>
          <p:cNvSpPr txBox="1"/>
          <p:nvPr/>
        </p:nvSpPr>
        <p:spPr>
          <a:xfrm>
            <a:off x="9525000" y="2438400"/>
            <a:ext cx="82296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RHOB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DFD8534-42BB-F8F6-9907-F4D2A0E8FC4F}"/>
              </a:ext>
            </a:extLst>
          </p:cNvPr>
          <p:cNvCxnSpPr/>
          <p:nvPr/>
        </p:nvCxnSpPr>
        <p:spPr>
          <a:xfrm>
            <a:off x="9585960" y="2644140"/>
            <a:ext cx="70104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DB479F2-2AC9-A3BB-91B8-3536ABAA50B0}"/>
              </a:ext>
            </a:extLst>
          </p:cNvPr>
          <p:cNvSpPr txBox="1"/>
          <p:nvPr/>
        </p:nvSpPr>
        <p:spPr>
          <a:xfrm>
            <a:off x="9525000" y="2682240"/>
            <a:ext cx="82296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bulk
density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72C337-5187-1E54-B4C6-8851BFFD9F83}"/>
              </a:ext>
            </a:extLst>
          </p:cNvPr>
          <p:cNvSpPr txBox="1"/>
          <p:nvPr/>
        </p:nvSpPr>
        <p:spPr>
          <a:xfrm>
            <a:off x="10782300" y="2438400"/>
            <a:ext cx="685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Vp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BA1A806-7C7D-A51E-4190-A5004B9FCF50}"/>
              </a:ext>
            </a:extLst>
          </p:cNvPr>
          <p:cNvCxnSpPr/>
          <p:nvPr/>
        </p:nvCxnSpPr>
        <p:spPr>
          <a:xfrm>
            <a:off x="10843260" y="2644140"/>
            <a:ext cx="56388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2815F43-F55C-3F9F-8E03-2B7B9E22BC80}"/>
              </a:ext>
            </a:extLst>
          </p:cNvPr>
          <p:cNvSpPr txBox="1"/>
          <p:nvPr/>
        </p:nvSpPr>
        <p:spPr>
          <a:xfrm>
            <a:off x="10782300" y="2682240"/>
            <a:ext cx="685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P wave
velocity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8D28D2E-2AD3-0488-117B-60D9A7F01E0B}"/>
              </a:ext>
            </a:extLst>
          </p:cNvPr>
          <p:cNvSpPr/>
          <p:nvPr/>
        </p:nvSpPr>
        <p:spPr>
          <a:xfrm>
            <a:off x="457200" y="3467100"/>
            <a:ext cx="3672840" cy="218694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0E07F9B-691A-3366-71E6-E8AEE965F05C}"/>
              </a:ext>
            </a:extLst>
          </p:cNvPr>
          <p:cNvSpPr/>
          <p:nvPr/>
        </p:nvSpPr>
        <p:spPr>
          <a:xfrm>
            <a:off x="457200" y="3467100"/>
            <a:ext cx="3672840" cy="342900"/>
          </a:xfrm>
          <a:prstGeom prst="rect">
            <a:avLst/>
          </a:prstGeom>
          <a:solidFill>
            <a:srgbClr val="705FC3"/>
          </a:solidFill>
          <a:ln w="635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93C3A5-C168-D31D-1E6A-4C85F9DC9AE2}"/>
              </a:ext>
            </a:extLst>
          </p:cNvPr>
          <p:cNvSpPr txBox="1"/>
          <p:nvPr/>
        </p:nvSpPr>
        <p:spPr>
          <a:xfrm>
            <a:off x="594360" y="3566160"/>
            <a:ext cx="1981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Shear rigidity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AD37B7-AD00-6F33-DF4A-A2021C384923}"/>
              </a:ext>
            </a:extLst>
          </p:cNvPr>
          <p:cNvSpPr txBox="1"/>
          <p:nvPr/>
        </p:nvSpPr>
        <p:spPr>
          <a:xfrm>
            <a:off x="1104900" y="4229100"/>
            <a:ext cx="23622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100" b="1">
                <a:solidFill>
                  <a:srgbClr val="0F2230"/>
                </a:solidFill>
                <a:latin typeface="Arial" panose="020B0604020202020204" pitchFamily="34" charset="0"/>
              </a:rPr>
              <a:t>G = RHOB * Vs^2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EEEE8E-5657-9819-C668-0F8A2FDF642E}"/>
              </a:ext>
            </a:extLst>
          </p:cNvPr>
          <p:cNvSpPr txBox="1"/>
          <p:nvPr/>
        </p:nvSpPr>
        <p:spPr>
          <a:xfrm>
            <a:off x="762000" y="4861560"/>
            <a:ext cx="70104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G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47927A7-4531-D7F1-6F44-1A061105D68D}"/>
              </a:ext>
            </a:extLst>
          </p:cNvPr>
          <p:cNvCxnSpPr/>
          <p:nvPr/>
        </p:nvCxnSpPr>
        <p:spPr>
          <a:xfrm>
            <a:off x="822960" y="5067300"/>
            <a:ext cx="579120" cy="0"/>
          </a:xfrm>
          <a:prstGeom prst="straightConnector1">
            <a:avLst/>
          </a:prstGeom>
          <a:ln w="2921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734800E-D0EF-8764-40E1-F18D4CEBFF42}"/>
              </a:ext>
            </a:extLst>
          </p:cNvPr>
          <p:cNvSpPr txBox="1"/>
          <p:nvPr/>
        </p:nvSpPr>
        <p:spPr>
          <a:xfrm>
            <a:off x="762000" y="5105400"/>
            <a:ext cx="70104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shear
modulus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073ADF-6D6B-E912-16C3-E77257E6A9E3}"/>
              </a:ext>
            </a:extLst>
          </p:cNvPr>
          <p:cNvSpPr txBox="1"/>
          <p:nvPr/>
        </p:nvSpPr>
        <p:spPr>
          <a:xfrm>
            <a:off x="1943100" y="4861560"/>
            <a:ext cx="82296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RHOB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FEF9147-6677-12B0-070A-913EEA1CF591}"/>
              </a:ext>
            </a:extLst>
          </p:cNvPr>
          <p:cNvCxnSpPr/>
          <p:nvPr/>
        </p:nvCxnSpPr>
        <p:spPr>
          <a:xfrm>
            <a:off x="2004060" y="5067300"/>
            <a:ext cx="70104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728E526-DD5A-4CE8-41AF-3EF9142D7782}"/>
              </a:ext>
            </a:extLst>
          </p:cNvPr>
          <p:cNvSpPr txBox="1"/>
          <p:nvPr/>
        </p:nvSpPr>
        <p:spPr>
          <a:xfrm>
            <a:off x="1943100" y="5105400"/>
            <a:ext cx="82296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bulk
density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432A37-8EE2-E748-AD5F-5CA1C1BDA234}"/>
              </a:ext>
            </a:extLst>
          </p:cNvPr>
          <p:cNvSpPr txBox="1"/>
          <p:nvPr/>
        </p:nvSpPr>
        <p:spPr>
          <a:xfrm>
            <a:off x="3162300" y="4861560"/>
            <a:ext cx="685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Vs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CF37A2A-5E97-E838-984E-7DB4527BED11}"/>
              </a:ext>
            </a:extLst>
          </p:cNvPr>
          <p:cNvCxnSpPr/>
          <p:nvPr/>
        </p:nvCxnSpPr>
        <p:spPr>
          <a:xfrm>
            <a:off x="3223260" y="5067300"/>
            <a:ext cx="56388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1078E71-95AF-CE2F-64F4-76B7067A312B}"/>
              </a:ext>
            </a:extLst>
          </p:cNvPr>
          <p:cNvSpPr txBox="1"/>
          <p:nvPr/>
        </p:nvSpPr>
        <p:spPr>
          <a:xfrm>
            <a:off x="3162300" y="5105400"/>
            <a:ext cx="685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S wave
velocity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DE5838D5-4013-55C8-73DC-BEF29D8358C0}"/>
              </a:ext>
            </a:extLst>
          </p:cNvPr>
          <p:cNvSpPr/>
          <p:nvPr/>
        </p:nvSpPr>
        <p:spPr>
          <a:xfrm>
            <a:off x="4343400" y="3467100"/>
            <a:ext cx="7399020" cy="218694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196D4D0-0D74-CB48-9771-B51EDE25C42B}"/>
              </a:ext>
            </a:extLst>
          </p:cNvPr>
          <p:cNvSpPr/>
          <p:nvPr/>
        </p:nvSpPr>
        <p:spPr>
          <a:xfrm>
            <a:off x="4343400" y="3467100"/>
            <a:ext cx="7399020" cy="342900"/>
          </a:xfrm>
          <a:prstGeom prst="rect">
            <a:avLst/>
          </a:prstGeom>
          <a:solidFill>
            <a:srgbClr val="E0A12D"/>
          </a:solidFill>
          <a:ln w="635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6DE7867-6F1F-CF7D-963C-58362ECC5B5C}"/>
              </a:ext>
            </a:extLst>
          </p:cNvPr>
          <p:cNvSpPr txBox="1"/>
          <p:nvPr/>
        </p:nvSpPr>
        <p:spPr>
          <a:xfrm>
            <a:off x="4480560" y="3566160"/>
            <a:ext cx="5257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Electrical saturation baseline - optional review check only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B91127D-284F-BF7D-5B5B-43E1BE25E454}"/>
              </a:ext>
            </a:extLst>
          </p:cNvPr>
          <p:cNvSpPr txBox="1"/>
          <p:nvPr/>
        </p:nvSpPr>
        <p:spPr>
          <a:xfrm>
            <a:off x="4815840" y="4076700"/>
            <a:ext cx="10287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000" b="1">
                <a:solidFill>
                  <a:srgbClr val="0F2230"/>
                </a:solidFill>
                <a:latin typeface="Arial" panose="020B0604020202020204" pitchFamily="34" charset="0"/>
              </a:rPr>
              <a:t>Sw^n =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1B66D2-2ACE-F487-48FA-4FDFE6BA7628}"/>
              </a:ext>
            </a:extLst>
          </p:cNvPr>
          <p:cNvSpPr txBox="1"/>
          <p:nvPr/>
        </p:nvSpPr>
        <p:spPr>
          <a:xfrm>
            <a:off x="6035040" y="3931920"/>
            <a:ext cx="12192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000" b="1">
                <a:solidFill>
                  <a:srgbClr val="0F2230"/>
                </a:solidFill>
                <a:latin typeface="Arial" panose="020B0604020202020204" pitchFamily="34" charset="0"/>
              </a:rPr>
              <a:t>a * Rw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61F2240-A743-FE67-04AD-7CBB880546DA}"/>
              </a:ext>
            </a:extLst>
          </p:cNvPr>
          <p:cNvCxnSpPr/>
          <p:nvPr/>
        </p:nvCxnSpPr>
        <p:spPr>
          <a:xfrm>
            <a:off x="5989320" y="4251960"/>
            <a:ext cx="1325880" cy="0"/>
          </a:xfrm>
          <a:prstGeom prst="straightConnector1">
            <a:avLst/>
          </a:prstGeom>
          <a:ln w="27940">
            <a:solidFill>
              <a:srgbClr val="0F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4BCA0D0-598C-1577-9E51-29A27DB9ED1E}"/>
              </a:ext>
            </a:extLst>
          </p:cNvPr>
          <p:cNvSpPr txBox="1"/>
          <p:nvPr/>
        </p:nvSpPr>
        <p:spPr>
          <a:xfrm>
            <a:off x="5928360" y="4312920"/>
            <a:ext cx="14478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000" b="1">
                <a:solidFill>
                  <a:srgbClr val="0F2230"/>
                </a:solidFill>
                <a:latin typeface="Arial" panose="020B0604020202020204" pitchFamily="34" charset="0"/>
              </a:rPr>
              <a:t>Rt * phi^m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DAD382-9065-4763-4A30-FDFD914DEDBC}"/>
              </a:ext>
            </a:extLst>
          </p:cNvPr>
          <p:cNvSpPr txBox="1"/>
          <p:nvPr/>
        </p:nvSpPr>
        <p:spPr>
          <a:xfrm>
            <a:off x="7909560" y="4175760"/>
            <a:ext cx="20574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000" b="1">
                <a:solidFill>
                  <a:srgbClr val="0F2230"/>
                </a:solidFill>
                <a:latin typeface="Arial" panose="020B0604020202020204" pitchFamily="34" charset="0"/>
              </a:rPr>
              <a:t>Sh ~= 1 - Sw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92A7183-EB01-2CF3-8C33-3D8563AAA03E}"/>
              </a:ext>
            </a:extLst>
          </p:cNvPr>
          <p:cNvSpPr txBox="1"/>
          <p:nvPr/>
        </p:nvSpPr>
        <p:spPr>
          <a:xfrm>
            <a:off x="46482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Sw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B6841BF-F92B-FC4E-D701-19DBAFDFB75E}"/>
              </a:ext>
            </a:extLst>
          </p:cNvPr>
          <p:cNvCxnSpPr/>
          <p:nvPr/>
        </p:nvCxnSpPr>
        <p:spPr>
          <a:xfrm>
            <a:off x="4709160" y="5067300"/>
            <a:ext cx="609600" cy="0"/>
          </a:xfrm>
          <a:prstGeom prst="straightConnector1">
            <a:avLst/>
          </a:prstGeom>
          <a:ln w="2921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F06455F-0F43-B992-D28D-CE95FF0F15FB}"/>
              </a:ext>
            </a:extLst>
          </p:cNvPr>
          <p:cNvSpPr txBox="1"/>
          <p:nvPr/>
        </p:nvSpPr>
        <p:spPr>
          <a:xfrm>
            <a:off x="4648200" y="5105400"/>
            <a:ext cx="73152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water
saturation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86E70CB-18E5-F0E0-6A90-99735F351D9B}"/>
              </a:ext>
            </a:extLst>
          </p:cNvPr>
          <p:cNvSpPr txBox="1"/>
          <p:nvPr/>
        </p:nvSpPr>
        <p:spPr>
          <a:xfrm>
            <a:off x="54864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n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96A22F7-124A-8DCB-3F05-2DB99BEECAF4}"/>
              </a:ext>
            </a:extLst>
          </p:cNvPr>
          <p:cNvCxnSpPr/>
          <p:nvPr/>
        </p:nvCxnSpPr>
        <p:spPr>
          <a:xfrm>
            <a:off x="5547360" y="5067300"/>
            <a:ext cx="609600" cy="0"/>
          </a:xfrm>
          <a:prstGeom prst="straightConnector1">
            <a:avLst/>
          </a:prstGeom>
          <a:ln w="29210">
            <a:solidFill>
              <a:srgbClr val="E0A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1F22F38-0217-08C9-5C58-4133B6528C77}"/>
              </a:ext>
            </a:extLst>
          </p:cNvPr>
          <p:cNvSpPr txBox="1"/>
          <p:nvPr/>
        </p:nvSpPr>
        <p:spPr>
          <a:xfrm>
            <a:off x="5486400" y="5105400"/>
            <a:ext cx="73152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saturation
exponent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7AE8329-9D15-A7B0-86B7-2F1ACF3CB6BC}"/>
              </a:ext>
            </a:extLst>
          </p:cNvPr>
          <p:cNvSpPr txBox="1"/>
          <p:nvPr/>
        </p:nvSpPr>
        <p:spPr>
          <a:xfrm>
            <a:off x="63246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a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4B3D473-E953-FD56-97CD-34100FEE8A0A}"/>
              </a:ext>
            </a:extLst>
          </p:cNvPr>
          <p:cNvCxnSpPr/>
          <p:nvPr/>
        </p:nvCxnSpPr>
        <p:spPr>
          <a:xfrm>
            <a:off x="6385560" y="5067300"/>
            <a:ext cx="609600" cy="0"/>
          </a:xfrm>
          <a:prstGeom prst="straightConnector1">
            <a:avLst/>
          </a:prstGeom>
          <a:ln w="29210">
            <a:solidFill>
              <a:srgbClr val="E0A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254D39B-339E-1F18-1F39-CC7729DC57BA}"/>
              </a:ext>
            </a:extLst>
          </p:cNvPr>
          <p:cNvSpPr txBox="1"/>
          <p:nvPr/>
        </p:nvSpPr>
        <p:spPr>
          <a:xfrm>
            <a:off x="6324600" y="5105400"/>
            <a:ext cx="73152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Archie
constant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70479E-18FF-6AA1-B30C-D713AFC1DC30}"/>
              </a:ext>
            </a:extLst>
          </p:cNvPr>
          <p:cNvSpPr txBox="1"/>
          <p:nvPr/>
        </p:nvSpPr>
        <p:spPr>
          <a:xfrm>
            <a:off x="71628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Rw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B9C8671-B276-7719-F1D4-51E050A89DAF}"/>
              </a:ext>
            </a:extLst>
          </p:cNvPr>
          <p:cNvCxnSpPr/>
          <p:nvPr/>
        </p:nvCxnSpPr>
        <p:spPr>
          <a:xfrm>
            <a:off x="7223760" y="5067300"/>
            <a:ext cx="609600" cy="0"/>
          </a:xfrm>
          <a:prstGeom prst="straightConnector1">
            <a:avLst/>
          </a:prstGeom>
          <a:ln w="29210">
            <a:solidFill>
              <a:srgbClr val="E0A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03DED7B-803A-B775-5D5D-2ADB7FC1D41C}"/>
              </a:ext>
            </a:extLst>
          </p:cNvPr>
          <p:cNvSpPr txBox="1"/>
          <p:nvPr/>
        </p:nvSpPr>
        <p:spPr>
          <a:xfrm>
            <a:off x="7162800" y="5105400"/>
            <a:ext cx="73152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water
resistivity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4798260-3F20-FB2E-FB70-381D2C7BB27D}"/>
              </a:ext>
            </a:extLst>
          </p:cNvPr>
          <p:cNvSpPr txBox="1"/>
          <p:nvPr/>
        </p:nvSpPr>
        <p:spPr>
          <a:xfrm>
            <a:off x="80010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Rt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EE7CC47-CD22-AF10-390B-AF513CDFF054}"/>
              </a:ext>
            </a:extLst>
          </p:cNvPr>
          <p:cNvCxnSpPr/>
          <p:nvPr/>
        </p:nvCxnSpPr>
        <p:spPr>
          <a:xfrm>
            <a:off x="8061960" y="5067300"/>
            <a:ext cx="60960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14F50EE-E607-7439-5660-9CE508F6C0CA}"/>
              </a:ext>
            </a:extLst>
          </p:cNvPr>
          <p:cNvSpPr txBox="1"/>
          <p:nvPr/>
        </p:nvSpPr>
        <p:spPr>
          <a:xfrm>
            <a:off x="8001000" y="5105400"/>
            <a:ext cx="73152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deep
resistivity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D9F9C50-E3D3-8343-5012-8E1572566990}"/>
              </a:ext>
            </a:extLst>
          </p:cNvPr>
          <p:cNvSpPr txBox="1"/>
          <p:nvPr/>
        </p:nvSpPr>
        <p:spPr>
          <a:xfrm>
            <a:off x="88392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phi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69463E8-6F30-96EB-FA1A-63486994C21C}"/>
              </a:ext>
            </a:extLst>
          </p:cNvPr>
          <p:cNvCxnSpPr/>
          <p:nvPr/>
        </p:nvCxnSpPr>
        <p:spPr>
          <a:xfrm>
            <a:off x="8900160" y="5067300"/>
            <a:ext cx="609600" cy="0"/>
          </a:xfrm>
          <a:prstGeom prst="straightConnector1">
            <a:avLst/>
          </a:prstGeom>
          <a:ln w="29210">
            <a:solidFill>
              <a:srgbClr val="23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1ED5FF4-FFFC-B7E9-3C61-CB3284D4F410}"/>
              </a:ext>
            </a:extLst>
          </p:cNvPr>
          <p:cNvSpPr txBox="1"/>
          <p:nvPr/>
        </p:nvSpPr>
        <p:spPr>
          <a:xfrm>
            <a:off x="8839200" y="5105400"/>
            <a:ext cx="73152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porosity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2B3C471-3F44-7323-83E3-2F9F03A463FE}"/>
              </a:ext>
            </a:extLst>
          </p:cNvPr>
          <p:cNvSpPr txBox="1"/>
          <p:nvPr/>
        </p:nvSpPr>
        <p:spPr>
          <a:xfrm>
            <a:off x="96774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m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FA1F953-8756-67AA-5E2C-67532FFC0967}"/>
              </a:ext>
            </a:extLst>
          </p:cNvPr>
          <p:cNvCxnSpPr/>
          <p:nvPr/>
        </p:nvCxnSpPr>
        <p:spPr>
          <a:xfrm>
            <a:off x="9738360" y="5067300"/>
            <a:ext cx="609600" cy="0"/>
          </a:xfrm>
          <a:prstGeom prst="straightConnector1">
            <a:avLst/>
          </a:prstGeom>
          <a:ln w="29210">
            <a:solidFill>
              <a:srgbClr val="E0A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E5D6978-1E72-8670-59C9-BC186CC3A4B5}"/>
              </a:ext>
            </a:extLst>
          </p:cNvPr>
          <p:cNvSpPr txBox="1"/>
          <p:nvPr/>
        </p:nvSpPr>
        <p:spPr>
          <a:xfrm>
            <a:off x="9677400" y="5105400"/>
            <a:ext cx="73152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cementation
exponent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26A9DDB-8B19-D525-E504-96777FFDD4E5}"/>
              </a:ext>
            </a:extLst>
          </p:cNvPr>
          <p:cNvSpPr txBox="1"/>
          <p:nvPr/>
        </p:nvSpPr>
        <p:spPr>
          <a:xfrm>
            <a:off x="10515600" y="4861560"/>
            <a:ext cx="73152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Sh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48AB853-EAA5-9F2F-5F9A-425024348181}"/>
              </a:ext>
            </a:extLst>
          </p:cNvPr>
          <p:cNvCxnSpPr/>
          <p:nvPr/>
        </p:nvCxnSpPr>
        <p:spPr>
          <a:xfrm>
            <a:off x="10576560" y="5067300"/>
            <a:ext cx="609600" cy="0"/>
          </a:xfrm>
          <a:prstGeom prst="straightConnector1">
            <a:avLst/>
          </a:prstGeom>
          <a:ln w="29210">
            <a:solidFill>
              <a:srgbClr val="705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2F2ABB4-6E38-5F1F-395F-0898ADF5DFD6}"/>
              </a:ext>
            </a:extLst>
          </p:cNvPr>
          <p:cNvSpPr txBox="1"/>
          <p:nvPr/>
        </p:nvSpPr>
        <p:spPr>
          <a:xfrm>
            <a:off x="10515600" y="5105400"/>
            <a:ext cx="73152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800">
                <a:solidFill>
                  <a:srgbClr val="536770"/>
                </a:solidFill>
                <a:latin typeface="Arial" panose="020B0604020202020204" pitchFamily="34" charset="0"/>
              </a:rPr>
              <a:t>review
estimate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34AE5C5E-60E8-AB87-2EA0-0E428B653406}"/>
              </a:ext>
            </a:extLst>
          </p:cNvPr>
          <p:cNvSpPr/>
          <p:nvPr/>
        </p:nvSpPr>
        <p:spPr>
          <a:xfrm>
            <a:off x="457200" y="5867400"/>
            <a:ext cx="11285220" cy="47244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4EF5D8C-C34A-BA6F-A943-CB7AD0657102}"/>
              </a:ext>
            </a:extLst>
          </p:cNvPr>
          <p:cNvSpPr txBox="1"/>
          <p:nvPr/>
        </p:nvSpPr>
        <p:spPr>
          <a:xfrm>
            <a:off x="899160" y="6019800"/>
            <a:ext cx="9906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D9373A"/>
                </a:solidFill>
                <a:latin typeface="Arial" panose="020B0604020202020204" pitchFamily="34" charset="0"/>
              </a:rPr>
              <a:t>Guardrail: equations convert or compare quantities. They do not prove hydrate occurrence, final stability, saturation, producibility, or ranking.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7C79EB0-4A41-8834-0AF0-6C9B868D39B4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EFDB33E-DC7C-96A5-2FC7-4A54D541F7C9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Sources: stability calculation plan; email equation set; science logic ladder; baseline source ledger; well-log requirements map.</a:t>
            </a:r>
          </a:p>
        </p:txBody>
      </p:sp>
    </p:spTree>
    <p:extLst>
      <p:ext uri="{BB962C8B-B14F-4D97-AF65-F5344CB8AC3E}">
        <p14:creationId xmlns:p14="http://schemas.microsoft.com/office/powerpoint/2010/main" val="104697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D16EC9-257C-8638-6886-258BAD80D0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3C600-7633-2BD0-CD17-EDD55E4EA42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3AA11-4C5F-0E7F-8A80-A358B9E6CF23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Equations, Feature Engineering, And Unit Gate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C2A58-E26C-7943-87AE-4264A0DB2608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Equation features enter X_allowed only after source, unit, depth, QC, and leakage checks.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8B428B-29E6-4018-E9C1-034BAE8DF063}"/>
              </a:ext>
            </a:extLst>
          </p:cNvPr>
          <p:cNvSpPr/>
          <p:nvPr/>
        </p:nvSpPr>
        <p:spPr>
          <a:xfrm>
            <a:off x="441960" y="1104900"/>
            <a:ext cx="2225040" cy="49149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8AF65-4E3F-97B7-EBC8-56E7FF849B2A}"/>
              </a:ext>
            </a:extLst>
          </p:cNvPr>
          <p:cNvSpPr txBox="1"/>
          <p:nvPr/>
        </p:nvSpPr>
        <p:spPr>
          <a:xfrm>
            <a:off x="640080" y="1325880"/>
            <a:ext cx="1828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10818F"/>
                </a:solidFill>
                <a:latin typeface="Arial" panose="020B0604020202020204" pitchFamily="34" charset="0"/>
              </a:rPr>
              <a:t>Unit and leakage gate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D4149D-ED59-05E2-63B4-4085C1F5AA5A}"/>
              </a:ext>
            </a:extLst>
          </p:cNvPr>
          <p:cNvSpPr/>
          <p:nvPr/>
        </p:nvSpPr>
        <p:spPr>
          <a:xfrm>
            <a:off x="655320" y="174498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620385-0133-010B-933E-190A814C8819}"/>
              </a:ext>
            </a:extLst>
          </p:cNvPr>
          <p:cNvSpPr txBox="1"/>
          <p:nvPr/>
        </p:nvSpPr>
        <p:spPr>
          <a:xfrm>
            <a:off x="990600" y="1737360"/>
            <a:ext cx="1219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source header preserved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9FA875-CC58-39B9-A06A-B1CDBE3D9C0C}"/>
              </a:ext>
            </a:extLst>
          </p:cNvPr>
          <p:cNvCxnSpPr/>
          <p:nvPr/>
        </p:nvCxnSpPr>
        <p:spPr>
          <a:xfrm>
            <a:off x="769620" y="2026920"/>
            <a:ext cx="0" cy="205740"/>
          </a:xfrm>
          <a:prstGeom prst="straightConnector1">
            <a:avLst/>
          </a:prstGeom>
          <a:ln w="2794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6A07A11-F428-6699-DE21-97341679B290}"/>
              </a:ext>
            </a:extLst>
          </p:cNvPr>
          <p:cNvSpPr/>
          <p:nvPr/>
        </p:nvSpPr>
        <p:spPr>
          <a:xfrm>
            <a:off x="655320" y="230886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DE341E-41E2-B8B5-7A01-2155CE320026}"/>
              </a:ext>
            </a:extLst>
          </p:cNvPr>
          <p:cNvSpPr txBox="1"/>
          <p:nvPr/>
        </p:nvSpPr>
        <p:spPr>
          <a:xfrm>
            <a:off x="990600" y="2301240"/>
            <a:ext cx="1219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units visible or mapped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C1D6E3-ED47-FACF-886D-EFF468901A04}"/>
              </a:ext>
            </a:extLst>
          </p:cNvPr>
          <p:cNvCxnSpPr/>
          <p:nvPr/>
        </p:nvCxnSpPr>
        <p:spPr>
          <a:xfrm>
            <a:off x="769620" y="2590800"/>
            <a:ext cx="0" cy="205740"/>
          </a:xfrm>
          <a:prstGeom prst="straightConnector1">
            <a:avLst/>
          </a:prstGeom>
          <a:ln w="2794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60E6E3D-9219-7AFC-ECBE-33D9D65B927A}"/>
              </a:ext>
            </a:extLst>
          </p:cNvPr>
          <p:cNvSpPr/>
          <p:nvPr/>
        </p:nvSpPr>
        <p:spPr>
          <a:xfrm>
            <a:off x="655320" y="287274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B47BE-07D1-159C-0750-9C09604E8031}"/>
              </a:ext>
            </a:extLst>
          </p:cNvPr>
          <p:cNvSpPr txBox="1"/>
          <p:nvPr/>
        </p:nvSpPr>
        <p:spPr>
          <a:xfrm>
            <a:off x="990600" y="2865120"/>
            <a:ext cx="1219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depth axis aligned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80C110-7CC5-1A07-AEAB-0193F5AB8308}"/>
              </a:ext>
            </a:extLst>
          </p:cNvPr>
          <p:cNvCxnSpPr/>
          <p:nvPr/>
        </p:nvCxnSpPr>
        <p:spPr>
          <a:xfrm>
            <a:off x="769620" y="3154680"/>
            <a:ext cx="0" cy="205740"/>
          </a:xfrm>
          <a:prstGeom prst="straightConnector1">
            <a:avLst/>
          </a:prstGeom>
          <a:ln w="2794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2C40E91-2667-34A2-98CF-59FEEB6C142E}"/>
              </a:ext>
            </a:extLst>
          </p:cNvPr>
          <p:cNvSpPr/>
          <p:nvPr/>
        </p:nvSpPr>
        <p:spPr>
          <a:xfrm>
            <a:off x="655320" y="343662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4D011E-407B-D07D-0E3C-0E2049B15C31}"/>
              </a:ext>
            </a:extLst>
          </p:cNvPr>
          <p:cNvSpPr txBox="1"/>
          <p:nvPr/>
        </p:nvSpPr>
        <p:spPr>
          <a:xfrm>
            <a:off x="990600" y="3429000"/>
            <a:ext cx="1219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caliper/QC first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F8329B-CCE8-E09D-949A-9A6BD68E18B2}"/>
              </a:ext>
            </a:extLst>
          </p:cNvPr>
          <p:cNvCxnSpPr/>
          <p:nvPr/>
        </p:nvCxnSpPr>
        <p:spPr>
          <a:xfrm>
            <a:off x="769620" y="3718560"/>
            <a:ext cx="0" cy="205740"/>
          </a:xfrm>
          <a:prstGeom prst="straightConnector1">
            <a:avLst/>
          </a:prstGeom>
          <a:ln w="2794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B7C1796-E8B1-8511-06EF-4FF5D6931C55}"/>
              </a:ext>
            </a:extLst>
          </p:cNvPr>
          <p:cNvSpPr/>
          <p:nvPr/>
        </p:nvSpPr>
        <p:spPr>
          <a:xfrm>
            <a:off x="655320" y="400050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7C0A91-2777-381A-6720-19CD45247979}"/>
              </a:ext>
            </a:extLst>
          </p:cNvPr>
          <p:cNvSpPr txBox="1"/>
          <p:nvPr/>
        </p:nvSpPr>
        <p:spPr>
          <a:xfrm>
            <a:off x="990600" y="3992880"/>
            <a:ext cx="1219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derived formula
provenance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3953DB-FF88-52D7-8CE7-625222B374DB}"/>
              </a:ext>
            </a:extLst>
          </p:cNvPr>
          <p:cNvCxnSpPr/>
          <p:nvPr/>
        </p:nvCxnSpPr>
        <p:spPr>
          <a:xfrm>
            <a:off x="769620" y="4282440"/>
            <a:ext cx="0" cy="205740"/>
          </a:xfrm>
          <a:prstGeom prst="straightConnector1">
            <a:avLst/>
          </a:prstGeom>
          <a:ln w="2794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0641934-2FCB-EA1F-CC0E-D3D26837462A}"/>
              </a:ext>
            </a:extLst>
          </p:cNvPr>
          <p:cNvSpPr/>
          <p:nvPr/>
        </p:nvSpPr>
        <p:spPr>
          <a:xfrm>
            <a:off x="655320" y="456438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C01C87-C357-E758-67CE-9A6C0DF9A507}"/>
              </a:ext>
            </a:extLst>
          </p:cNvPr>
          <p:cNvSpPr txBox="1"/>
          <p:nvPr/>
        </p:nvSpPr>
        <p:spPr>
          <a:xfrm>
            <a:off x="990600" y="4556760"/>
            <a:ext cx="1219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Y-only fields removed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C7021B-6614-818B-A062-EAB9458476E1}"/>
              </a:ext>
            </a:extLst>
          </p:cNvPr>
          <p:cNvCxnSpPr/>
          <p:nvPr/>
        </p:nvCxnSpPr>
        <p:spPr>
          <a:xfrm>
            <a:off x="769620" y="4846320"/>
            <a:ext cx="0" cy="205740"/>
          </a:xfrm>
          <a:prstGeom prst="straightConnector1">
            <a:avLst/>
          </a:prstGeom>
          <a:ln w="2794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628194A-AE87-B6F5-7CA8-F03C4F49C3AD}"/>
              </a:ext>
            </a:extLst>
          </p:cNvPr>
          <p:cNvSpPr/>
          <p:nvPr/>
        </p:nvSpPr>
        <p:spPr>
          <a:xfrm>
            <a:off x="655320" y="5128260"/>
            <a:ext cx="228600" cy="22860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3D4BF9-6D52-95ED-1C02-FD1F18F05950}"/>
              </a:ext>
            </a:extLst>
          </p:cNvPr>
          <p:cNvSpPr txBox="1"/>
          <p:nvPr/>
        </p:nvSpPr>
        <p:spPr>
          <a:xfrm>
            <a:off x="990600" y="5120640"/>
            <a:ext cx="1219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X_allowed matrix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250F0E-3245-96B8-8A5C-434AE5555784}"/>
              </a:ext>
            </a:extLst>
          </p:cNvPr>
          <p:cNvSpPr/>
          <p:nvPr/>
        </p:nvSpPr>
        <p:spPr>
          <a:xfrm>
            <a:off x="2971800" y="1104900"/>
            <a:ext cx="2552700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B11FDA-8A3B-0A30-B0A4-BC4A4DCD7A13}"/>
              </a:ext>
            </a:extLst>
          </p:cNvPr>
          <p:cNvSpPr txBox="1"/>
          <p:nvPr/>
        </p:nvSpPr>
        <p:spPr>
          <a:xfrm>
            <a:off x="3093720" y="1196340"/>
            <a:ext cx="230886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239E70"/>
                </a:solidFill>
                <a:latin typeface="Arial" panose="020B0604020202020204" pitchFamily="34" charset="0"/>
              </a:rPr>
              <a:t>GR clean/shale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DDCA58-8D93-53CB-491C-CB35A2198505}"/>
              </a:ext>
            </a:extLst>
          </p:cNvPr>
          <p:cNvSpPr txBox="1"/>
          <p:nvPr/>
        </p:nvSpPr>
        <p:spPr>
          <a:xfrm>
            <a:off x="3093720" y="1424940"/>
            <a:ext cx="230886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GR_clean = low-GR reservoir proxy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5A1D8E-0B16-1816-F9B9-ADB91718CFB2}"/>
              </a:ext>
            </a:extLst>
          </p:cNvPr>
          <p:cNvSpPr txBox="1"/>
          <p:nvPr/>
        </p:nvSpPr>
        <p:spPr>
          <a:xfrm>
            <a:off x="3093720" y="1684020"/>
            <a:ext cx="230886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input/gate; not hydrate by itself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C56EFEE-4731-23B1-846D-5FAA265BDF31}"/>
              </a:ext>
            </a:extLst>
          </p:cNvPr>
          <p:cNvSpPr/>
          <p:nvPr/>
        </p:nvSpPr>
        <p:spPr>
          <a:xfrm>
            <a:off x="5791200" y="1104900"/>
            <a:ext cx="2560320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2E1200-1451-D77A-08ED-8F98F82DCD26}"/>
              </a:ext>
            </a:extLst>
          </p:cNvPr>
          <p:cNvSpPr txBox="1"/>
          <p:nvPr/>
        </p:nvSpPr>
        <p:spPr>
          <a:xfrm>
            <a:off x="5913120" y="1196340"/>
            <a:ext cx="231648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3786CF"/>
                </a:solidFill>
                <a:latin typeface="Arial" panose="020B0604020202020204" pitchFamily="34" charset="0"/>
              </a:rPr>
              <a:t>Density porosity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B239D5-7230-32F9-B6BB-992DD51E0908}"/>
              </a:ext>
            </a:extLst>
          </p:cNvPr>
          <p:cNvSpPr txBox="1"/>
          <p:nvPr/>
        </p:nvSpPr>
        <p:spPr>
          <a:xfrm>
            <a:off x="5913120" y="1424940"/>
            <a:ext cx="231648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it-IT" sz="800" b="1">
                <a:solidFill>
                  <a:srgbClr val="0F2230"/>
                </a:solidFill>
                <a:latin typeface="Arial" panose="020B0604020202020204" pitchFamily="34" charset="0"/>
              </a:rPr>
              <a:t>phi_D = (rho_ma - RHOB)/(rho_ma - rho_f)</a:t>
            </a:r>
            <a:endParaRPr lang="en-US" sz="800" b="1">
              <a:solidFill>
                <a:srgbClr val="0F2230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9940D1-2BE4-B74D-2F77-6547BC48AA01}"/>
              </a:ext>
            </a:extLst>
          </p:cNvPr>
          <p:cNvSpPr txBox="1"/>
          <p:nvPr/>
        </p:nvSpPr>
        <p:spPr>
          <a:xfrm>
            <a:off x="5913120" y="1684020"/>
            <a:ext cx="231648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requires matrix/fluid assumptions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AD4EC16-824B-7775-2223-25DCB7F3F931}"/>
              </a:ext>
            </a:extLst>
          </p:cNvPr>
          <p:cNvSpPr/>
          <p:nvPr/>
        </p:nvSpPr>
        <p:spPr>
          <a:xfrm>
            <a:off x="2971800" y="2087880"/>
            <a:ext cx="2552700" cy="784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B6EC62-16F8-BD38-EB00-D288B7D638D2}"/>
              </a:ext>
            </a:extLst>
          </p:cNvPr>
          <p:cNvSpPr txBox="1"/>
          <p:nvPr/>
        </p:nvSpPr>
        <p:spPr>
          <a:xfrm>
            <a:off x="3093720" y="2179320"/>
            <a:ext cx="230886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D9373A"/>
                </a:solidFill>
                <a:latin typeface="Arial" panose="020B0604020202020204" pitchFamily="34" charset="0"/>
              </a:rPr>
              <a:t>Resistivity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A43510-E412-A6AA-C17D-9640CB18A448}"/>
              </a:ext>
            </a:extLst>
          </p:cNvPr>
          <p:cNvSpPr txBox="1"/>
          <p:nvPr/>
        </p:nvSpPr>
        <p:spPr>
          <a:xfrm>
            <a:off x="3093720" y="2407920"/>
            <a:ext cx="230886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log_Rt = log10(Rt); Archie only if a,m,n,Rw approved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3D0F1D-F0D4-F3A0-ED40-11642D82DBD5}"/>
              </a:ext>
            </a:extLst>
          </p:cNvPr>
          <p:cNvSpPr txBox="1"/>
          <p:nvPr/>
        </p:nvSpPr>
        <p:spPr>
          <a:xfrm>
            <a:off x="3093720" y="2659380"/>
            <a:ext cx="230886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hydrate support, not proof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A0F2421-8835-ABEA-0AF1-315F585649E0}"/>
              </a:ext>
            </a:extLst>
          </p:cNvPr>
          <p:cNvSpPr/>
          <p:nvPr/>
        </p:nvSpPr>
        <p:spPr>
          <a:xfrm>
            <a:off x="5791200" y="2087880"/>
            <a:ext cx="2560320" cy="784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36AF05-F1A4-5B78-8C5A-8A7C306790A5}"/>
              </a:ext>
            </a:extLst>
          </p:cNvPr>
          <p:cNvSpPr txBox="1"/>
          <p:nvPr/>
        </p:nvSpPr>
        <p:spPr>
          <a:xfrm>
            <a:off x="5913120" y="2179320"/>
            <a:ext cx="231648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705FC3"/>
                </a:solidFill>
                <a:latin typeface="Arial" panose="020B0604020202020204" pitchFamily="34" charset="0"/>
              </a:rPr>
              <a:t>Vp from sonic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879C87-2B4C-B2E2-0772-186D4006BA23}"/>
              </a:ext>
            </a:extLst>
          </p:cNvPr>
          <p:cNvSpPr txBox="1"/>
          <p:nvPr/>
        </p:nvSpPr>
        <p:spPr>
          <a:xfrm>
            <a:off x="5913120" y="2407920"/>
            <a:ext cx="231648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Vp = 304800 / DT_us_per_ft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BC466D-B610-A397-5462-E218CCBD1665}"/>
              </a:ext>
            </a:extLst>
          </p:cNvPr>
          <p:cNvSpPr txBox="1"/>
          <p:nvPr/>
        </p:nvSpPr>
        <p:spPr>
          <a:xfrm>
            <a:off x="5913120" y="2659380"/>
            <a:ext cx="231648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unit conversion must be explicit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77F33D-18C2-13CA-1B9A-B03A4AE7F57D}"/>
              </a:ext>
            </a:extLst>
          </p:cNvPr>
          <p:cNvSpPr/>
          <p:nvPr/>
        </p:nvSpPr>
        <p:spPr>
          <a:xfrm>
            <a:off x="2971800" y="3063240"/>
            <a:ext cx="2552700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F8CBF8-BE36-94E7-BC30-74E6155EBF3B}"/>
              </a:ext>
            </a:extLst>
          </p:cNvPr>
          <p:cNvSpPr txBox="1"/>
          <p:nvPr/>
        </p:nvSpPr>
        <p:spPr>
          <a:xfrm>
            <a:off x="3093720" y="3154680"/>
            <a:ext cx="230886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705FC3"/>
                </a:solidFill>
                <a:latin typeface="Arial" panose="020B0604020202020204" pitchFamily="34" charset="0"/>
              </a:rPr>
              <a:t>Vs where available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B68C3E-EA88-53DB-CD98-949467089B57}"/>
              </a:ext>
            </a:extLst>
          </p:cNvPr>
          <p:cNvSpPr txBox="1"/>
          <p:nvPr/>
        </p:nvSpPr>
        <p:spPr>
          <a:xfrm>
            <a:off x="3093720" y="3383280"/>
            <a:ext cx="230886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Vs from shear sonic or approved source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DFEA38-E762-1CF7-4D74-7028B1111A94}"/>
              </a:ext>
            </a:extLst>
          </p:cNvPr>
          <p:cNvSpPr txBox="1"/>
          <p:nvPr/>
        </p:nvSpPr>
        <p:spPr>
          <a:xfrm>
            <a:off x="3093720" y="3642360"/>
            <a:ext cx="230886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missingness flag if absent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0BB23A9-B1CD-BB69-6445-00F1C70F303E}"/>
              </a:ext>
            </a:extLst>
          </p:cNvPr>
          <p:cNvSpPr/>
          <p:nvPr/>
        </p:nvSpPr>
        <p:spPr>
          <a:xfrm>
            <a:off x="5791200" y="3063240"/>
            <a:ext cx="2560320" cy="79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6BA8D9-EF0F-DEC2-3C68-221968A51163}"/>
              </a:ext>
            </a:extLst>
          </p:cNvPr>
          <p:cNvSpPr txBox="1"/>
          <p:nvPr/>
        </p:nvSpPr>
        <p:spPr>
          <a:xfrm>
            <a:off x="5913120" y="3154680"/>
            <a:ext cx="231648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705FC3"/>
                </a:solidFill>
                <a:latin typeface="Arial" panose="020B0604020202020204" pitchFamily="34" charset="0"/>
              </a:rPr>
              <a:t>Vp/Vs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113864-F9C5-2398-7A6E-9037484244D3}"/>
              </a:ext>
            </a:extLst>
          </p:cNvPr>
          <p:cNvSpPr txBox="1"/>
          <p:nvPr/>
        </p:nvSpPr>
        <p:spPr>
          <a:xfrm>
            <a:off x="5913120" y="3383280"/>
            <a:ext cx="231648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VpVs = Vp / Vs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D0FD4E-AC40-967D-D8EB-01A694CD2B28}"/>
              </a:ext>
            </a:extLst>
          </p:cNvPr>
          <p:cNvSpPr txBox="1"/>
          <p:nvPr/>
        </p:nvSpPr>
        <p:spPr>
          <a:xfrm>
            <a:off x="5913120" y="3642360"/>
            <a:ext cx="231648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derived crossplot feature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33100EA-B3B1-EF0B-F89F-73096A4B0B93}"/>
              </a:ext>
            </a:extLst>
          </p:cNvPr>
          <p:cNvSpPr/>
          <p:nvPr/>
        </p:nvSpPr>
        <p:spPr>
          <a:xfrm>
            <a:off x="2971800" y="4046220"/>
            <a:ext cx="2552700" cy="784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699D4E-0FDF-0F26-10C1-588021E8CB2B}"/>
              </a:ext>
            </a:extLst>
          </p:cNvPr>
          <p:cNvSpPr txBox="1"/>
          <p:nvPr/>
        </p:nvSpPr>
        <p:spPr>
          <a:xfrm>
            <a:off x="3093720" y="4137660"/>
            <a:ext cx="230886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10818F"/>
                </a:solidFill>
                <a:latin typeface="Arial" panose="020B0604020202020204" pitchFamily="34" charset="0"/>
              </a:rPr>
              <a:t>Acoustic impedance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906DE8-E162-E665-149E-144600F3CFB1}"/>
              </a:ext>
            </a:extLst>
          </p:cNvPr>
          <p:cNvSpPr txBox="1"/>
          <p:nvPr/>
        </p:nvSpPr>
        <p:spPr>
          <a:xfrm>
            <a:off x="3093720" y="4366260"/>
            <a:ext cx="230886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AI = RHOB * Vp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FF2398-694E-D38F-FB59-0B7045015B20}"/>
              </a:ext>
            </a:extLst>
          </p:cNvPr>
          <p:cNvSpPr txBox="1"/>
          <p:nvPr/>
        </p:nvSpPr>
        <p:spPr>
          <a:xfrm>
            <a:off x="3093720" y="4617720"/>
            <a:ext cx="230886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inherits density and sonic QC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B4B19A3-A29D-02D4-3BE3-875C739D02D9}"/>
              </a:ext>
            </a:extLst>
          </p:cNvPr>
          <p:cNvSpPr/>
          <p:nvPr/>
        </p:nvSpPr>
        <p:spPr>
          <a:xfrm>
            <a:off x="5791200" y="4046220"/>
            <a:ext cx="2560320" cy="784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1307D7-31C9-5C85-76E2-6B24476304BE}"/>
              </a:ext>
            </a:extLst>
          </p:cNvPr>
          <p:cNvSpPr txBox="1"/>
          <p:nvPr/>
        </p:nvSpPr>
        <p:spPr>
          <a:xfrm>
            <a:off x="5913120" y="4137660"/>
            <a:ext cx="231648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10818F"/>
                </a:solidFill>
                <a:latin typeface="Arial" panose="020B0604020202020204" pitchFamily="34" charset="0"/>
              </a:rPr>
              <a:t>Elastic moduli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583C21-432B-2FD5-4111-464D098464FE}"/>
              </a:ext>
            </a:extLst>
          </p:cNvPr>
          <p:cNvSpPr txBox="1"/>
          <p:nvPr/>
        </p:nvSpPr>
        <p:spPr>
          <a:xfrm>
            <a:off x="5913120" y="4366260"/>
            <a:ext cx="231648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G = rho*Vs^2; K = rho*(Vp^2 - 4Vs^2/3)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99EDAE-A384-68BA-8F0A-A1448D80F6A4}"/>
              </a:ext>
            </a:extLst>
          </p:cNvPr>
          <p:cNvSpPr txBox="1"/>
          <p:nvPr/>
        </p:nvSpPr>
        <p:spPr>
          <a:xfrm>
            <a:off x="5913120" y="4617720"/>
            <a:ext cx="231648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unit-consistent physics only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BE84EF8-F1DF-E9B9-E7B5-EB347AB58147}"/>
              </a:ext>
            </a:extLst>
          </p:cNvPr>
          <p:cNvSpPr/>
          <p:nvPr/>
        </p:nvSpPr>
        <p:spPr>
          <a:xfrm>
            <a:off x="2971800" y="5013960"/>
            <a:ext cx="2552700" cy="784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9BF56C-C541-CE3B-405D-B7465DA762B7}"/>
              </a:ext>
            </a:extLst>
          </p:cNvPr>
          <p:cNvSpPr txBox="1"/>
          <p:nvPr/>
        </p:nvSpPr>
        <p:spPr>
          <a:xfrm>
            <a:off x="3093720" y="5105400"/>
            <a:ext cx="230886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10818F"/>
                </a:solidFill>
                <a:latin typeface="Arial" panose="020B0604020202020204" pitchFamily="34" charset="0"/>
              </a:rPr>
              <a:t>lambda-rho / mu-rho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F954DF-1BE2-40C2-B1C4-62420AC78376}"/>
              </a:ext>
            </a:extLst>
          </p:cNvPr>
          <p:cNvSpPr txBox="1"/>
          <p:nvPr/>
        </p:nvSpPr>
        <p:spPr>
          <a:xfrm>
            <a:off x="3093720" y="5334000"/>
            <a:ext cx="230886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lambda_rho = rho*(Vp^2 - 2Vs^2); mu_rho = rho*Vs^2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0B1470-DE73-0171-6590-97B725728C4C}"/>
              </a:ext>
            </a:extLst>
          </p:cNvPr>
          <p:cNvSpPr txBox="1"/>
          <p:nvPr/>
        </p:nvSpPr>
        <p:spPr>
          <a:xfrm>
            <a:off x="3093720" y="5585460"/>
            <a:ext cx="230886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elastic contrast, not label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D00EF35-B85C-F876-1992-6606D8780D82}"/>
              </a:ext>
            </a:extLst>
          </p:cNvPr>
          <p:cNvSpPr/>
          <p:nvPr/>
        </p:nvSpPr>
        <p:spPr>
          <a:xfrm>
            <a:off x="5791200" y="5013960"/>
            <a:ext cx="2560320" cy="784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1766B8-C5DA-52FB-4BAB-755F7906C736}"/>
              </a:ext>
            </a:extLst>
          </p:cNvPr>
          <p:cNvSpPr txBox="1"/>
          <p:nvPr/>
        </p:nvSpPr>
        <p:spPr>
          <a:xfrm>
            <a:off x="5913120" y="5105400"/>
            <a:ext cx="231648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E0A12D"/>
                </a:solidFill>
                <a:latin typeface="Arial" panose="020B0604020202020204" pitchFamily="34" charset="0"/>
              </a:rPr>
              <a:t>NMR-density separation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28E7A3-62D8-AA82-31AA-9135F6BADAB8}"/>
              </a:ext>
            </a:extLst>
          </p:cNvPr>
          <p:cNvSpPr txBox="1"/>
          <p:nvPr/>
        </p:nvSpPr>
        <p:spPr>
          <a:xfrm>
            <a:off x="5913120" y="5334000"/>
            <a:ext cx="231648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sep = phi_D - NMRPHI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3B0F43-6DD0-74EB-E751-688470C73C6E}"/>
              </a:ext>
            </a:extLst>
          </p:cNvPr>
          <p:cNvSpPr txBox="1"/>
          <p:nvPr/>
        </p:nvSpPr>
        <p:spPr>
          <a:xfrm>
            <a:off x="5913120" y="5585460"/>
            <a:ext cx="231648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NMR_SAT/Sgh/Sh remain Y-only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2E11725-E153-5023-25CB-FA6C3A7B8C8F}"/>
              </a:ext>
            </a:extLst>
          </p:cNvPr>
          <p:cNvSpPr/>
          <p:nvPr/>
        </p:nvSpPr>
        <p:spPr>
          <a:xfrm>
            <a:off x="8763000" y="1104900"/>
            <a:ext cx="2971800" cy="49149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ECFA6A-BABB-A7C2-6CD8-FBB214C55421}"/>
              </a:ext>
            </a:extLst>
          </p:cNvPr>
          <p:cNvSpPr txBox="1"/>
          <p:nvPr/>
        </p:nvSpPr>
        <p:spPr>
          <a:xfrm>
            <a:off x="8976360" y="1325880"/>
            <a:ext cx="2286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E0A12D"/>
                </a:solidFill>
                <a:latin typeface="Arial" panose="020B0604020202020204" pitchFamily="34" charset="0"/>
              </a:rPr>
              <a:t>Stability context chip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C34728CC-0641-EDEF-F950-B6AA118F60F6}"/>
              </a:ext>
            </a:extLst>
          </p:cNvPr>
          <p:cNvSpPr/>
          <p:nvPr/>
        </p:nvSpPr>
        <p:spPr>
          <a:xfrm>
            <a:off x="8976360" y="1760220"/>
            <a:ext cx="2552700" cy="8153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7668BD-D694-D81C-4382-728549653CFE}"/>
              </a:ext>
            </a:extLst>
          </p:cNvPr>
          <p:cNvSpPr txBox="1"/>
          <p:nvPr/>
        </p:nvSpPr>
        <p:spPr>
          <a:xfrm>
            <a:off x="9098280" y="1851660"/>
            <a:ext cx="230886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E0A12D"/>
                </a:solidFill>
                <a:latin typeface="Arial" panose="020B0604020202020204" pitchFamily="34" charset="0"/>
              </a:rPr>
              <a:t>Hydrostatic pressure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FF7EED-4B49-259A-3EA7-83FD20D45C4D}"/>
              </a:ext>
            </a:extLst>
          </p:cNvPr>
          <p:cNvSpPr txBox="1"/>
          <p:nvPr/>
        </p:nvSpPr>
        <p:spPr>
          <a:xfrm>
            <a:off x="9098280" y="2080260"/>
            <a:ext cx="230886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pl-PL" sz="800" b="1">
                <a:solidFill>
                  <a:srgbClr val="0F2230"/>
                </a:solidFill>
                <a:latin typeface="Arial" panose="020B0604020202020204" pitchFamily="34" charset="0"/>
              </a:rPr>
              <a:t>P_abs(z) = P_surface + rho_w*g*z_m/1e6</a:t>
            </a:r>
            <a:endParaRPr lang="en-US" sz="800" b="1">
              <a:solidFill>
                <a:srgbClr val="0F2230"/>
              </a:solidFill>
              <a:latin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B4E841-A49B-DC85-7395-FA319A19B475}"/>
              </a:ext>
            </a:extLst>
          </p:cNvPr>
          <p:cNvSpPr txBox="1"/>
          <p:nvPr/>
        </p:nvSpPr>
        <p:spPr>
          <a:xfrm>
            <a:off x="9098280" y="2362200"/>
            <a:ext cx="230886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assumption, not measured reservoir pressure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0E297F2B-DF71-0DC4-F331-A709111097A0}"/>
              </a:ext>
            </a:extLst>
          </p:cNvPr>
          <p:cNvSpPr/>
          <p:nvPr/>
        </p:nvSpPr>
        <p:spPr>
          <a:xfrm>
            <a:off x="8976360" y="2834640"/>
            <a:ext cx="2552700" cy="800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375E1-E17F-EAD0-F641-F79D1D00CFC7}"/>
              </a:ext>
            </a:extLst>
          </p:cNvPr>
          <p:cNvSpPr txBox="1"/>
          <p:nvPr/>
        </p:nvSpPr>
        <p:spPr>
          <a:xfrm>
            <a:off x="9098280" y="2926080"/>
            <a:ext cx="230886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E0A12D"/>
                </a:solidFill>
                <a:latin typeface="Arial" panose="020B0604020202020204" pitchFamily="34" charset="0"/>
              </a:rPr>
              <a:t>Phase check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84D56F-944A-DB65-9AEA-B9EDB057CE8F}"/>
              </a:ext>
            </a:extLst>
          </p:cNvPr>
          <p:cNvSpPr txBox="1"/>
          <p:nvPr/>
        </p:nvSpPr>
        <p:spPr>
          <a:xfrm>
            <a:off x="9098280" y="3154680"/>
            <a:ext cx="230886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fr-FR" sz="800" b="1">
                <a:solidFill>
                  <a:srgbClr val="0F2230"/>
                </a:solidFill>
                <a:latin typeface="Arial" panose="020B0604020202020204" pitchFamily="34" charset="0"/>
              </a:rPr>
              <a:t>admissible = T_model &lt;= T_eq(P, CH4, 5 ppt)</a:t>
            </a:r>
            <a:endParaRPr lang="en-US" sz="800" b="1">
              <a:solidFill>
                <a:srgbClr val="0F2230"/>
              </a:solidFill>
              <a:latin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A0A8B4-FB73-A69E-FB51-BDCC13365341}"/>
              </a:ext>
            </a:extLst>
          </p:cNvPr>
          <p:cNvSpPr txBox="1"/>
          <p:nvPr/>
        </p:nvSpPr>
        <p:spPr>
          <a:xfrm>
            <a:off x="9098280" y="3421380"/>
            <a:ext cx="230886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536770"/>
                </a:solidFill>
                <a:latin typeface="Arial" panose="020B0604020202020204" pitchFamily="34" charset="0"/>
              </a:rPr>
              <a:t>context/mask only; no occurrence claim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82A2F98-129D-40EB-8C64-22916E3CDD00}"/>
              </a:ext>
            </a:extLst>
          </p:cNvPr>
          <p:cNvSpPr/>
          <p:nvPr/>
        </p:nvSpPr>
        <p:spPr>
          <a:xfrm>
            <a:off x="8976360" y="4084320"/>
            <a:ext cx="2552700" cy="1249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7A4D23-7F02-8161-0E12-A2597ACB6539}"/>
              </a:ext>
            </a:extLst>
          </p:cNvPr>
          <p:cNvSpPr txBox="1"/>
          <p:nvPr/>
        </p:nvSpPr>
        <p:spPr>
          <a:xfrm>
            <a:off x="9174480" y="4297680"/>
            <a:ext cx="1905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D9373A"/>
                </a:solidFill>
                <a:latin typeface="Arial" panose="020B0604020202020204" pitchFamily="34" charset="0"/>
              </a:rPr>
              <a:t>Leakage stop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5568893-9B2F-F394-9863-3060AC085B78}"/>
              </a:ext>
            </a:extLst>
          </p:cNvPr>
          <p:cNvSpPr txBox="1"/>
          <p:nvPr/>
        </p:nvSpPr>
        <p:spPr>
          <a:xfrm>
            <a:off x="9174480" y="4602480"/>
            <a:ext cx="1981200" cy="66684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0F2230"/>
                </a:solidFill>
                <a:latin typeface="Arial" panose="020B0604020202020204" pitchFamily="34" charset="0"/>
              </a:rPr>
              <a:t>Sgh, S_h, Sh, NMR_SAT, hydrate saturation, Swr/S_wr, and phase labels stay out of X_allowed.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2DC08C2-8E86-1849-4BD7-1E4D58C1D88B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271D0C5-294E-CE6D-5BE9-A51BE12276B7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Sources: processing slide 6 direction, WELL_LOG_REQUIREMENTS_MAP, approved intake spec, stability calculation plan, and parameter evidence registry.</a:t>
            </a:r>
          </a:p>
        </p:txBody>
      </p:sp>
    </p:spTree>
    <p:extLst>
      <p:ext uri="{BB962C8B-B14F-4D97-AF65-F5344CB8AC3E}">
        <p14:creationId xmlns:p14="http://schemas.microsoft.com/office/powerpoint/2010/main" val="338326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439457-5415-8361-7D5C-AC1D6BE3DF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317F0-C3EC-FE3E-ED4B-A771ACCE547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E52EC-C94B-70CC-C9CA-C1764EA44AE5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Unified North Slope Well + Stability Context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56C05-ECB7-1B43-65B6-C5B169AB557B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Regional context only: public GIS layers and stability-screen status for discussion, not an ML overlay or hydrate proof.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876779-C115-BA3C-9DC8-029651E2E63F}"/>
              </a:ext>
            </a:extLst>
          </p:cNvPr>
          <p:cNvSpPr/>
          <p:nvPr/>
        </p:nvSpPr>
        <p:spPr>
          <a:xfrm>
            <a:off x="396240" y="1104900"/>
            <a:ext cx="8023860" cy="4381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12D635-F69C-266F-FA82-47F4E57A6F5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80160"/>
            <a:ext cx="7757160" cy="378714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B707E8-4D4E-DA4B-2D60-2A49FCA61377}"/>
              </a:ext>
            </a:extLst>
          </p:cNvPr>
          <p:cNvSpPr/>
          <p:nvPr/>
        </p:nvSpPr>
        <p:spPr>
          <a:xfrm>
            <a:off x="594360" y="5143500"/>
            <a:ext cx="7635240" cy="24384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5BABAF-3563-D97C-E38A-B6D8201CDFF7}"/>
              </a:ext>
            </a:extLst>
          </p:cNvPr>
          <p:cNvSpPr/>
          <p:nvPr/>
        </p:nvSpPr>
        <p:spPr>
          <a:xfrm>
            <a:off x="800100" y="5212080"/>
            <a:ext cx="106680" cy="106680"/>
          </a:xfrm>
          <a:prstGeom prst="ellipse">
            <a:avLst/>
          </a:prstGeom>
          <a:solidFill>
            <a:srgbClr val="3786CF"/>
          </a:solidFill>
          <a:ln w="1270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47026-C471-B4A5-B02C-DAFB4DBBD703}"/>
              </a:ext>
            </a:extLst>
          </p:cNvPr>
          <p:cNvSpPr txBox="1"/>
          <p:nvPr/>
        </p:nvSpPr>
        <p:spPr>
          <a:xfrm>
            <a:off x="967740" y="5181600"/>
            <a:ext cx="16764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0F2230"/>
                </a:solidFill>
                <a:latin typeface="Arial" panose="020B0604020202020204" pitchFamily="34" charset="0"/>
              </a:rPr>
              <a:t>Calculated screen interval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3B2B9D-6DC6-3700-96FF-3BB22F0B8997}"/>
              </a:ext>
            </a:extLst>
          </p:cNvPr>
          <p:cNvSpPr/>
          <p:nvPr/>
        </p:nvSpPr>
        <p:spPr>
          <a:xfrm>
            <a:off x="2781300" y="5212080"/>
            <a:ext cx="106680" cy="106680"/>
          </a:xfrm>
          <a:prstGeom prst="ellipse">
            <a:avLst/>
          </a:prstGeom>
          <a:solidFill>
            <a:srgbClr val="0F2230"/>
          </a:solidFill>
          <a:ln w="12700">
            <a:solidFill>
              <a:srgbClr val="0F22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A9F6A8-EB5C-18E0-F9D5-06A0599F7E74}"/>
              </a:ext>
            </a:extLst>
          </p:cNvPr>
          <p:cNvSpPr txBox="1"/>
          <p:nvPr/>
        </p:nvSpPr>
        <p:spPr>
          <a:xfrm>
            <a:off x="2948940" y="5181600"/>
            <a:ext cx="16764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0F2230"/>
                </a:solidFill>
                <a:latin typeface="Arial" panose="020B0604020202020204" pitchFamily="34" charset="0"/>
              </a:rPr>
              <a:t>Calculated, no stable interval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A55381-59E7-3246-470A-F6FCF31E84EF}"/>
              </a:ext>
            </a:extLst>
          </p:cNvPr>
          <p:cNvSpPr/>
          <p:nvPr/>
        </p:nvSpPr>
        <p:spPr>
          <a:xfrm>
            <a:off x="4991100" y="5212080"/>
            <a:ext cx="106680" cy="1066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D1AE-BC60-3A8E-8A12-9169D7EDD5D6}"/>
              </a:ext>
            </a:extLst>
          </p:cNvPr>
          <p:cNvSpPr txBox="1"/>
          <p:nvPr/>
        </p:nvSpPr>
        <p:spPr>
          <a:xfrm>
            <a:off x="5158740" y="5181600"/>
            <a:ext cx="16764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0F2230"/>
                </a:solidFill>
                <a:latin typeface="Arial" panose="020B0604020202020204" pitchFamily="34" charset="0"/>
              </a:rPr>
              <a:t>Blocked: phase curve range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F9465D7-DE4D-9C59-1F9A-BEAA335F9622}"/>
              </a:ext>
            </a:extLst>
          </p:cNvPr>
          <p:cNvSpPr/>
          <p:nvPr/>
        </p:nvSpPr>
        <p:spPr>
          <a:xfrm>
            <a:off x="7086600" y="5212080"/>
            <a:ext cx="106680" cy="106680"/>
          </a:xfrm>
          <a:prstGeom prst="ellipse">
            <a:avLst/>
          </a:prstGeom>
          <a:solidFill>
            <a:srgbClr val="705FC3"/>
          </a:solidFill>
          <a:ln w="1270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ABF5A6-960A-5604-62A2-DCB73EB9A51F}"/>
              </a:ext>
            </a:extLst>
          </p:cNvPr>
          <p:cNvSpPr txBox="1"/>
          <p:nvPr/>
        </p:nvSpPr>
        <p:spPr>
          <a:xfrm>
            <a:off x="7254240" y="5181600"/>
            <a:ext cx="1676400" cy="1436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600" b="1">
                <a:solidFill>
                  <a:srgbClr val="0F2230"/>
                </a:solidFill>
                <a:latin typeface="Arial" panose="020B0604020202020204" pitchFamily="34" charset="0"/>
              </a:rPr>
              <a:t>Outside public AU context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DD15D5-43E3-0CC8-3D80-80E4FBA2A245}"/>
              </a:ext>
            </a:extLst>
          </p:cNvPr>
          <p:cNvSpPr/>
          <p:nvPr/>
        </p:nvSpPr>
        <p:spPr>
          <a:xfrm>
            <a:off x="8686800" y="1104900"/>
            <a:ext cx="3048000" cy="11963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75A8D-90E5-2274-1226-997DF3EEF26E}"/>
              </a:ext>
            </a:extLst>
          </p:cNvPr>
          <p:cNvSpPr txBox="1"/>
          <p:nvPr/>
        </p:nvSpPr>
        <p:spPr>
          <a:xfrm>
            <a:off x="8884920" y="1280160"/>
            <a:ext cx="2286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10818F"/>
                </a:solidFill>
                <a:latin typeface="Arial" panose="020B0604020202020204" pitchFamily="34" charset="0"/>
              </a:rPr>
              <a:t>Readable orientation layers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717852-B643-10DD-4C5B-60379C704955}"/>
              </a:ext>
            </a:extLst>
          </p:cNvPr>
          <p:cNvSpPr txBox="1"/>
          <p:nvPr/>
        </p:nvSpPr>
        <p:spPr>
          <a:xfrm>
            <a:off x="8900160" y="1577340"/>
            <a:ext cx="24384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USGS hydrate AU outlines, DNR oil/gas unit outlines, AKDOT roads, Dalton/Deadhorse roads, TAPS corridor, field labels, and public wells.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F07F12-E031-EB9E-F10D-88A86615CD3A}"/>
              </a:ext>
            </a:extLst>
          </p:cNvPr>
          <p:cNvSpPr/>
          <p:nvPr/>
        </p:nvSpPr>
        <p:spPr>
          <a:xfrm>
            <a:off x="8686800" y="2476500"/>
            <a:ext cx="3048000" cy="11963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AD8A7E-42D9-12E3-6911-5D4397FA721B}"/>
              </a:ext>
            </a:extLst>
          </p:cNvPr>
          <p:cNvSpPr txBox="1"/>
          <p:nvPr/>
        </p:nvSpPr>
        <p:spPr>
          <a:xfrm>
            <a:off x="8884920" y="2651760"/>
            <a:ext cx="2286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3786CF"/>
                </a:solidFill>
                <a:latin typeface="Arial" panose="020B0604020202020204" pitchFamily="34" charset="0"/>
              </a:rPr>
              <a:t>Status points stay separate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9E770F-58AE-614E-0C56-95D6B83318DC}"/>
              </a:ext>
            </a:extLst>
          </p:cNvPr>
          <p:cNvSpPr txBox="1"/>
          <p:nvPr/>
        </p:nvSpPr>
        <p:spPr>
          <a:xfrm>
            <a:off x="8900160" y="2956560"/>
            <a:ext cx="24384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Point colors are stability-screen status categories. They are not occurrence labels, saturation labels, or trained-model outputs.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C47F817-DB74-F3D4-1995-556F8C517BDC}"/>
              </a:ext>
            </a:extLst>
          </p:cNvPr>
          <p:cNvSpPr/>
          <p:nvPr/>
        </p:nvSpPr>
        <p:spPr>
          <a:xfrm>
            <a:off x="8686800" y="3848100"/>
            <a:ext cx="3048000" cy="11963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83479-BC3F-372D-FFC0-8E63F16AEE6F}"/>
              </a:ext>
            </a:extLst>
          </p:cNvPr>
          <p:cNvSpPr txBox="1"/>
          <p:nvPr/>
        </p:nvSpPr>
        <p:spPr>
          <a:xfrm>
            <a:off x="8884920" y="4023360"/>
            <a:ext cx="2286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E0A12D"/>
                </a:solidFill>
                <a:latin typeface="Arial" panose="020B0604020202020204" pitchFamily="34" charset="0"/>
              </a:rPr>
              <a:t>How to discuss it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24AACF-614E-B7DB-BF9F-339D07144B48}"/>
              </a:ext>
            </a:extLst>
          </p:cNvPr>
          <p:cNvSpPr txBox="1"/>
          <p:nvPr/>
        </p:nvSpPr>
        <p:spPr>
          <a:xfrm>
            <a:off x="8900160" y="4328160"/>
            <a:ext cx="24384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Use the map to locate the wells and public geologic context before showing planned result-review logic.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D55D4EC-3A7C-4A28-34E6-84B532D51979}"/>
              </a:ext>
            </a:extLst>
          </p:cNvPr>
          <p:cNvSpPr/>
          <p:nvPr/>
        </p:nvSpPr>
        <p:spPr>
          <a:xfrm>
            <a:off x="8686800" y="5257800"/>
            <a:ext cx="3048000" cy="99060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CE9268-F057-768A-EB2D-8D01A9CD5C02}"/>
              </a:ext>
            </a:extLst>
          </p:cNvPr>
          <p:cNvSpPr txBox="1"/>
          <p:nvPr/>
        </p:nvSpPr>
        <p:spPr>
          <a:xfrm>
            <a:off x="8884920" y="5425440"/>
            <a:ext cx="23241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D9373A"/>
                </a:solidFill>
                <a:latin typeface="Arial" panose="020B0604020202020204" pitchFamily="34" charset="0"/>
              </a:rPr>
              <a:t>Required caveat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01998-BD85-B4D6-B5C8-6F15038BDC6D}"/>
              </a:ext>
            </a:extLst>
          </p:cNvPr>
          <p:cNvSpPr txBox="1"/>
          <p:nvPr/>
        </p:nvSpPr>
        <p:spPr>
          <a:xfrm>
            <a:off x="8900160" y="5730240"/>
            <a:ext cx="24765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D9373A"/>
                </a:solidFill>
                <a:latin typeface="Arial" panose="020B0604020202020204" pitchFamily="34" charset="0"/>
              </a:rPr>
              <a:t>Context/orientation only. Stability-screen status does not prove hydrate occurrence, saturation, or trained-model evidence.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8F0E5E-F66A-BC3D-D71E-6423534253BC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3640E33-787F-16BE-29CE-62020E3A0D0A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Map source: public/OSL-staged unified North Slope GIS export. Raw DNR/AKDOT/TAPS/GNIS/DGGS packages remain Drive/OSL-only when not GitHub-safe.</a:t>
            </a:r>
          </a:p>
        </p:txBody>
      </p:sp>
    </p:spTree>
    <p:extLst>
      <p:ext uri="{BB962C8B-B14F-4D97-AF65-F5344CB8AC3E}">
        <p14:creationId xmlns:p14="http://schemas.microsoft.com/office/powerpoint/2010/main" val="422872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75FBF0-04F3-17EA-7DC6-57F93378BD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1094C-A5C5-87D6-B2AA-C6CE916A42D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C3DF9-72EB-1AFC-AB46-3D42998630C0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Stability-To-ML Overlay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33563C-021D-7FC6-61F0-D5367957D567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Stability can help review the model as context, mask, confidence, and caveat. It is not occurrence proof or a saturation label.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5BF912-DA8F-0AD0-1916-66E72FA9FF1D}"/>
              </a:ext>
            </a:extLst>
          </p:cNvPr>
          <p:cNvSpPr/>
          <p:nvPr/>
        </p:nvSpPr>
        <p:spPr>
          <a:xfrm>
            <a:off x="533400" y="1181100"/>
            <a:ext cx="2743200" cy="43053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0B197D-EE99-C977-1807-C7189E4DE844}"/>
              </a:ext>
            </a:extLst>
          </p:cNvPr>
          <p:cNvSpPr txBox="1"/>
          <p:nvPr/>
        </p:nvSpPr>
        <p:spPr>
          <a:xfrm>
            <a:off x="746760" y="1371600"/>
            <a:ext cx="2286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3786CF"/>
                </a:solidFill>
                <a:latin typeface="Arial" panose="020B0604020202020204" pitchFamily="34" charset="0"/>
              </a:rPr>
              <a:t>Public stability screen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AE0B7-7121-6BCE-90E9-755DD92E28B8}"/>
              </a:ext>
            </a:extLst>
          </p:cNvPr>
          <p:cNvSpPr/>
          <p:nvPr/>
        </p:nvSpPr>
        <p:spPr>
          <a:xfrm>
            <a:off x="762000" y="1828800"/>
            <a:ext cx="2286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401E2-F884-5E83-1D7A-21F4AFB023D7}"/>
              </a:ext>
            </a:extLst>
          </p:cNvPr>
          <p:cNvSpPr txBox="1"/>
          <p:nvPr/>
        </p:nvSpPr>
        <p:spPr>
          <a:xfrm>
            <a:off x="914400" y="1920240"/>
            <a:ext cx="6858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3786CF"/>
                </a:solidFill>
                <a:latin typeface="Arial" panose="020B0604020202020204" pitchFamily="34" charset="0"/>
              </a:rPr>
              <a:t>8,084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533FC1-B336-18C3-E7D9-AB41F76413CE}"/>
              </a:ext>
            </a:extLst>
          </p:cNvPr>
          <p:cNvSpPr txBox="1"/>
          <p:nvPr/>
        </p:nvSpPr>
        <p:spPr>
          <a:xfrm>
            <a:off x="1676400" y="1943100"/>
            <a:ext cx="11811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public screen rows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89678B-F4DF-F4F6-9DB1-854BD08BF15A}"/>
              </a:ext>
            </a:extLst>
          </p:cNvPr>
          <p:cNvSpPr/>
          <p:nvPr/>
        </p:nvSpPr>
        <p:spPr>
          <a:xfrm>
            <a:off x="762000" y="2514600"/>
            <a:ext cx="2286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C53AA7-DE1A-4961-50CA-1B2962764F8E}"/>
              </a:ext>
            </a:extLst>
          </p:cNvPr>
          <p:cNvSpPr txBox="1"/>
          <p:nvPr/>
        </p:nvSpPr>
        <p:spPr>
          <a:xfrm>
            <a:off x="914400" y="2606040"/>
            <a:ext cx="6858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3786CF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90B9AC-314D-FAF3-F05B-6A0ED2F39ABF}"/>
              </a:ext>
            </a:extLst>
          </p:cNvPr>
          <p:cNvSpPr txBox="1"/>
          <p:nvPr/>
        </p:nvSpPr>
        <p:spPr>
          <a:xfrm>
            <a:off x="1676400" y="2628900"/>
            <a:ext cx="11811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calculated admissibility
intervals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4B8959-CE05-F03F-EE97-6AE4D80D994D}"/>
              </a:ext>
            </a:extLst>
          </p:cNvPr>
          <p:cNvSpPr/>
          <p:nvPr/>
        </p:nvSpPr>
        <p:spPr>
          <a:xfrm>
            <a:off x="762000" y="3200400"/>
            <a:ext cx="2286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D73B5-13BE-0EF0-07D0-D5E61F0B7C33}"/>
              </a:ext>
            </a:extLst>
          </p:cNvPr>
          <p:cNvSpPr txBox="1"/>
          <p:nvPr/>
        </p:nvSpPr>
        <p:spPr>
          <a:xfrm>
            <a:off x="914400" y="3291840"/>
            <a:ext cx="6858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3786CF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882846-7FA8-1871-95B8-9BE2C63C0E5C}"/>
              </a:ext>
            </a:extLst>
          </p:cNvPr>
          <p:cNvSpPr txBox="1"/>
          <p:nvPr/>
        </p:nvSpPr>
        <p:spPr>
          <a:xfrm>
            <a:off x="1676400" y="3314700"/>
            <a:ext cx="11811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no-stable rows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F6BC9C-C008-3E51-67FB-19BEE05359AD}"/>
              </a:ext>
            </a:extLst>
          </p:cNvPr>
          <p:cNvSpPr/>
          <p:nvPr/>
        </p:nvSpPr>
        <p:spPr>
          <a:xfrm>
            <a:off x="762000" y="3886200"/>
            <a:ext cx="2286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16EC5-5CEF-5001-3C6E-61E5852264DF}"/>
              </a:ext>
            </a:extLst>
          </p:cNvPr>
          <p:cNvSpPr txBox="1"/>
          <p:nvPr/>
        </p:nvSpPr>
        <p:spPr>
          <a:xfrm>
            <a:off x="914400" y="3977640"/>
            <a:ext cx="6858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D9373A"/>
                </a:solidFill>
                <a:latin typeface="Arial" panose="020B0604020202020204" pitchFamily="34" charset="0"/>
              </a:rPr>
              <a:t>8,054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1928CB-8A18-0389-4DDB-CF55A06587E2}"/>
              </a:ext>
            </a:extLst>
          </p:cNvPr>
          <p:cNvSpPr txBox="1"/>
          <p:nvPr/>
        </p:nvSpPr>
        <p:spPr>
          <a:xfrm>
            <a:off x="1676400" y="4000500"/>
            <a:ext cx="11811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blocked rows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0285DD-6274-6BCA-EDE7-36C91E92972C}"/>
              </a:ext>
            </a:extLst>
          </p:cNvPr>
          <p:cNvSpPr txBox="1"/>
          <p:nvPr/>
        </p:nvSpPr>
        <p:spPr>
          <a:xfrm>
            <a:off x="746760" y="4762500"/>
            <a:ext cx="2286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536770"/>
                </a:solidFill>
                <a:latin typeface="Arial" panose="020B0604020202020204" pitchFamily="34" charset="0"/>
              </a:rPr>
              <a:t>Methane 5 ppt phase curve + hydrostatic pressure + G10015 temperature model under locked public assumptions.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DF10E09-9421-3D08-9404-182AB48A8A6E}"/>
              </a:ext>
            </a:extLst>
          </p:cNvPr>
          <p:cNvSpPr/>
          <p:nvPr/>
        </p:nvSpPr>
        <p:spPr>
          <a:xfrm>
            <a:off x="3810000" y="1181100"/>
            <a:ext cx="4648200" cy="43053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DAD94-CC85-74F1-467E-8F71C0108C14}"/>
              </a:ext>
            </a:extLst>
          </p:cNvPr>
          <p:cNvSpPr txBox="1"/>
          <p:nvPr/>
        </p:nvSpPr>
        <p:spPr>
          <a:xfrm>
            <a:off x="4038600" y="1371600"/>
            <a:ext cx="3962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10818F"/>
                </a:solidFill>
                <a:latin typeface="Arial" panose="020B0604020202020204" pitchFamily="34" charset="0"/>
              </a:rPr>
              <a:t>Allowed overlay roles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4C37E1-7A8F-EFAF-F6B5-72AAE5A0CC5E}"/>
              </a:ext>
            </a:extLst>
          </p:cNvPr>
          <p:cNvSpPr/>
          <p:nvPr/>
        </p:nvSpPr>
        <p:spPr>
          <a:xfrm>
            <a:off x="4076700" y="1866900"/>
            <a:ext cx="1981200" cy="8382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BC35AA-2AB1-DF9F-ECD4-4210BD1E1D54}"/>
              </a:ext>
            </a:extLst>
          </p:cNvPr>
          <p:cNvSpPr txBox="1"/>
          <p:nvPr/>
        </p:nvSpPr>
        <p:spPr>
          <a:xfrm>
            <a:off x="4213860" y="1973580"/>
            <a:ext cx="170688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10818F"/>
                </a:solidFill>
                <a:latin typeface="Arial" panose="020B0604020202020204" pitchFamily="34" charset="0"/>
              </a:rPr>
              <a:t>Context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4E11E8-A744-8999-4376-15DE1EDB728C}"/>
              </a:ext>
            </a:extLst>
          </p:cNvPr>
          <p:cNvSpPr txBox="1"/>
          <p:nvPr/>
        </p:nvSpPr>
        <p:spPr>
          <a:xfrm>
            <a:off x="4213860" y="2232660"/>
            <a:ext cx="170688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Add stability status beside logs and predictions.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E740DF-57FB-53E1-C395-972DC63D9BC7}"/>
              </a:ext>
            </a:extLst>
          </p:cNvPr>
          <p:cNvSpPr/>
          <p:nvPr/>
        </p:nvSpPr>
        <p:spPr>
          <a:xfrm>
            <a:off x="6286500" y="1866900"/>
            <a:ext cx="1943100" cy="8382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FA832-52A7-8D6B-1815-414B3C0BF992}"/>
              </a:ext>
            </a:extLst>
          </p:cNvPr>
          <p:cNvSpPr txBox="1"/>
          <p:nvPr/>
        </p:nvSpPr>
        <p:spPr>
          <a:xfrm>
            <a:off x="6423660" y="1973580"/>
            <a:ext cx="166878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3786CF"/>
                </a:solidFill>
                <a:latin typeface="Arial" panose="020B0604020202020204" pitchFamily="34" charset="0"/>
              </a:rPr>
              <a:t>Mask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B0D6AD-6104-1D55-D2A3-AD011E777088}"/>
              </a:ext>
            </a:extLst>
          </p:cNvPr>
          <p:cNvSpPr txBox="1"/>
          <p:nvPr/>
        </p:nvSpPr>
        <p:spPr>
          <a:xfrm>
            <a:off x="6423660" y="2232660"/>
            <a:ext cx="166878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Filter or flag rows outside the current admissible screen.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D212583-1FAF-12D1-F735-FDA0FAEF3B3E}"/>
              </a:ext>
            </a:extLst>
          </p:cNvPr>
          <p:cNvSpPr/>
          <p:nvPr/>
        </p:nvSpPr>
        <p:spPr>
          <a:xfrm>
            <a:off x="4076700" y="3009900"/>
            <a:ext cx="1981200" cy="8382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320B9C-192E-098A-23A1-3D1CADCD727F}"/>
              </a:ext>
            </a:extLst>
          </p:cNvPr>
          <p:cNvSpPr txBox="1"/>
          <p:nvPr/>
        </p:nvSpPr>
        <p:spPr>
          <a:xfrm>
            <a:off x="4213860" y="3116580"/>
            <a:ext cx="170688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239E70"/>
                </a:solidFill>
                <a:latin typeface="Arial" panose="020B0604020202020204" pitchFamily="34" charset="0"/>
              </a:rPr>
              <a:t>Confidence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CE005C-58AE-E4AA-E198-C7B2BEBAC3A4}"/>
              </a:ext>
            </a:extLst>
          </p:cNvPr>
          <p:cNvSpPr txBox="1"/>
          <p:nvPr/>
        </p:nvSpPr>
        <p:spPr>
          <a:xfrm>
            <a:off x="4213860" y="3375660"/>
            <a:ext cx="170688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Carry source-control labels: high, medium, low, blocked.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AAE35C7-3F6F-91AE-9687-5279E968A701}"/>
              </a:ext>
            </a:extLst>
          </p:cNvPr>
          <p:cNvSpPr/>
          <p:nvPr/>
        </p:nvSpPr>
        <p:spPr>
          <a:xfrm>
            <a:off x="6286500" y="3009900"/>
            <a:ext cx="1943100" cy="8382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13CAF6-47D1-4DB6-0DE9-8AFEDD0A1541}"/>
              </a:ext>
            </a:extLst>
          </p:cNvPr>
          <p:cNvSpPr txBox="1"/>
          <p:nvPr/>
        </p:nvSpPr>
        <p:spPr>
          <a:xfrm>
            <a:off x="6423660" y="3116580"/>
            <a:ext cx="166878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E0A12D"/>
                </a:solidFill>
                <a:latin typeface="Arial" panose="020B0604020202020204" pitchFamily="34" charset="0"/>
              </a:rPr>
              <a:t>Caveat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DDC198-1B47-AF8B-1094-04AE9AF78BE3}"/>
              </a:ext>
            </a:extLst>
          </p:cNvPr>
          <p:cNvSpPr txBox="1"/>
          <p:nvPr/>
        </p:nvSpPr>
        <p:spPr>
          <a:xfrm>
            <a:off x="6423660" y="3375660"/>
            <a:ext cx="166878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Explain phase, temperature, pressure, and blocked reasons.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BFBAB8-D347-5D91-E612-A2BD4E1654FC}"/>
              </a:ext>
            </a:extLst>
          </p:cNvPr>
          <p:cNvCxnSpPr/>
          <p:nvPr/>
        </p:nvCxnSpPr>
        <p:spPr>
          <a:xfrm flipV="1">
            <a:off x="3276600" y="2286000"/>
            <a:ext cx="800100" cy="1051560"/>
          </a:xfrm>
          <a:prstGeom prst="straightConnector1">
            <a:avLst/>
          </a:prstGeom>
          <a:ln w="30480">
            <a:solidFill>
              <a:srgbClr val="3786C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5C07B68-19B2-2F7E-DE3B-A484EC916973}"/>
              </a:ext>
            </a:extLst>
          </p:cNvPr>
          <p:cNvCxnSpPr/>
          <p:nvPr/>
        </p:nvCxnSpPr>
        <p:spPr>
          <a:xfrm>
            <a:off x="3276600" y="3337560"/>
            <a:ext cx="800100" cy="91440"/>
          </a:xfrm>
          <a:prstGeom prst="straightConnector1">
            <a:avLst/>
          </a:prstGeom>
          <a:ln w="30480">
            <a:solidFill>
              <a:srgbClr val="239E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DCF513-3378-998E-E481-88DF4F77691B}"/>
              </a:ext>
            </a:extLst>
          </p:cNvPr>
          <p:cNvCxnSpPr/>
          <p:nvPr/>
        </p:nvCxnSpPr>
        <p:spPr>
          <a:xfrm flipV="1">
            <a:off x="3276600" y="2286000"/>
            <a:ext cx="3009900" cy="1051560"/>
          </a:xfrm>
          <a:prstGeom prst="straightConnector1">
            <a:avLst/>
          </a:prstGeom>
          <a:ln w="3048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56743C-995A-B51A-4B28-3702424C1804}"/>
              </a:ext>
            </a:extLst>
          </p:cNvPr>
          <p:cNvCxnSpPr/>
          <p:nvPr/>
        </p:nvCxnSpPr>
        <p:spPr>
          <a:xfrm>
            <a:off x="3276600" y="3337560"/>
            <a:ext cx="3009900" cy="91440"/>
          </a:xfrm>
          <a:prstGeom prst="straightConnector1">
            <a:avLst/>
          </a:prstGeom>
          <a:ln w="30480">
            <a:solidFill>
              <a:srgbClr val="E0A12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0BF5972-922B-83E0-20FB-06A0FB614C04}"/>
              </a:ext>
            </a:extLst>
          </p:cNvPr>
          <p:cNvSpPr/>
          <p:nvPr/>
        </p:nvSpPr>
        <p:spPr>
          <a:xfrm>
            <a:off x="4076700" y="4305300"/>
            <a:ext cx="4152900" cy="87630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877C38-0E68-0C54-E317-B059FED1AB5A}"/>
              </a:ext>
            </a:extLst>
          </p:cNvPr>
          <p:cNvSpPr txBox="1"/>
          <p:nvPr/>
        </p:nvSpPr>
        <p:spPr>
          <a:xfrm>
            <a:off x="4305300" y="4495800"/>
            <a:ext cx="1219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D9373A"/>
                </a:solidFill>
                <a:latin typeface="Arial" panose="020B0604020202020204" pitchFamily="34" charset="0"/>
              </a:rPr>
              <a:t>Blocked 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F5B0D7-1CF2-A0C3-7A6B-DCC002C54987}"/>
              </a:ext>
            </a:extLst>
          </p:cNvPr>
          <p:cNvSpPr txBox="1"/>
          <p:nvPr/>
        </p:nvSpPr>
        <p:spPr>
          <a:xfrm>
            <a:off x="5676900" y="4457700"/>
            <a:ext cx="2286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Do not use stability as occurrence, saturation, hydrate-present target, negative label for blocked rows, or proof.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893E36B-1E63-DAE8-AAD6-AF1400B33BE3}"/>
              </a:ext>
            </a:extLst>
          </p:cNvPr>
          <p:cNvSpPr/>
          <p:nvPr/>
        </p:nvSpPr>
        <p:spPr>
          <a:xfrm>
            <a:off x="8991600" y="1181100"/>
            <a:ext cx="2667000" cy="43053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705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69A508-47AA-439C-23BB-D7322E1BAE99}"/>
              </a:ext>
            </a:extLst>
          </p:cNvPr>
          <p:cNvSpPr txBox="1"/>
          <p:nvPr/>
        </p:nvSpPr>
        <p:spPr>
          <a:xfrm>
            <a:off x="9204960" y="1371600"/>
            <a:ext cx="22098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705FC3"/>
                </a:solidFill>
                <a:latin typeface="Arial" panose="020B0604020202020204" pitchFamily="34" charset="0"/>
              </a:rPr>
              <a:t>Model review layer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695543-0AA9-41A6-B5E0-90990BB1BC80}"/>
              </a:ext>
            </a:extLst>
          </p:cNvPr>
          <p:cNvSpPr/>
          <p:nvPr/>
        </p:nvSpPr>
        <p:spPr>
          <a:xfrm>
            <a:off x="9220200" y="1866900"/>
            <a:ext cx="2209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511B77-2990-5709-CAA8-9E61E6817A3F}"/>
              </a:ext>
            </a:extLst>
          </p:cNvPr>
          <p:cNvSpPr txBox="1"/>
          <p:nvPr/>
        </p:nvSpPr>
        <p:spPr>
          <a:xfrm>
            <a:off x="9372600" y="1943100"/>
            <a:ext cx="914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239E70"/>
                </a:solidFill>
                <a:latin typeface="Arial" panose="020B0604020202020204" pitchFamily="34" charset="0"/>
              </a:rPr>
              <a:t>Approved
logs/targets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A5BA85-6CA8-1BC6-2CB1-1B82F7DD4B1F}"/>
              </a:ext>
            </a:extLst>
          </p:cNvPr>
          <p:cNvSpPr txBox="1"/>
          <p:nvPr/>
        </p:nvSpPr>
        <p:spPr>
          <a:xfrm>
            <a:off x="10363200" y="1950720"/>
            <a:ext cx="838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drive model fit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337B81D-28DF-6E18-9E0B-AFD97462A0DE}"/>
              </a:ext>
            </a:extLst>
          </p:cNvPr>
          <p:cNvCxnSpPr/>
          <p:nvPr/>
        </p:nvCxnSpPr>
        <p:spPr>
          <a:xfrm>
            <a:off x="10325100" y="2400300"/>
            <a:ext cx="0" cy="106680"/>
          </a:xfrm>
          <a:prstGeom prst="straightConnector1">
            <a:avLst/>
          </a:prstGeom>
          <a:ln w="25400">
            <a:solidFill>
              <a:srgbClr val="239E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616FDD3-CA93-B237-097A-1E3A04CC1DEA}"/>
              </a:ext>
            </a:extLst>
          </p:cNvPr>
          <p:cNvSpPr/>
          <p:nvPr/>
        </p:nvSpPr>
        <p:spPr>
          <a:xfrm>
            <a:off x="9220200" y="2522220"/>
            <a:ext cx="2209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13A291-9B3A-ACF9-F594-F18FE6D0E5EA}"/>
              </a:ext>
            </a:extLst>
          </p:cNvPr>
          <p:cNvSpPr txBox="1"/>
          <p:nvPr/>
        </p:nvSpPr>
        <p:spPr>
          <a:xfrm>
            <a:off x="9372600" y="2598420"/>
            <a:ext cx="914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10818F"/>
                </a:solidFill>
                <a:latin typeface="Arial" panose="020B0604020202020204" pitchFamily="34" charset="0"/>
              </a:rPr>
              <a:t>Occurrence
classifier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E532B5-9521-7BF8-962A-2D8202D292C3}"/>
              </a:ext>
            </a:extLst>
          </p:cNvPr>
          <p:cNvSpPr txBox="1"/>
          <p:nvPr/>
        </p:nvSpPr>
        <p:spPr>
          <a:xfrm>
            <a:off x="10363200" y="2606040"/>
            <a:ext cx="838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future P(hydrate)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49775A0-C332-0634-272B-B787477E4B37}"/>
              </a:ext>
            </a:extLst>
          </p:cNvPr>
          <p:cNvCxnSpPr/>
          <p:nvPr/>
        </p:nvCxnSpPr>
        <p:spPr>
          <a:xfrm>
            <a:off x="10325100" y="3055620"/>
            <a:ext cx="0" cy="106680"/>
          </a:xfrm>
          <a:prstGeom prst="straightConnector1">
            <a:avLst/>
          </a:prstGeom>
          <a:ln w="25400">
            <a:solidFill>
              <a:srgbClr val="10818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36AE545-152B-08CB-48EB-972A785E131B}"/>
              </a:ext>
            </a:extLst>
          </p:cNvPr>
          <p:cNvSpPr/>
          <p:nvPr/>
        </p:nvSpPr>
        <p:spPr>
          <a:xfrm>
            <a:off x="9220200" y="3177540"/>
            <a:ext cx="2209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6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B62D4E-7C9E-352C-671F-3EA4A370BB3D}"/>
              </a:ext>
            </a:extLst>
          </p:cNvPr>
          <p:cNvSpPr txBox="1"/>
          <p:nvPr/>
        </p:nvSpPr>
        <p:spPr>
          <a:xfrm>
            <a:off x="9372600" y="3253740"/>
            <a:ext cx="914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3786CF"/>
                </a:solidFill>
                <a:latin typeface="Arial" panose="020B0604020202020204" pitchFamily="34" charset="0"/>
              </a:rPr>
              <a:t>Saturation
regressor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8EA1AB-0CBB-C4CB-6AD2-28EB3307603A}"/>
              </a:ext>
            </a:extLst>
          </p:cNvPr>
          <p:cNvSpPr txBox="1"/>
          <p:nvPr/>
        </p:nvSpPr>
        <p:spPr>
          <a:xfrm>
            <a:off x="10363200" y="3261360"/>
            <a:ext cx="838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future Sh_pred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B38218C-9E21-143C-0CBB-5F44E0255997}"/>
              </a:ext>
            </a:extLst>
          </p:cNvPr>
          <p:cNvCxnSpPr/>
          <p:nvPr/>
        </p:nvCxnSpPr>
        <p:spPr>
          <a:xfrm>
            <a:off x="10325100" y="3710940"/>
            <a:ext cx="0" cy="106680"/>
          </a:xfrm>
          <a:prstGeom prst="straightConnector1">
            <a:avLst/>
          </a:prstGeom>
          <a:ln w="25400">
            <a:solidFill>
              <a:srgbClr val="3786C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D6846E4-11C5-5AF0-E9DC-A985428B6DBA}"/>
              </a:ext>
            </a:extLst>
          </p:cNvPr>
          <p:cNvSpPr/>
          <p:nvPr/>
        </p:nvSpPr>
        <p:spPr>
          <a:xfrm>
            <a:off x="9220200" y="3832860"/>
            <a:ext cx="2209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F4CEF3-AE74-D6AB-7440-0015358A2F9B}"/>
              </a:ext>
            </a:extLst>
          </p:cNvPr>
          <p:cNvSpPr txBox="1"/>
          <p:nvPr/>
        </p:nvSpPr>
        <p:spPr>
          <a:xfrm>
            <a:off x="9372600" y="3909060"/>
            <a:ext cx="914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E0A12D"/>
                </a:solidFill>
                <a:latin typeface="Arial" panose="020B0604020202020204" pitchFamily="34" charset="0"/>
              </a:rPr>
              <a:t>Stability overlay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CB338B-EE9D-E789-E7B8-47012375ABAD}"/>
              </a:ext>
            </a:extLst>
          </p:cNvPr>
          <p:cNvSpPr txBox="1"/>
          <p:nvPr/>
        </p:nvSpPr>
        <p:spPr>
          <a:xfrm>
            <a:off x="10363200" y="3916680"/>
            <a:ext cx="838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context only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B5954F3-B0CC-E3FC-90CA-28DE1BE5B0C9}"/>
              </a:ext>
            </a:extLst>
          </p:cNvPr>
          <p:cNvCxnSpPr/>
          <p:nvPr/>
        </p:nvCxnSpPr>
        <p:spPr>
          <a:xfrm>
            <a:off x="10325100" y="4366260"/>
            <a:ext cx="0" cy="106680"/>
          </a:xfrm>
          <a:prstGeom prst="straightConnector1">
            <a:avLst/>
          </a:prstGeom>
          <a:ln w="25400">
            <a:solidFill>
              <a:srgbClr val="E0A12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5886D0B-1118-5A78-5B32-965538959478}"/>
              </a:ext>
            </a:extLst>
          </p:cNvPr>
          <p:cNvSpPr/>
          <p:nvPr/>
        </p:nvSpPr>
        <p:spPr>
          <a:xfrm>
            <a:off x="9220200" y="4488180"/>
            <a:ext cx="2209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49ED41-D0BF-5F89-E840-AF71B632D0E2}"/>
              </a:ext>
            </a:extLst>
          </p:cNvPr>
          <p:cNvSpPr txBox="1"/>
          <p:nvPr/>
        </p:nvSpPr>
        <p:spPr>
          <a:xfrm>
            <a:off x="9372600" y="4564380"/>
            <a:ext cx="914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D9373A"/>
                </a:solidFill>
                <a:latin typeface="Arial" panose="020B0604020202020204" pitchFamily="34" charset="0"/>
              </a:rPr>
              <a:t>Public summary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561247-9600-98C2-96C1-620D5F22EA4F}"/>
              </a:ext>
            </a:extLst>
          </p:cNvPr>
          <p:cNvSpPr txBox="1"/>
          <p:nvPr/>
        </p:nvSpPr>
        <p:spPr>
          <a:xfrm>
            <a:off x="10363200" y="4572000"/>
            <a:ext cx="838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reviewed later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10B90EB-9A41-EE77-BFA1-5A901E4E1706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68F4FF-A0D2-4E82-1DBE-A30DFDDE85AA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Sources: STABILITY_CALCULATION_PLAN, public stability screen, DOE runtime tracking plan, and first model experiment plan. Stability remains admissibility context only.</a:t>
            </a:r>
          </a:p>
        </p:txBody>
      </p:sp>
    </p:spTree>
    <p:extLst>
      <p:ext uri="{BB962C8B-B14F-4D97-AF65-F5344CB8AC3E}">
        <p14:creationId xmlns:p14="http://schemas.microsoft.com/office/powerpoint/2010/main" val="2229690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1413C0-60D9-7251-3DE4-ACC349E53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09F72B-7664-AA98-18E9-94F864F9090D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818F"/>
          </a:solidFill>
          <a:ln w="635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F2E83-4845-2DA1-970C-6E9D481112A4}"/>
              </a:ext>
            </a:extLst>
          </p:cNvPr>
          <p:cNvSpPr txBox="1"/>
          <p:nvPr/>
        </p:nvSpPr>
        <p:spPr>
          <a:xfrm>
            <a:off x="457200" y="289560"/>
            <a:ext cx="89916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0F2230"/>
                </a:solidFill>
                <a:latin typeface="Arial" panose="020B0604020202020204" pitchFamily="34" charset="0"/>
              </a:rPr>
              <a:t>What We Have Done, What Is Not Claimed, What Is Next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EDDA2-305E-DF1F-0748-CDBC41536DF9}"/>
              </a:ext>
            </a:extLst>
          </p:cNvPr>
          <p:cNvSpPr txBox="1"/>
          <p:nvPr/>
        </p:nvSpPr>
        <p:spPr>
          <a:xfrm>
            <a:off x="480060" y="693420"/>
            <a:ext cx="10591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36770"/>
                </a:solidFill>
                <a:latin typeface="Arial" panose="020B0604020202020204" pitchFamily="34" charset="0"/>
              </a:rPr>
              <a:t>V5.5 makes the current contribution explicit while keeping every result claim inside the approved-runtime guardrails.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3B048C-87A8-41EB-22E8-F661F956891E}"/>
              </a:ext>
            </a:extLst>
          </p:cNvPr>
          <p:cNvSpPr/>
          <p:nvPr/>
        </p:nvSpPr>
        <p:spPr>
          <a:xfrm>
            <a:off x="533400" y="1143000"/>
            <a:ext cx="3314700" cy="41910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F61F5-B98A-4999-5ACE-20ED5A42B42E}"/>
              </a:ext>
            </a:extLst>
          </p:cNvPr>
          <p:cNvSpPr txBox="1"/>
          <p:nvPr/>
        </p:nvSpPr>
        <p:spPr>
          <a:xfrm>
            <a:off x="731520" y="1325880"/>
            <a:ext cx="291846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10818F"/>
                </a:solidFill>
                <a:latin typeface="Arial" panose="020B0604020202020204" pitchFamily="34" charset="0"/>
              </a:rPr>
              <a:t>What we have done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5F6982-4AD0-6ACB-4EEA-0ED1D58BA8A0}"/>
              </a:ext>
            </a:extLst>
          </p:cNvPr>
          <p:cNvSpPr/>
          <p:nvPr/>
        </p:nvSpPr>
        <p:spPr>
          <a:xfrm>
            <a:off x="746760" y="1805940"/>
            <a:ext cx="198120" cy="19812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957FDC-B498-FBD7-AB55-2BD7A5A8999C}"/>
              </a:ext>
            </a:extLst>
          </p:cNvPr>
          <p:cNvSpPr txBox="1"/>
          <p:nvPr/>
        </p:nvSpPr>
        <p:spPr>
          <a:xfrm>
            <a:off x="1066800" y="1790700"/>
            <a:ext cx="25527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V5.4 deck updated into a V5.5 mentor sequence.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262D38-4F72-7D3B-F71F-75AE212CB7CC}"/>
              </a:ext>
            </a:extLst>
          </p:cNvPr>
          <p:cNvSpPr/>
          <p:nvPr/>
        </p:nvSpPr>
        <p:spPr>
          <a:xfrm>
            <a:off x="746760" y="2415540"/>
            <a:ext cx="198120" cy="19812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707F2-3B9B-3C10-25DF-2AF8265E3D87}"/>
              </a:ext>
            </a:extLst>
          </p:cNvPr>
          <p:cNvSpPr txBox="1"/>
          <p:nvPr/>
        </p:nvSpPr>
        <p:spPr>
          <a:xfrm>
            <a:off x="1066800" y="24003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Personal opener and source-backed hydrate/North Slope visuals preserved.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C599CA-88CA-B7AD-5904-368AAF46467C}"/>
              </a:ext>
            </a:extLst>
          </p:cNvPr>
          <p:cNvSpPr/>
          <p:nvPr/>
        </p:nvSpPr>
        <p:spPr>
          <a:xfrm>
            <a:off x="746760" y="3025140"/>
            <a:ext cx="198120" cy="19812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5278C6-F2A6-6989-E0AC-B43F558F93F0}"/>
              </a:ext>
            </a:extLst>
          </p:cNvPr>
          <p:cNvSpPr txBox="1"/>
          <p:nvPr/>
        </p:nvSpPr>
        <p:spPr>
          <a:xfrm>
            <a:off x="1066800" y="30099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Full complex workflow and ML runtime diagrams kept in the main sequence.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7F31BF-1F6C-26AA-B01B-0512F2C76C1F}"/>
              </a:ext>
            </a:extLst>
          </p:cNvPr>
          <p:cNvSpPr/>
          <p:nvPr/>
        </p:nvSpPr>
        <p:spPr>
          <a:xfrm>
            <a:off x="746760" y="3634740"/>
            <a:ext cx="198120" cy="19812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A01EDC-19FD-2D8B-FB8D-A6D49B635328}"/>
              </a:ext>
            </a:extLst>
          </p:cNvPr>
          <p:cNvSpPr txBox="1"/>
          <p:nvPr/>
        </p:nvSpPr>
        <p:spPr>
          <a:xfrm>
            <a:off x="1066800" y="36195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DOE three-dataset prototype, cleaned feature audit, and Model Run Tracker explained.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152C46-B66B-44C6-F390-ED21CCD44303}"/>
              </a:ext>
            </a:extLst>
          </p:cNvPr>
          <p:cNvSpPr/>
          <p:nvPr/>
        </p:nvSpPr>
        <p:spPr>
          <a:xfrm>
            <a:off x="746760" y="4244340"/>
            <a:ext cx="198120" cy="198120"/>
          </a:xfrm>
          <a:prstGeom prst="ellipse">
            <a:avLst/>
          </a:prstGeom>
          <a:solidFill>
            <a:srgbClr val="10818F"/>
          </a:solidFill>
          <a:ln w="12700">
            <a:solidFill>
              <a:srgbClr val="1081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07ED19-C3D8-3210-A372-15F7583B5C09}"/>
              </a:ext>
            </a:extLst>
          </p:cNvPr>
          <p:cNvSpPr txBox="1"/>
          <p:nvPr/>
        </p:nvSpPr>
        <p:spPr>
          <a:xfrm>
            <a:off x="1066800" y="42291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Stability overlay framed as context, mask, confidence, and caveat only.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28A50A-3F8F-D895-38CE-60A0A9BF78EB}"/>
              </a:ext>
            </a:extLst>
          </p:cNvPr>
          <p:cNvSpPr/>
          <p:nvPr/>
        </p:nvSpPr>
        <p:spPr>
          <a:xfrm>
            <a:off x="4457700" y="1143000"/>
            <a:ext cx="3314700" cy="41910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B893CA-0954-BD99-4C59-3EB0B0EA473A}"/>
              </a:ext>
            </a:extLst>
          </p:cNvPr>
          <p:cNvSpPr txBox="1"/>
          <p:nvPr/>
        </p:nvSpPr>
        <p:spPr>
          <a:xfrm>
            <a:off x="4655820" y="1325880"/>
            <a:ext cx="291846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D9373A"/>
                </a:solidFill>
                <a:latin typeface="Arial" panose="020B0604020202020204" pitchFamily="34" charset="0"/>
              </a:rPr>
              <a:t>What is not claimed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69A163-A9AA-4B66-074A-B5A7F68A81AB}"/>
              </a:ext>
            </a:extLst>
          </p:cNvPr>
          <p:cNvSpPr/>
          <p:nvPr/>
        </p:nvSpPr>
        <p:spPr>
          <a:xfrm>
            <a:off x="4671060" y="1805940"/>
            <a:ext cx="198120" cy="19812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22CF91-F87F-A690-8049-1A2B981BA1C9}"/>
              </a:ext>
            </a:extLst>
          </p:cNvPr>
          <p:cNvSpPr txBox="1"/>
          <p:nvPr/>
        </p:nvSpPr>
        <p:spPr>
          <a:xfrm>
            <a:off x="4991100" y="1790700"/>
            <a:ext cx="25527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No hydrate proof.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6985E6-BDA5-5BDA-11EB-29C5620CBDBD}"/>
              </a:ext>
            </a:extLst>
          </p:cNvPr>
          <p:cNvSpPr/>
          <p:nvPr/>
        </p:nvSpPr>
        <p:spPr>
          <a:xfrm>
            <a:off x="4671060" y="2415540"/>
            <a:ext cx="198120" cy="19812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CF7138-D8AD-9B02-8425-AEA85FB90BF2}"/>
              </a:ext>
            </a:extLst>
          </p:cNvPr>
          <p:cNvSpPr txBox="1"/>
          <p:nvPr/>
        </p:nvSpPr>
        <p:spPr>
          <a:xfrm>
            <a:off x="4991100" y="2400300"/>
            <a:ext cx="25527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No final stability top/base/thickness claim.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98DFDD-1E09-F018-25DF-9D0BB9BCB416}"/>
              </a:ext>
            </a:extLst>
          </p:cNvPr>
          <p:cNvSpPr/>
          <p:nvPr/>
        </p:nvSpPr>
        <p:spPr>
          <a:xfrm>
            <a:off x="4671060" y="3025140"/>
            <a:ext cx="198120" cy="19812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B5C60C-DE43-071B-CA1C-D7506FBEB52D}"/>
              </a:ext>
            </a:extLst>
          </p:cNvPr>
          <p:cNvSpPr txBox="1"/>
          <p:nvPr/>
        </p:nvSpPr>
        <p:spPr>
          <a:xfrm>
            <a:off x="4991100" y="3009900"/>
            <a:ext cx="25527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No public row-level approved data.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D4F168-4C2C-3208-3722-4D9D0F787DCB}"/>
              </a:ext>
            </a:extLst>
          </p:cNvPr>
          <p:cNvSpPr/>
          <p:nvPr/>
        </p:nvSpPr>
        <p:spPr>
          <a:xfrm>
            <a:off x="4671060" y="3634740"/>
            <a:ext cx="198120" cy="19812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522DE-460E-D95F-FAF7-0CEAAEE64B52}"/>
              </a:ext>
            </a:extLst>
          </p:cNvPr>
          <p:cNvSpPr txBox="1"/>
          <p:nvPr/>
        </p:nvSpPr>
        <p:spPr>
          <a:xfrm>
            <a:off x="4991100" y="3619500"/>
            <a:ext cx="25527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No occurrence prediction or saturation prediction.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C8CFEB-E3FF-3618-36F6-BA54C3EBD4E1}"/>
              </a:ext>
            </a:extLst>
          </p:cNvPr>
          <p:cNvSpPr/>
          <p:nvPr/>
        </p:nvSpPr>
        <p:spPr>
          <a:xfrm>
            <a:off x="4671060" y="4244340"/>
            <a:ext cx="198120" cy="198120"/>
          </a:xfrm>
          <a:prstGeom prst="ellipse">
            <a:avLst/>
          </a:prstGeom>
          <a:solidFill>
            <a:srgbClr val="D9373A"/>
          </a:solidFill>
          <a:ln w="12700">
            <a:solidFill>
              <a:srgbClr val="D93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A20BEF-FEAE-B96A-6404-48E6810F26B7}"/>
              </a:ext>
            </a:extLst>
          </p:cNvPr>
          <p:cNvSpPr txBox="1"/>
          <p:nvPr/>
        </p:nvSpPr>
        <p:spPr>
          <a:xfrm>
            <a:off x="4991100" y="42291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No final trained ML metrics, sweet spots, producibility ranking, or target authority.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26CBB05-F3DF-CD0A-958C-03C7D8CACDB5}"/>
              </a:ext>
            </a:extLst>
          </p:cNvPr>
          <p:cNvSpPr/>
          <p:nvPr/>
        </p:nvSpPr>
        <p:spPr>
          <a:xfrm>
            <a:off x="8343900" y="1143000"/>
            <a:ext cx="3314700" cy="4191000"/>
          </a:xfrm>
          <a:prstGeom prst="roundRect">
            <a:avLst/>
          </a:prstGeom>
          <a:solidFill>
            <a:srgbClr val="F8FCFD"/>
          </a:solidFill>
          <a:ln w="1524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E11439-5F78-5B51-5259-89DFD3A01E27}"/>
              </a:ext>
            </a:extLst>
          </p:cNvPr>
          <p:cNvSpPr txBox="1"/>
          <p:nvPr/>
        </p:nvSpPr>
        <p:spPr>
          <a:xfrm>
            <a:off x="8542020" y="1325880"/>
            <a:ext cx="291846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b="1">
                <a:solidFill>
                  <a:srgbClr val="E0A12D"/>
                </a:solidFill>
                <a:latin typeface="Arial" panose="020B0604020202020204" pitchFamily="34" charset="0"/>
              </a:rPr>
              <a:t>What is next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BBE7ED0-5DBC-BA46-3E10-AE495717471A}"/>
              </a:ext>
            </a:extLst>
          </p:cNvPr>
          <p:cNvSpPr/>
          <p:nvPr/>
        </p:nvSpPr>
        <p:spPr>
          <a:xfrm>
            <a:off x="8557260" y="1805940"/>
            <a:ext cx="198120" cy="198120"/>
          </a:xfrm>
          <a:prstGeom prst="ellipse">
            <a:avLst/>
          </a:prstGeom>
          <a:solidFill>
            <a:srgbClr val="E0A12D"/>
          </a:solidFill>
          <a:ln w="1270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D01A3A-EC03-C028-50FB-E349DC568EA4}"/>
              </a:ext>
            </a:extLst>
          </p:cNvPr>
          <p:cNvSpPr txBox="1"/>
          <p:nvPr/>
        </p:nvSpPr>
        <p:spPr>
          <a:xfrm>
            <a:off x="8877300" y="17907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Run DOE workflow in the approved runtime and keep outputs ignored until review.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877E26F-C116-D53C-AFE9-CDE0534990E7}"/>
              </a:ext>
            </a:extLst>
          </p:cNvPr>
          <p:cNvSpPr/>
          <p:nvPr/>
        </p:nvSpPr>
        <p:spPr>
          <a:xfrm>
            <a:off x="8557260" y="2415540"/>
            <a:ext cx="198120" cy="198120"/>
          </a:xfrm>
          <a:prstGeom prst="ellipse">
            <a:avLst/>
          </a:prstGeom>
          <a:solidFill>
            <a:srgbClr val="E0A12D"/>
          </a:solidFill>
          <a:ln w="1270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C6D5AD-4DC6-1591-34DC-BDD76B6FD5C1}"/>
              </a:ext>
            </a:extLst>
          </p:cNvPr>
          <p:cNvSpPr txBox="1"/>
          <p:nvPr/>
        </p:nvSpPr>
        <p:spPr>
          <a:xfrm>
            <a:off x="8877300" y="24003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Confirm target priority for S_h, S_wr, Sh, Swr and fraction-vs-percent policy.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0456029-552C-66FA-7FB5-B7A01FD0A82B}"/>
              </a:ext>
            </a:extLst>
          </p:cNvPr>
          <p:cNvSpPr/>
          <p:nvPr/>
        </p:nvSpPr>
        <p:spPr>
          <a:xfrm>
            <a:off x="8557260" y="3025140"/>
            <a:ext cx="198120" cy="198120"/>
          </a:xfrm>
          <a:prstGeom prst="ellipse">
            <a:avLst/>
          </a:prstGeom>
          <a:solidFill>
            <a:srgbClr val="E0A12D"/>
          </a:solidFill>
          <a:ln w="1270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B35185-A6B6-C712-6106-34D20616EA7C}"/>
              </a:ext>
            </a:extLst>
          </p:cNvPr>
          <p:cNvSpPr txBox="1"/>
          <p:nvPr/>
        </p:nvSpPr>
        <p:spPr>
          <a:xfrm>
            <a:off x="8877300" y="30099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Review feature exclusions and stability overlay settings with mentor.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BA637E2-758C-08A4-9FB7-5DB7440AA256}"/>
              </a:ext>
            </a:extLst>
          </p:cNvPr>
          <p:cNvSpPr/>
          <p:nvPr/>
        </p:nvSpPr>
        <p:spPr>
          <a:xfrm>
            <a:off x="8557260" y="3634740"/>
            <a:ext cx="198120" cy="198120"/>
          </a:xfrm>
          <a:prstGeom prst="ellipse">
            <a:avLst/>
          </a:prstGeom>
          <a:solidFill>
            <a:srgbClr val="E0A12D"/>
          </a:solidFill>
          <a:ln w="1270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5796E0-51CD-EF47-E1F5-333E50C456AA}"/>
              </a:ext>
            </a:extLst>
          </p:cNvPr>
          <p:cNvSpPr txBox="1"/>
          <p:nvPr/>
        </p:nvSpPr>
        <p:spPr>
          <a:xfrm>
            <a:off x="8877300" y="36195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Assign whole-well or compartment validation before final metrics.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9ECE70-35C8-BD76-E756-3DA45CFEC406}"/>
              </a:ext>
            </a:extLst>
          </p:cNvPr>
          <p:cNvSpPr/>
          <p:nvPr/>
        </p:nvSpPr>
        <p:spPr>
          <a:xfrm>
            <a:off x="8557260" y="4244340"/>
            <a:ext cx="198120" cy="198120"/>
          </a:xfrm>
          <a:prstGeom prst="ellipse">
            <a:avLst/>
          </a:prstGeom>
          <a:solidFill>
            <a:srgbClr val="E0A12D"/>
          </a:solidFill>
          <a:ln w="12700">
            <a:solidFill>
              <a:srgbClr val="E0A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70F1AA-B859-048C-1F03-0002840E388F}"/>
              </a:ext>
            </a:extLst>
          </p:cNvPr>
          <p:cNvSpPr txBox="1"/>
          <p:nvPr/>
        </p:nvSpPr>
        <p:spPr>
          <a:xfrm>
            <a:off x="8877300" y="4229100"/>
            <a:ext cx="25527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800" b="1">
                <a:solidFill>
                  <a:srgbClr val="0F2230"/>
                </a:solidFill>
                <a:latin typeface="Arial" panose="020B0604020202020204" pitchFamily="34" charset="0"/>
              </a:rPr>
              <a:t>Bring back only public-safe summaries after data-owner review.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5BA3882-9F75-1C57-388D-4CB62E035056}"/>
              </a:ext>
            </a:extLst>
          </p:cNvPr>
          <p:cNvSpPr/>
          <p:nvPr/>
        </p:nvSpPr>
        <p:spPr>
          <a:xfrm>
            <a:off x="533400" y="5600700"/>
            <a:ext cx="11125200" cy="5867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DC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4727D5-A62D-C386-FC72-C66BF49A9C27}"/>
              </a:ext>
            </a:extLst>
          </p:cNvPr>
          <p:cNvSpPr txBox="1"/>
          <p:nvPr/>
        </p:nvSpPr>
        <p:spPr>
          <a:xfrm>
            <a:off x="746760" y="5775960"/>
            <a:ext cx="1600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10818F"/>
                </a:solidFill>
                <a:latin typeface="Arial" panose="020B0604020202020204" pitchFamily="34" charset="0"/>
              </a:rPr>
              <a:t>Source/provenance trail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AD856A-2B15-BA4F-58E1-F470D3FDF3A9}"/>
              </a:ext>
            </a:extLst>
          </p:cNvPr>
          <p:cNvSpPr txBox="1"/>
          <p:nvPr/>
        </p:nvSpPr>
        <p:spPr>
          <a:xfrm>
            <a:off x="2514600" y="5753100"/>
            <a:ext cx="8458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 b="1">
                <a:solidFill>
                  <a:srgbClr val="0F2230"/>
                </a:solidFill>
                <a:latin typeface="Arial" panose="020B0604020202020204" pitchFamily="34" charset="0"/>
              </a:rPr>
              <a:t>V5.5 panels are generated by build_full_workflow_diagram_deliverables.py from V5.4 panels, V5.2 authority plates, public stability products, DOE runbook/tracker docs, and source_visual_inventory.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DD4702-E9D0-FF0C-F8B7-7AB91DDDA36E}"/>
              </a:ext>
            </a:extLst>
          </p:cNvPr>
          <p:cNvCxnSpPr/>
          <p:nvPr/>
        </p:nvCxnSpPr>
        <p:spPr>
          <a:xfrm>
            <a:off x="411480" y="6416040"/>
            <a:ext cx="11369040" cy="0"/>
          </a:xfrm>
          <a:prstGeom prst="straightConnector1">
            <a:avLst/>
          </a:prstGeom>
          <a:ln w="12700">
            <a:solidFill>
              <a:srgbClr val="AD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E57AAA3-08D4-E0AA-8915-883269AB168E}"/>
              </a:ext>
            </a:extLst>
          </p:cNvPr>
          <p:cNvSpPr txBox="1"/>
          <p:nvPr/>
        </p:nvSpPr>
        <p:spPr>
          <a:xfrm>
            <a:off x="441960" y="6477000"/>
            <a:ext cx="10820400" cy="1590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700">
                <a:solidFill>
                  <a:srgbClr val="536770"/>
                </a:solidFill>
                <a:latin typeface="Arial" panose="020B0604020202020204" pitchFamily="34" charset="0"/>
              </a:rPr>
              <a:t>Public scaffold: 8,084 stability rows; 22 calculated admissibility intervals; about 3/71 approved datasets visible for schema/runtime prototyping.</a:t>
            </a:r>
          </a:p>
        </p:txBody>
      </p:sp>
    </p:spTree>
    <p:extLst>
      <p:ext uri="{BB962C8B-B14F-4D97-AF65-F5344CB8AC3E}">
        <p14:creationId xmlns:p14="http://schemas.microsoft.com/office/powerpoint/2010/main" val="129229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Microsoft Office PowerPoint</Application>
  <PresentationFormat>Custom</PresentationFormat>
  <Paragraphs>390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Writam</dc:creator>
  <cp:lastModifiedBy>Writam</cp:lastModifiedBy>
  <cp:revision>1</cp:revision>
  <dcterms:created xsi:type="dcterms:W3CDTF">2026-06-19T23:38:09Z</dcterms:created>
  <dcterms:modified xsi:type="dcterms:W3CDTF">2026-06-19T23:38:09Z</dcterms:modified>
</cp:coreProperties>
</file>