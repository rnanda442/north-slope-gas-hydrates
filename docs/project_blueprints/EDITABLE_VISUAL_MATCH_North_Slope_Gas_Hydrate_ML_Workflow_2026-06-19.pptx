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0" d="100"/>
          <a:sy n="60" d="100"/>
        </p:scale>
        <p:origin x="102" y="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58BFEF-6E9E-418E-822C-779855F670D4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C879BC-444E-4913-860B-EFFE69C229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4876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Use this opener as personal context only; no scientific claims are made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C879BC-444E-4913-860B-EFFE69C2298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85240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Use this slide to set context. The P-T panel is a gate/admissibility screen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C879BC-444E-4913-860B-EFFE69C2298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83459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Explain directional movement, not final thresholds. Target labels stay out of X_allowed.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C879BC-444E-4913-860B-EFFE69C2298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8653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Keep this as the complete project architecture plate. It is a complex figure; downstream slides explain it in smaller editable pieces.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C879BC-444E-4913-860B-EFFE69C2298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8072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Use this slide as equation checks only. Do not present equations as hydrate proof or final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C879BC-444E-4913-860B-EFFE69C2298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6347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This is the gate between source variables and model-ready features. Keep targets out of X_allowed.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C879BC-444E-4913-860B-EFFE69C2298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93720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This is the complete runtime architecture plate. Do not call it final trained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C879BC-444E-4913-860B-EFFE69C2298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44672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Use stability as context/mask/confidence/caveat only, never as occurrence or saturation labels.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C879BC-444E-4913-860B-EFFE69C2298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40344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Close by emphasizing current build status, not final hydrate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C879BC-444E-4913-860B-EFFE69C2298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14434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61926-6ED1-49C1-D805-3B79D00CFB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95C0008-5905-672F-9773-03921255D6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9C17BE-9D7D-5611-2322-3D9ED3DFAB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051BC8-140D-4156-AFC8-09E7BD2BAAE6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7B93E1-871F-3D4F-3A34-250EA9641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00BCB-6F13-E99E-21AC-091BF6D7BF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8F78D8-73E6-4A06-B48F-5B6588E7C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05697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39AC4-CC77-2D73-DAE8-9520F6C4F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EFC548-72ED-D839-5DA9-158933C194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256F35-E5C5-47F6-BE42-42F0EB7300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051BC8-140D-4156-AFC8-09E7BD2BAAE6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BF66F3-2833-2413-A1E1-246EFF090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D7FABA-9831-3671-413B-C8EB264C2E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8F78D8-73E6-4A06-B48F-5B6588E7C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626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7BE00-98FA-094A-0F69-7AEB13C1E5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F063B9-FEF3-A0B5-1918-8BB371AFC3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182D20-BF17-FDED-4C7D-2E70A7164A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051BC8-140D-4156-AFC8-09E7BD2BAAE6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8EFA7A-A41D-DC3E-0909-543DF169A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A20B6C-30E6-C3B1-2BDC-B67A26BCC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8F78D8-73E6-4A06-B48F-5B6588E7C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6114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AE385-59E2-282E-21F3-E6F6139CE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B3DC20-3E1A-0519-C5B1-3456F8808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A6A27F-4569-03A7-458A-B5D7A00714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736351-8988-F011-878A-A1643B8A20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051BC8-140D-4156-AFC8-09E7BD2BAAE6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BAC4A1-BC5A-7CBB-CCA8-D953FE3C0E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DF512B-D7D2-3F06-54E0-B5544BFF1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8F78D8-73E6-4A06-B48F-5B6588E7C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04781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121F6B-5124-182B-1CD9-4E5FFC0DF0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80E251-4997-9D63-AC18-7E691BA818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1AFD3F-C827-0118-151D-E7F0C25B23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E748096-C7DF-8E0C-C5B8-BADEBAE696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4E90F9-FFD1-DC76-0C62-D8F976C497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56D19B4-968D-26C9-6C9B-3744185FA2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051BC8-140D-4156-AFC8-09E7BD2BAAE6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8884E4F-AA01-98E3-0325-03FEE3196B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43D8CB7-43D0-1FD1-90D5-6FE904E1A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8F78D8-73E6-4A06-B48F-5B6588E7C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41117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AFED1D-F8B9-A89F-A8E4-33FAFDBDE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2FB6D7-A2D9-C419-6C8A-2DFC1617C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051BC8-140D-4156-AFC8-09E7BD2BAAE6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015A09-CFF6-43BD-3F6F-5E38E90A7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6D8C73-47BD-F859-9906-1947AB49C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8F78D8-73E6-4A06-B48F-5B6588E7C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900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A49678-5BE5-8651-BEC9-D7B6BE760A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051BC8-140D-4156-AFC8-09E7BD2BAAE6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6941821-DC4C-6441-21AC-9CEC031B5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8D0C74-8999-B10A-006F-F80C1F97D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8F78D8-73E6-4A06-B48F-5B6588E7C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12428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D37EA-0E72-3A73-3966-DC940E5A2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9B8CA5-3085-1103-1D3B-AB4EC44CB8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DC1487-20C0-3331-5D84-43B0969B71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4DDF32-394D-700F-AD53-B863BB88E7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051BC8-140D-4156-AFC8-09E7BD2BAAE6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8C1431-7D8A-B20D-674F-C5ED80842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2BCF35-FDFE-C108-1482-9CCE0AE4F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8F78D8-73E6-4A06-B48F-5B6588E7C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65028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51085-A039-190E-6DBE-275FF44B45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744396B-6751-F993-EB29-C2E15E37DF9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7C20CB-4418-6045-D464-1125EE3710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6F2768-804F-F6B4-6D2D-46FA08817C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051BC8-140D-4156-AFC8-09E7BD2BAAE6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7EEC69-11AC-5A17-23B8-DA06FAFCB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66C325-0358-1FC7-4940-1D7F57DDC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8F78D8-73E6-4A06-B48F-5B6588E7C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5524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0D102A-7D74-BAA3-DC1C-851C517F2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2A62A2-8961-FC0A-D1C3-40928A3432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B3572B-EC5E-706B-9CE9-C473DC99E5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051BC8-140D-4156-AFC8-09E7BD2BAAE6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86BD56-4CFC-D98E-4186-3B2BD0792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AB62A2-30C5-50E1-976A-5099CA48F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8F78D8-73E6-4A06-B48F-5B6588E7C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01593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BF0AC6E-99A5-DD41-1AC6-BCCC79AE93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E3E65EA-DCF0-11AD-E549-F7D4B7CEF7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81C714-639D-9EBC-6BFA-7E36252DB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051BC8-140D-4156-AFC8-09E7BD2BAAE6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E82EFF-B1EB-4314-2AA0-55B6DED8E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E4E5ED-3BED-93D9-7982-18691071C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8F78D8-73E6-4A06-B48F-5B6588E7C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9525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FB7AC9A-34E4-3C55-9083-1CA42E2EAD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A8518D-2110-74E1-4B5C-046B24CB9D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423EB7-983B-DE26-B7A0-2C5187490F5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051BC8-140D-4156-AFC8-09E7BD2BAAE6}" type="datetimeFigureOut">
              <a:rPr lang="en-US" smtClean="0"/>
              <a:t>6/19/2026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17C4CC-33D2-8B36-FC5D-AF876EDAC6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B6AF7B-279C-4239-7012-0429F16470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8F78D8-73E6-4A06-B48F-5B6588E7C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9895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4E1AFB2-CAFA-C1D9-5E12-6C4E2643FD7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09F1266-3A8D-01D5-CC67-05F72D40E226}"/>
              </a:ext>
            </a:extLst>
          </p:cNvPr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0818F"/>
          </a:solidFill>
          <a:ln w="6350">
            <a:solidFill>
              <a:srgbClr val="1081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6E8E01-305B-C4EB-BC35-0EEA67BD111D}"/>
              </a:ext>
            </a:extLst>
          </p:cNvPr>
          <p:cNvSpPr txBox="1"/>
          <p:nvPr/>
        </p:nvSpPr>
        <p:spPr>
          <a:xfrm>
            <a:off x="457200" y="365760"/>
            <a:ext cx="9525000" cy="405239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2300" b="1">
                <a:solidFill>
                  <a:srgbClr val="0F2230"/>
                </a:solidFill>
                <a:latin typeface="Arial" panose="020B0604020202020204" pitchFamily="34" charset="0"/>
              </a:rPr>
              <a:t>Gas Hydrate Occurrence and Saturation Prediction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04B863-3770-A947-6626-35C9F2B824F7}"/>
              </a:ext>
            </a:extLst>
          </p:cNvPr>
          <p:cNvSpPr txBox="1"/>
          <p:nvPr/>
        </p:nvSpPr>
        <p:spPr>
          <a:xfrm>
            <a:off x="480060" y="784860"/>
            <a:ext cx="6248400" cy="220573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1100">
                <a:solidFill>
                  <a:srgbClr val="536770"/>
                </a:solidFill>
                <a:latin typeface="Arial" panose="020B0604020202020204" pitchFamily="34" charset="0"/>
              </a:rPr>
              <a:t>Alaska North Slope permafrost reservoirs using physics-constrained AI/ML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C889D6-07CD-F433-43B6-82B8702AB85C}"/>
              </a:ext>
            </a:extLst>
          </p:cNvPr>
          <p:cNvSpPr txBox="1"/>
          <p:nvPr/>
        </p:nvSpPr>
        <p:spPr>
          <a:xfrm>
            <a:off x="502920" y="1219200"/>
            <a:ext cx="5791200" cy="42062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1200">
                <a:solidFill>
                  <a:srgbClr val="536770"/>
                </a:solidFill>
                <a:latin typeface="Arial" panose="020B0604020202020204" pitchFamily="34" charset="0"/>
              </a:rPr>
              <a:t>Goal: combine approved well logs, NMR, core context, and public GIS without
exposing runtime-only data.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D59D6A4-1D23-1294-E23C-015625954CC1}"/>
              </a:ext>
            </a:extLst>
          </p:cNvPr>
          <p:cNvSpPr/>
          <p:nvPr/>
        </p:nvSpPr>
        <p:spPr>
          <a:xfrm>
            <a:off x="495300" y="1752600"/>
            <a:ext cx="1135380" cy="289560"/>
          </a:xfrm>
          <a:prstGeom prst="roundRect">
            <a:avLst/>
          </a:prstGeom>
          <a:solidFill>
            <a:srgbClr val="10818F"/>
          </a:solidFill>
          <a:ln w="10160">
            <a:solidFill>
              <a:srgbClr val="1081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800" b="1">
                <a:solidFill>
                  <a:srgbClr val="FFFFFF"/>
                </a:solidFill>
                <a:latin typeface="Arial" panose="020B0604020202020204" pitchFamily="34" charset="0"/>
              </a:rPr>
              <a:t>source-backed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60CF1F6-18F2-364E-C3DD-0560C53B26DF}"/>
              </a:ext>
            </a:extLst>
          </p:cNvPr>
          <p:cNvSpPr/>
          <p:nvPr/>
        </p:nvSpPr>
        <p:spPr>
          <a:xfrm>
            <a:off x="1828800" y="1752600"/>
            <a:ext cx="1143000" cy="289560"/>
          </a:xfrm>
          <a:prstGeom prst="roundRect">
            <a:avLst/>
          </a:prstGeom>
          <a:solidFill>
            <a:srgbClr val="D6E7EC"/>
          </a:solidFill>
          <a:ln w="10160">
            <a:solidFill>
              <a:srgbClr val="D6E7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9 slides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3C0D89E-9412-47E8-0850-E9D9CEDBC62B}"/>
              </a:ext>
            </a:extLst>
          </p:cNvPr>
          <p:cNvSpPr/>
          <p:nvPr/>
        </p:nvSpPr>
        <p:spPr>
          <a:xfrm>
            <a:off x="3162300" y="1752600"/>
            <a:ext cx="1143000" cy="289560"/>
          </a:xfrm>
          <a:prstGeom prst="roundRect">
            <a:avLst/>
          </a:prstGeom>
          <a:solidFill>
            <a:srgbClr val="E9DDB9"/>
          </a:solidFill>
          <a:ln w="10160">
            <a:solidFill>
              <a:srgbClr val="E9DD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runtime-safe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17DD33A-AD3A-53B2-9092-9B7B40B4B55F}"/>
              </a:ext>
            </a:extLst>
          </p:cNvPr>
          <p:cNvSpPr txBox="1"/>
          <p:nvPr/>
        </p:nvSpPr>
        <p:spPr>
          <a:xfrm>
            <a:off x="502920" y="2453640"/>
            <a:ext cx="1828800" cy="266740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1400" b="1">
                <a:solidFill>
                  <a:srgbClr val="0F2230"/>
                </a:solidFill>
                <a:latin typeface="Arial" panose="020B0604020202020204" pitchFamily="34" charset="0"/>
              </a:rPr>
              <a:t>About me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104773D-80C6-07D3-AF92-E8E68007F523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920" y="2735580"/>
            <a:ext cx="2804160" cy="280416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331DEBE-C5A2-93F7-770B-989A2987AD73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8060" y="2735580"/>
            <a:ext cx="1684020" cy="17145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A5A3706-DA89-94F5-F6A2-998526882148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8060" y="4602480"/>
            <a:ext cx="1684020" cy="94488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0C9A551-B723-84E2-3E6E-919A08CAFF26}"/>
              </a:ext>
            </a:extLst>
          </p:cNvPr>
          <p:cNvPicPr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8080" y="1013460"/>
            <a:ext cx="3688080" cy="470916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027B245D-3A38-0A67-BAFD-7886B24012CB}"/>
              </a:ext>
            </a:extLst>
          </p:cNvPr>
          <p:cNvSpPr txBox="1"/>
          <p:nvPr/>
        </p:nvSpPr>
        <p:spPr>
          <a:xfrm>
            <a:off x="1295400" y="5684520"/>
            <a:ext cx="129540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800" b="1">
                <a:solidFill>
                  <a:srgbClr val="536770"/>
                </a:solidFill>
                <a:latin typeface="Arial" panose="020B0604020202020204" pitchFamily="34" charset="0"/>
              </a:rPr>
              <a:t>drawing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18D1EFE-1618-43B3-153C-A01627668284}"/>
              </a:ext>
            </a:extLst>
          </p:cNvPr>
          <p:cNvSpPr txBox="1"/>
          <p:nvPr/>
        </p:nvSpPr>
        <p:spPr>
          <a:xfrm>
            <a:off x="3962400" y="5684520"/>
            <a:ext cx="91440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800" b="1">
                <a:solidFill>
                  <a:srgbClr val="536770"/>
                </a:solidFill>
                <a:latin typeface="Arial" panose="020B0604020202020204" pitchFamily="34" charset="0"/>
              </a:rPr>
              <a:t>World Cup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2EDFE5A7-612E-8B0C-F7A5-6B7ED606C8BC}"/>
              </a:ext>
            </a:extLst>
          </p:cNvPr>
          <p:cNvSpPr/>
          <p:nvPr/>
        </p:nvSpPr>
        <p:spPr>
          <a:xfrm>
            <a:off x="5524500" y="4853940"/>
            <a:ext cx="838200" cy="342900"/>
          </a:xfrm>
          <a:prstGeom prst="roundRect">
            <a:avLst/>
          </a:prstGeom>
          <a:solidFill>
            <a:srgbClr val="E8F2F5"/>
          </a:solidFill>
          <a:ln w="10160">
            <a:solidFill>
              <a:srgbClr val="E8F2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gym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C5361AB-AAA6-FF77-B1DA-78BCBE6B7B85}"/>
              </a:ext>
            </a:extLst>
          </p:cNvPr>
          <p:cNvSpPr/>
          <p:nvPr/>
        </p:nvSpPr>
        <p:spPr>
          <a:xfrm>
            <a:off x="6522720" y="4853940"/>
            <a:ext cx="830580" cy="342900"/>
          </a:xfrm>
          <a:prstGeom prst="roundRect">
            <a:avLst/>
          </a:prstGeom>
          <a:solidFill>
            <a:srgbClr val="E8F2F5"/>
          </a:solidFill>
          <a:ln w="10160">
            <a:solidFill>
              <a:srgbClr val="E8F2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running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29105F6-0CF8-1FF6-5447-A6EA7480D32B}"/>
              </a:ext>
            </a:extLst>
          </p:cNvPr>
          <p:cNvCxnSpPr/>
          <p:nvPr/>
        </p:nvCxnSpPr>
        <p:spPr>
          <a:xfrm>
            <a:off x="411480" y="6416040"/>
            <a:ext cx="11369040" cy="0"/>
          </a:xfrm>
          <a:prstGeom prst="straightConnector1">
            <a:avLst/>
          </a:prstGeom>
          <a:ln w="12700">
            <a:solidFill>
              <a:srgbClr val="ADCF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CCAA0D1C-98A0-FDD9-B17A-97E177743109}"/>
              </a:ext>
            </a:extLst>
          </p:cNvPr>
          <p:cNvSpPr txBox="1"/>
          <p:nvPr/>
        </p:nvSpPr>
        <p:spPr>
          <a:xfrm>
            <a:off x="441960" y="6477000"/>
            <a:ext cx="10820400" cy="15901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700">
                <a:solidFill>
                  <a:srgbClr val="536770"/>
                </a:solidFill>
                <a:latin typeface="Arial" panose="020B0604020202020204" pitchFamily="34" charset="0"/>
              </a:rPr>
              <a:t>Personal images from 2026-06-11 Gmail instruction; public deck only.</a:t>
            </a:r>
          </a:p>
        </p:txBody>
      </p:sp>
    </p:spTree>
    <p:extLst>
      <p:ext uri="{BB962C8B-B14F-4D97-AF65-F5344CB8AC3E}">
        <p14:creationId xmlns:p14="http://schemas.microsoft.com/office/powerpoint/2010/main" val="3166664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CBDF6A5-D08C-2C72-952E-34AFA81CAD6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F672B0A-A510-D9B7-788F-A44711644B26}"/>
              </a:ext>
            </a:extLst>
          </p:cNvPr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0818F"/>
          </a:solidFill>
          <a:ln w="6350">
            <a:solidFill>
              <a:srgbClr val="1081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A6FBC1-5AE1-1CE8-0D87-1CCF137BFFEE}"/>
              </a:ext>
            </a:extLst>
          </p:cNvPr>
          <p:cNvSpPr txBox="1"/>
          <p:nvPr/>
        </p:nvSpPr>
        <p:spPr>
          <a:xfrm>
            <a:off x="457200" y="289560"/>
            <a:ext cx="8991600" cy="389850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2200" b="1">
                <a:solidFill>
                  <a:srgbClr val="0F2230"/>
                </a:solidFill>
                <a:latin typeface="Arial" panose="020B0604020202020204" pitchFamily="34" charset="0"/>
              </a:rPr>
              <a:t>Gas Hydrates And Why The North Slope Matters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24FD7D-E5E3-CF1D-2A0D-2AF66A5A8EF4}"/>
              </a:ext>
            </a:extLst>
          </p:cNvPr>
          <p:cNvSpPr txBox="1"/>
          <p:nvPr/>
        </p:nvSpPr>
        <p:spPr>
          <a:xfrm>
            <a:off x="480060" y="693420"/>
            <a:ext cx="10591800" cy="20518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1000">
                <a:solidFill>
                  <a:srgbClr val="536770"/>
                </a:solidFill>
                <a:latin typeface="Arial" panose="020B0604020202020204" pitchFamily="34" charset="0"/>
              </a:rPr>
              <a:t>Source-backed context only: hydrate structure, North Slope setting, and the pressure-temperature gate used before any ML claim.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94AACB3-60E6-47EA-44FF-6C32C710EA90}"/>
              </a:ext>
            </a:extLst>
          </p:cNvPr>
          <p:cNvSpPr/>
          <p:nvPr/>
        </p:nvSpPr>
        <p:spPr>
          <a:xfrm>
            <a:off x="457200" y="1051560"/>
            <a:ext cx="4191000" cy="4968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DCF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B8E3ED9-EE85-FEE3-A46F-D193BA347E77}"/>
              </a:ext>
            </a:extLst>
          </p:cNvPr>
          <p:cNvSpPr/>
          <p:nvPr/>
        </p:nvSpPr>
        <p:spPr>
          <a:xfrm>
            <a:off x="609600" y="1203960"/>
            <a:ext cx="259080" cy="259080"/>
          </a:xfrm>
          <a:prstGeom prst="ellipse">
            <a:avLst/>
          </a:prstGeom>
          <a:solidFill>
            <a:srgbClr val="10818F"/>
          </a:solidFill>
          <a:ln w="12700">
            <a:solidFill>
              <a:srgbClr val="1081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9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C9D1CA-2D0E-ECB2-A9B7-E27DFF8840CB}"/>
              </a:ext>
            </a:extLst>
          </p:cNvPr>
          <p:cNvSpPr txBox="1"/>
          <p:nvPr/>
        </p:nvSpPr>
        <p:spPr>
          <a:xfrm>
            <a:off x="960120" y="1234440"/>
            <a:ext cx="3276600" cy="23596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1200" b="1">
                <a:solidFill>
                  <a:srgbClr val="0F2230"/>
                </a:solidFill>
                <a:latin typeface="Arial" panose="020B0604020202020204" pitchFamily="34" charset="0"/>
              </a:rPr>
              <a:t>What gas hydrate is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0B2993-F2B4-0119-3A11-FDC92695D6E3}"/>
              </a:ext>
            </a:extLst>
          </p:cNvPr>
          <p:cNvSpPr txBox="1"/>
          <p:nvPr/>
        </p:nvSpPr>
        <p:spPr>
          <a:xfrm>
            <a:off x="640080" y="1508760"/>
            <a:ext cx="365760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536770"/>
                </a:solidFill>
                <a:latin typeface="Arial" panose="020B0604020202020204" pitchFamily="34" charset="0"/>
              </a:rPr>
              <a:t>Water cages can trap gas under cold, high-pressure conditions.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84FB0BF-9B73-E5DD-8A87-333513467B3F}"/>
              </a:ext>
            </a:extLst>
          </p:cNvPr>
          <p:cNvSpPr/>
          <p:nvPr/>
        </p:nvSpPr>
        <p:spPr>
          <a:xfrm>
            <a:off x="640080" y="1737360"/>
            <a:ext cx="2179320" cy="243840"/>
          </a:xfrm>
          <a:prstGeom prst="roundRect">
            <a:avLst/>
          </a:prstGeom>
          <a:solidFill>
            <a:srgbClr val="E0F8FA"/>
          </a:solidFill>
          <a:ln w="10160">
            <a:solidFill>
              <a:srgbClr val="E0F8F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800" b="1">
                <a:solidFill>
                  <a:srgbClr val="10818F"/>
                </a:solidFill>
                <a:latin typeface="Arial" panose="020B0604020202020204" pitchFamily="34" charset="0"/>
              </a:rPr>
              <a:t>methane Structure I = current baseline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929181F-8B31-60A2-F03B-B9807E69281E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080" y="2087880"/>
            <a:ext cx="3825240" cy="2514600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38FF60BA-1A93-0DA1-8507-BD6F13CB756D}"/>
              </a:ext>
            </a:extLst>
          </p:cNvPr>
          <p:cNvSpPr/>
          <p:nvPr/>
        </p:nvSpPr>
        <p:spPr>
          <a:xfrm>
            <a:off x="2834640" y="2156460"/>
            <a:ext cx="1013460" cy="1021080"/>
          </a:xfrm>
          <a:prstGeom prst="ellipse">
            <a:avLst/>
          </a:prstGeom>
          <a:solidFill>
            <a:srgbClr val="FFFFFF">
              <a:alpha val="0"/>
            </a:srgbClr>
          </a:solidFill>
          <a:ln w="31750">
            <a:solidFill>
              <a:srgbClr val="1081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8115120-F7A6-1584-8EAB-1C4E3588EED2}"/>
              </a:ext>
            </a:extLst>
          </p:cNvPr>
          <p:cNvSpPr/>
          <p:nvPr/>
        </p:nvSpPr>
        <p:spPr>
          <a:xfrm>
            <a:off x="640080" y="4419600"/>
            <a:ext cx="3825240" cy="182880"/>
          </a:xfrm>
          <a:prstGeom prst="rect">
            <a:avLst/>
          </a:prstGeom>
          <a:solidFill>
            <a:srgbClr val="0B2330"/>
          </a:solidFill>
          <a:ln w="6350">
            <a:solidFill>
              <a:srgbClr val="0B233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0C8F6F5-420E-875D-EC80-1D043511B929}"/>
              </a:ext>
            </a:extLst>
          </p:cNvPr>
          <p:cNvSpPr txBox="1"/>
          <p:nvPr/>
        </p:nvSpPr>
        <p:spPr>
          <a:xfrm>
            <a:off x="716280" y="4442460"/>
            <a:ext cx="3672840" cy="143629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600" b="1">
                <a:solidFill>
                  <a:srgbClr val="FFFFFF"/>
                </a:solidFill>
                <a:latin typeface="Arial" panose="020B0604020202020204" pitchFamily="34" charset="0"/>
              </a:rPr>
              <a:t>World Atlas Fig. 1.1 after Warrier et al. 2016; sI highlighted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15FD547B-5E6A-1D39-0FEA-AD9B9124923C}"/>
              </a:ext>
            </a:extLst>
          </p:cNvPr>
          <p:cNvSpPr/>
          <p:nvPr/>
        </p:nvSpPr>
        <p:spPr>
          <a:xfrm>
            <a:off x="640080" y="4770120"/>
            <a:ext cx="1203960" cy="594360"/>
          </a:xfrm>
          <a:prstGeom prst="roundRect">
            <a:avLst/>
          </a:prstGeom>
          <a:solidFill>
            <a:srgbClr val="E0F8FA"/>
          </a:solidFill>
          <a:ln w="15240">
            <a:solidFill>
              <a:srgbClr val="1081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CF32FC1-A089-21B4-CA1A-52D815FEAF58}"/>
              </a:ext>
            </a:extLst>
          </p:cNvPr>
          <p:cNvSpPr txBox="1"/>
          <p:nvPr/>
        </p:nvSpPr>
        <p:spPr>
          <a:xfrm>
            <a:off x="731520" y="4846320"/>
            <a:ext cx="100584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10818F"/>
                </a:solidFill>
                <a:latin typeface="Arial" panose="020B0604020202020204" pitchFamily="34" charset="0"/>
              </a:rPr>
              <a:t>Structure I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EBEC8B1-2CAA-D3B3-9468-FF088FCAC73D}"/>
              </a:ext>
            </a:extLst>
          </p:cNvPr>
          <p:cNvSpPr txBox="1"/>
          <p:nvPr/>
        </p:nvSpPr>
        <p:spPr>
          <a:xfrm>
            <a:off x="731520" y="5044440"/>
            <a:ext cx="1005840" cy="143629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600" b="1">
                <a:solidFill>
                  <a:srgbClr val="0F2230"/>
                </a:solidFill>
                <a:latin typeface="Arial" panose="020B0604020202020204" pitchFamily="34" charset="0"/>
              </a:rPr>
              <a:t>methane baseline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9945565-2DD2-F86E-2039-A45436CB3807}"/>
              </a:ext>
            </a:extLst>
          </p:cNvPr>
          <p:cNvSpPr/>
          <p:nvPr/>
        </p:nvSpPr>
        <p:spPr>
          <a:xfrm>
            <a:off x="1950720" y="4770120"/>
            <a:ext cx="1203960" cy="594360"/>
          </a:xfrm>
          <a:prstGeom prst="roundRect">
            <a:avLst/>
          </a:prstGeom>
          <a:solidFill>
            <a:srgbClr val="FFF6DE"/>
          </a:solidFill>
          <a:ln w="15240">
            <a:solidFill>
              <a:srgbClr val="E0A12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F6610BD-4C30-39DC-F7F1-1519F6CFF427}"/>
              </a:ext>
            </a:extLst>
          </p:cNvPr>
          <p:cNvSpPr txBox="1"/>
          <p:nvPr/>
        </p:nvSpPr>
        <p:spPr>
          <a:xfrm>
            <a:off x="2042160" y="4846320"/>
            <a:ext cx="100584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E0A12D"/>
                </a:solidFill>
                <a:latin typeface="Arial" panose="020B0604020202020204" pitchFamily="34" charset="0"/>
              </a:rPr>
              <a:t>Structure II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7B01640-CD73-A6BE-C1C5-5239B4469B24}"/>
              </a:ext>
            </a:extLst>
          </p:cNvPr>
          <p:cNvSpPr txBox="1"/>
          <p:nvPr/>
        </p:nvSpPr>
        <p:spPr>
          <a:xfrm>
            <a:off x="2042160" y="5044440"/>
            <a:ext cx="1005840" cy="143629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600" b="1">
                <a:solidFill>
                  <a:srgbClr val="0F2230"/>
                </a:solidFill>
                <a:latin typeface="Arial" panose="020B0604020202020204" pitchFamily="34" charset="0"/>
              </a:rPr>
              <a:t>larger gases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0752DADD-173C-3185-75C3-683435A82672}"/>
              </a:ext>
            </a:extLst>
          </p:cNvPr>
          <p:cNvSpPr/>
          <p:nvPr/>
        </p:nvSpPr>
        <p:spPr>
          <a:xfrm>
            <a:off x="3261360" y="4770120"/>
            <a:ext cx="1203960" cy="594360"/>
          </a:xfrm>
          <a:prstGeom prst="roundRect">
            <a:avLst/>
          </a:prstGeom>
          <a:solidFill>
            <a:srgbClr val="F5EEFF"/>
          </a:solidFill>
          <a:ln w="15240">
            <a:solidFill>
              <a:srgbClr val="705FC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5AFA7B4-22A5-5E36-CDFD-E7C954ABBD64}"/>
              </a:ext>
            </a:extLst>
          </p:cNvPr>
          <p:cNvSpPr txBox="1"/>
          <p:nvPr/>
        </p:nvSpPr>
        <p:spPr>
          <a:xfrm>
            <a:off x="3352800" y="4846320"/>
            <a:ext cx="100584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705FC3"/>
                </a:solidFill>
                <a:latin typeface="Arial" panose="020B0604020202020204" pitchFamily="34" charset="0"/>
              </a:rPr>
              <a:t>Structure H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1FBEFEF-66FE-4ED1-D9C5-2CF931984198}"/>
              </a:ext>
            </a:extLst>
          </p:cNvPr>
          <p:cNvSpPr txBox="1"/>
          <p:nvPr/>
        </p:nvSpPr>
        <p:spPr>
          <a:xfrm>
            <a:off x="3352800" y="5044440"/>
            <a:ext cx="1005840" cy="143629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600" b="1">
                <a:solidFill>
                  <a:srgbClr val="0F2230"/>
                </a:solidFill>
                <a:latin typeface="Arial" panose="020B0604020202020204" pitchFamily="34" charset="0"/>
              </a:rPr>
              <a:t>scenario chemistry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1F2DDAF-3F2C-1356-23A7-84B02B36A981}"/>
              </a:ext>
            </a:extLst>
          </p:cNvPr>
          <p:cNvSpPr txBox="1"/>
          <p:nvPr/>
        </p:nvSpPr>
        <p:spPr>
          <a:xfrm>
            <a:off x="640080" y="5577840"/>
            <a:ext cx="3672840" cy="143629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600" b="1">
                <a:solidFill>
                  <a:srgbClr val="536770"/>
                </a:solidFill>
                <a:latin typeface="Arial" panose="020B0604020202020204" pitchFamily="34" charset="0"/>
              </a:rPr>
              <a:t>Structure II/H are kept as gas-composition sensitivity, not the current baseline.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BABDBF0A-04A3-50A5-B712-ADF4E51D6B80}"/>
              </a:ext>
            </a:extLst>
          </p:cNvPr>
          <p:cNvSpPr/>
          <p:nvPr/>
        </p:nvSpPr>
        <p:spPr>
          <a:xfrm>
            <a:off x="4724400" y="1051560"/>
            <a:ext cx="4762500" cy="4968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DCF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27BC814-DBAA-3302-3D90-68566C119279}"/>
              </a:ext>
            </a:extLst>
          </p:cNvPr>
          <p:cNvSpPr/>
          <p:nvPr/>
        </p:nvSpPr>
        <p:spPr>
          <a:xfrm>
            <a:off x="4876800" y="1203960"/>
            <a:ext cx="259080" cy="259080"/>
          </a:xfrm>
          <a:prstGeom prst="ellipse">
            <a:avLst/>
          </a:prstGeom>
          <a:solidFill>
            <a:srgbClr val="3786CF"/>
          </a:solidFill>
          <a:ln w="12700">
            <a:solidFill>
              <a:srgbClr val="3786C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9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9B232F8-A925-9AFB-0B39-7D16F94B19AD}"/>
              </a:ext>
            </a:extLst>
          </p:cNvPr>
          <p:cNvSpPr txBox="1"/>
          <p:nvPr/>
        </p:nvSpPr>
        <p:spPr>
          <a:xfrm>
            <a:off x="5227320" y="1234440"/>
            <a:ext cx="3276600" cy="23596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1200" b="1">
                <a:solidFill>
                  <a:srgbClr val="0F2230"/>
                </a:solidFill>
                <a:latin typeface="Arial" panose="020B0604020202020204" pitchFamily="34" charset="0"/>
              </a:rPr>
              <a:t>Why the North Slope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87F9DA4-B0F7-DBD1-044B-21CA4E8502C1}"/>
              </a:ext>
            </a:extLst>
          </p:cNvPr>
          <p:cNvSpPr txBox="1"/>
          <p:nvPr/>
        </p:nvSpPr>
        <p:spPr>
          <a:xfrm>
            <a:off x="4907280" y="1508760"/>
            <a:ext cx="430530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536770"/>
                </a:solidFill>
                <a:latin typeface="Arial" panose="020B0604020202020204" pitchFamily="34" charset="0"/>
              </a:rPr>
              <a:t>The updated 2D stability-screen map uses OSL-staged DNR units, roads, TAPS, communities, and field labels.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D27DABD6-58D0-26D8-412A-6DED60FD7AFC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5840" y="1813560"/>
            <a:ext cx="4579620" cy="3063240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936114B7-F2CD-12EF-7D71-18C1C7287DCE}"/>
              </a:ext>
            </a:extLst>
          </p:cNvPr>
          <p:cNvSpPr/>
          <p:nvPr/>
        </p:nvSpPr>
        <p:spPr>
          <a:xfrm>
            <a:off x="4815840" y="4693920"/>
            <a:ext cx="4579621" cy="182880"/>
          </a:xfrm>
          <a:prstGeom prst="rect">
            <a:avLst/>
          </a:prstGeom>
          <a:solidFill>
            <a:srgbClr val="0B2330"/>
          </a:solidFill>
          <a:ln w="6350">
            <a:solidFill>
              <a:srgbClr val="0B233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948926A-5006-7950-B323-CCF21A00ED72}"/>
              </a:ext>
            </a:extLst>
          </p:cNvPr>
          <p:cNvSpPr txBox="1"/>
          <p:nvPr/>
        </p:nvSpPr>
        <p:spPr>
          <a:xfrm>
            <a:off x="4892040" y="4716780"/>
            <a:ext cx="4427220" cy="143629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600" b="1">
                <a:solidFill>
                  <a:srgbClr val="FFFFFF"/>
                </a:solidFill>
                <a:latin typeface="Arial" panose="020B0604020202020204" pitchFamily="34" charset="0"/>
              </a:rPr>
              <a:t>OSL/website 2D stability-screen map; DNR units + AKDOT roads + TAPS overlays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EC8822BF-9B55-FDC5-B77C-89A77FC37E5D}"/>
              </a:ext>
            </a:extLst>
          </p:cNvPr>
          <p:cNvSpPr/>
          <p:nvPr/>
        </p:nvSpPr>
        <p:spPr>
          <a:xfrm>
            <a:off x="4815840" y="5044440"/>
            <a:ext cx="1379220" cy="320040"/>
          </a:xfrm>
          <a:prstGeom prst="roundRect">
            <a:avLst/>
          </a:prstGeom>
          <a:solidFill>
            <a:srgbClr val="F8FCFD"/>
          </a:solidFill>
          <a:ln w="10160">
            <a:solidFill>
              <a:srgbClr val="ADCF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122478C-7FED-68F4-509D-E744B31EADD6}"/>
              </a:ext>
            </a:extLst>
          </p:cNvPr>
          <p:cNvSpPr txBox="1"/>
          <p:nvPr/>
        </p:nvSpPr>
        <p:spPr>
          <a:xfrm>
            <a:off x="4907280" y="5113020"/>
            <a:ext cx="182880" cy="20518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1000" b="1">
                <a:solidFill>
                  <a:srgbClr val="10818F"/>
                </a:solidFill>
                <a:latin typeface="Arial" panose="020B0604020202020204" pitchFamily="34" charset="0"/>
              </a:rPr>
              <a:t>#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2C804C3-A515-82ED-165F-8E05C1C792BD}"/>
              </a:ext>
            </a:extLst>
          </p:cNvPr>
          <p:cNvSpPr txBox="1"/>
          <p:nvPr/>
        </p:nvSpPr>
        <p:spPr>
          <a:xfrm>
            <a:off x="5135880" y="5143500"/>
            <a:ext cx="98298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DNR units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F3954442-E848-6E53-D8A8-FA1211AF6851}"/>
              </a:ext>
            </a:extLst>
          </p:cNvPr>
          <p:cNvSpPr/>
          <p:nvPr/>
        </p:nvSpPr>
        <p:spPr>
          <a:xfrm>
            <a:off x="6309360" y="5044440"/>
            <a:ext cx="1531620" cy="320040"/>
          </a:xfrm>
          <a:prstGeom prst="roundRect">
            <a:avLst/>
          </a:prstGeom>
          <a:solidFill>
            <a:srgbClr val="F8FCFD"/>
          </a:solidFill>
          <a:ln w="10160">
            <a:solidFill>
              <a:srgbClr val="ADCF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5727694-3ACC-57C2-5C7E-816F672DFF09}"/>
              </a:ext>
            </a:extLst>
          </p:cNvPr>
          <p:cNvSpPr txBox="1"/>
          <p:nvPr/>
        </p:nvSpPr>
        <p:spPr>
          <a:xfrm>
            <a:off x="6400800" y="5113020"/>
            <a:ext cx="182880" cy="20518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1000" b="1">
                <a:solidFill>
                  <a:srgbClr val="10818F"/>
                </a:solidFill>
                <a:latin typeface="Arial" panose="020B0604020202020204" pitchFamily="34" charset="0"/>
              </a:rPr>
              <a:t>|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F6712BB-26FC-71C7-43E9-3B28896D7780}"/>
              </a:ext>
            </a:extLst>
          </p:cNvPr>
          <p:cNvSpPr txBox="1"/>
          <p:nvPr/>
        </p:nvSpPr>
        <p:spPr>
          <a:xfrm>
            <a:off x="6629400" y="5143500"/>
            <a:ext cx="113538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Dalton + TAPS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A4AFC297-9272-6B53-49B6-96EE68C9503F}"/>
              </a:ext>
            </a:extLst>
          </p:cNvPr>
          <p:cNvSpPr/>
          <p:nvPr/>
        </p:nvSpPr>
        <p:spPr>
          <a:xfrm>
            <a:off x="7955280" y="5044440"/>
            <a:ext cx="1440181" cy="320040"/>
          </a:xfrm>
          <a:prstGeom prst="roundRect">
            <a:avLst/>
          </a:prstGeom>
          <a:solidFill>
            <a:srgbClr val="F8FCFD"/>
          </a:solidFill>
          <a:ln w="10160">
            <a:solidFill>
              <a:srgbClr val="ADCF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548F36D-01CB-98C1-37FF-4ABAA87A90CF}"/>
              </a:ext>
            </a:extLst>
          </p:cNvPr>
          <p:cNvSpPr txBox="1"/>
          <p:nvPr/>
        </p:nvSpPr>
        <p:spPr>
          <a:xfrm>
            <a:off x="8046720" y="5113020"/>
            <a:ext cx="182880" cy="20518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1000" b="1">
                <a:solidFill>
                  <a:srgbClr val="10818F"/>
                </a:solidFill>
                <a:latin typeface="Arial" panose="020B0604020202020204" pitchFamily="34" charset="0"/>
              </a:rPr>
              <a:t>o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FC76C68-2562-8EC1-32F6-974EC2FFDC09}"/>
              </a:ext>
            </a:extLst>
          </p:cNvPr>
          <p:cNvSpPr txBox="1"/>
          <p:nvPr/>
        </p:nvSpPr>
        <p:spPr>
          <a:xfrm>
            <a:off x="8275320" y="5143500"/>
            <a:ext cx="104394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field labels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1EC569D-3680-23E3-6CEF-89FB6794C254}"/>
              </a:ext>
            </a:extLst>
          </p:cNvPr>
          <p:cNvSpPr txBox="1"/>
          <p:nvPr/>
        </p:nvSpPr>
        <p:spPr>
          <a:xfrm>
            <a:off x="4815840" y="5547360"/>
            <a:ext cx="4457700" cy="143629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600" b="1">
                <a:solidFill>
                  <a:srgbClr val="D9373A"/>
                </a:solidFill>
                <a:latin typeface="Arial" panose="020B0604020202020204" pitchFamily="34" charset="0"/>
              </a:rPr>
              <a:t>Map layers locate the public scaffold; they do not claim occurrence or saturation.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AF2B5212-DE63-477F-2EFD-66D689646835}"/>
              </a:ext>
            </a:extLst>
          </p:cNvPr>
          <p:cNvSpPr/>
          <p:nvPr/>
        </p:nvSpPr>
        <p:spPr>
          <a:xfrm>
            <a:off x="9563100" y="1051560"/>
            <a:ext cx="2171700" cy="4968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DCF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E53BF40A-59F6-AADF-8060-A53BE6452470}"/>
              </a:ext>
            </a:extLst>
          </p:cNvPr>
          <p:cNvSpPr/>
          <p:nvPr/>
        </p:nvSpPr>
        <p:spPr>
          <a:xfrm>
            <a:off x="9715500" y="1203960"/>
            <a:ext cx="259080" cy="259080"/>
          </a:xfrm>
          <a:prstGeom prst="ellipse">
            <a:avLst/>
          </a:prstGeom>
          <a:solidFill>
            <a:srgbClr val="239E70"/>
          </a:solidFill>
          <a:ln w="12700">
            <a:solidFill>
              <a:srgbClr val="239E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9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30845AB-9CE1-5BC7-05F7-10E188C6F107}"/>
              </a:ext>
            </a:extLst>
          </p:cNvPr>
          <p:cNvSpPr txBox="1"/>
          <p:nvPr/>
        </p:nvSpPr>
        <p:spPr>
          <a:xfrm>
            <a:off x="10066020" y="1234440"/>
            <a:ext cx="3276600" cy="23596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1200" b="1">
                <a:solidFill>
                  <a:srgbClr val="0F2230"/>
                </a:solidFill>
                <a:latin typeface="Arial" panose="020B0604020202020204" pitchFamily="34" charset="0"/>
              </a:rPr>
              <a:t>P-T gate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6F8E137-333F-96F9-53A0-FB6118C7B0A6}"/>
              </a:ext>
            </a:extLst>
          </p:cNvPr>
          <p:cNvSpPr txBox="1"/>
          <p:nvPr/>
        </p:nvSpPr>
        <p:spPr>
          <a:xfrm>
            <a:off x="9700260" y="1508760"/>
            <a:ext cx="1752600" cy="374461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700" b="1">
                <a:solidFill>
                  <a:srgbClr val="536770"/>
                </a:solidFill>
                <a:latin typeface="Arial" panose="020B0604020202020204" pitchFamily="34" charset="0"/>
              </a:rPr>
              <a:t>Stability screens whether hydrate is physically admissible under the selected assumptions.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66C51D99-C175-FCFD-1420-8AC8438466E9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00260" y="1859280"/>
            <a:ext cx="1866900" cy="1920240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06EA4CB6-7359-04AA-B706-14E483B6B385}"/>
              </a:ext>
            </a:extLst>
          </p:cNvPr>
          <p:cNvSpPr/>
          <p:nvPr/>
        </p:nvSpPr>
        <p:spPr>
          <a:xfrm>
            <a:off x="9700260" y="3596640"/>
            <a:ext cx="1866900" cy="182880"/>
          </a:xfrm>
          <a:prstGeom prst="rect">
            <a:avLst/>
          </a:prstGeom>
          <a:solidFill>
            <a:srgbClr val="0B2330"/>
          </a:solidFill>
          <a:ln w="6350">
            <a:solidFill>
              <a:srgbClr val="0B233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DD51384-1A4B-3DFF-7841-5808584216E9}"/>
              </a:ext>
            </a:extLst>
          </p:cNvPr>
          <p:cNvSpPr txBox="1"/>
          <p:nvPr/>
        </p:nvSpPr>
        <p:spPr>
          <a:xfrm>
            <a:off x="9776460" y="3619500"/>
            <a:ext cx="1714500" cy="23596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600" b="1">
                <a:solidFill>
                  <a:srgbClr val="FFFFFF"/>
                </a:solidFill>
                <a:latin typeface="Arial" panose="020B0604020202020204" pitchFamily="34" charset="0"/>
              </a:rPr>
              <a:t>Selected USGS/DOE North Slope hydrate stability figure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FB5FDD9D-0CB1-8916-F2BA-0A38827B8F80}"/>
              </a:ext>
            </a:extLst>
          </p:cNvPr>
          <p:cNvSpPr/>
          <p:nvPr/>
        </p:nvSpPr>
        <p:spPr>
          <a:xfrm>
            <a:off x="9700260" y="3962400"/>
            <a:ext cx="1866900" cy="457200"/>
          </a:xfrm>
          <a:prstGeom prst="roundRect">
            <a:avLst/>
          </a:prstGeom>
          <a:solidFill>
            <a:srgbClr val="D9F7F9"/>
          </a:solidFill>
          <a:ln w="15240">
            <a:solidFill>
              <a:srgbClr val="1081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AE563D5-9998-A61B-5DBE-BA4B9CFD0ED2}"/>
              </a:ext>
            </a:extLst>
          </p:cNvPr>
          <p:cNvSpPr txBox="1"/>
          <p:nvPr/>
        </p:nvSpPr>
        <p:spPr>
          <a:xfrm>
            <a:off x="9806940" y="4076700"/>
            <a:ext cx="160020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10818F"/>
                </a:solidFill>
                <a:latin typeface="Arial" panose="020B0604020202020204" pitchFamily="34" charset="0"/>
              </a:rPr>
              <a:t>Current assumption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BFAE71E-1D0C-6CF2-7BEF-431969BBE145}"/>
              </a:ext>
            </a:extLst>
          </p:cNvPr>
          <p:cNvSpPr txBox="1"/>
          <p:nvPr/>
        </p:nvSpPr>
        <p:spPr>
          <a:xfrm>
            <a:off x="9806940" y="4267200"/>
            <a:ext cx="160020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methane / Structure I / 5 ppt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E14C0C25-BE2B-2CAB-61A8-88FF154AE115}"/>
              </a:ext>
            </a:extLst>
          </p:cNvPr>
          <p:cNvSpPr/>
          <p:nvPr/>
        </p:nvSpPr>
        <p:spPr>
          <a:xfrm>
            <a:off x="9700260" y="4526280"/>
            <a:ext cx="1866900" cy="441960"/>
          </a:xfrm>
          <a:prstGeom prst="roundRect">
            <a:avLst/>
          </a:prstGeom>
          <a:solidFill>
            <a:srgbClr val="EBFAF4"/>
          </a:solidFill>
          <a:ln w="15240">
            <a:solidFill>
              <a:srgbClr val="239E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4AEF81F-A6A6-4A3B-6F56-C40087687F46}"/>
              </a:ext>
            </a:extLst>
          </p:cNvPr>
          <p:cNvSpPr txBox="1"/>
          <p:nvPr/>
        </p:nvSpPr>
        <p:spPr>
          <a:xfrm>
            <a:off x="9806940" y="4632960"/>
            <a:ext cx="160020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239E70"/>
                </a:solidFill>
                <a:latin typeface="Arial" panose="020B0604020202020204" pitchFamily="34" charset="0"/>
              </a:rPr>
              <a:t>Meaning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7CCC7CF-64A3-7242-2B60-DA38EBE4AC7E}"/>
              </a:ext>
            </a:extLst>
          </p:cNvPr>
          <p:cNvSpPr txBox="1"/>
          <p:nvPr/>
        </p:nvSpPr>
        <p:spPr>
          <a:xfrm>
            <a:off x="9806940" y="4815840"/>
            <a:ext cx="160020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admissible under assumptions</a:t>
            </a: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306E7C1F-9AC6-246C-2AF4-62E5E4D4A56A}"/>
              </a:ext>
            </a:extLst>
          </p:cNvPr>
          <p:cNvSpPr/>
          <p:nvPr/>
        </p:nvSpPr>
        <p:spPr>
          <a:xfrm>
            <a:off x="9700260" y="5074920"/>
            <a:ext cx="1866900" cy="441960"/>
          </a:xfrm>
          <a:prstGeom prst="roundRect">
            <a:avLst/>
          </a:prstGeom>
          <a:solidFill>
            <a:srgbClr val="FFEFEF"/>
          </a:solidFill>
          <a:ln w="15240">
            <a:solidFill>
              <a:srgbClr val="D937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CB940C7-B650-A29E-AE29-40B8AD12CD50}"/>
              </a:ext>
            </a:extLst>
          </p:cNvPr>
          <p:cNvSpPr txBox="1"/>
          <p:nvPr/>
        </p:nvSpPr>
        <p:spPr>
          <a:xfrm>
            <a:off x="9806940" y="5181600"/>
            <a:ext cx="160020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D9373A"/>
                </a:solidFill>
                <a:latin typeface="Arial" panose="020B0604020202020204" pitchFamily="34" charset="0"/>
              </a:rPr>
              <a:t>Guardrail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5F9CB40-2855-47EA-6480-EF958D9B8417}"/>
              </a:ext>
            </a:extLst>
          </p:cNvPr>
          <p:cNvSpPr txBox="1"/>
          <p:nvPr/>
        </p:nvSpPr>
        <p:spPr>
          <a:xfrm>
            <a:off x="9806940" y="5364480"/>
            <a:ext cx="160020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not proof; not saturation</a:t>
            </a: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1CF39099-8A4A-AF71-1F30-A1B940ABB691}"/>
              </a:ext>
            </a:extLst>
          </p:cNvPr>
          <p:cNvSpPr/>
          <p:nvPr/>
        </p:nvSpPr>
        <p:spPr>
          <a:xfrm>
            <a:off x="457200" y="6134100"/>
            <a:ext cx="11277600" cy="228600"/>
          </a:xfrm>
          <a:prstGeom prst="roundRect">
            <a:avLst/>
          </a:prstGeom>
          <a:solidFill>
            <a:srgbClr val="F8FCFD"/>
          </a:solidFill>
          <a:ln w="15240">
            <a:solidFill>
              <a:srgbClr val="ADCF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8BD673F-312E-D2E1-8234-B70EEA87023C}"/>
              </a:ext>
            </a:extLst>
          </p:cNvPr>
          <p:cNvSpPr txBox="1"/>
          <p:nvPr/>
        </p:nvSpPr>
        <p:spPr>
          <a:xfrm>
            <a:off x="609600" y="6195060"/>
            <a:ext cx="10820400" cy="15901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700" b="1">
                <a:solidFill>
                  <a:srgbClr val="0F2230"/>
                </a:solidFill>
                <a:latin typeface="Arial" panose="020B0604020202020204" pitchFamily="34" charset="0"/>
              </a:rPr>
              <a:t>Why this project: North Slope methane hydrate needs integrated geology + stability + well-log/core evidence before occurrence or saturation ML can make reviewed claims.</a:t>
            </a: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EB2D90CF-202E-F08A-8D7B-AB6565A3856B}"/>
              </a:ext>
            </a:extLst>
          </p:cNvPr>
          <p:cNvCxnSpPr/>
          <p:nvPr/>
        </p:nvCxnSpPr>
        <p:spPr>
          <a:xfrm>
            <a:off x="411480" y="6416040"/>
            <a:ext cx="11369040" cy="0"/>
          </a:xfrm>
          <a:prstGeom prst="straightConnector1">
            <a:avLst/>
          </a:prstGeom>
          <a:ln w="12700">
            <a:solidFill>
              <a:srgbClr val="ADCF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62705EA9-B847-A918-594D-0C2E1C2F0230}"/>
              </a:ext>
            </a:extLst>
          </p:cNvPr>
          <p:cNvSpPr txBox="1"/>
          <p:nvPr/>
        </p:nvSpPr>
        <p:spPr>
          <a:xfrm>
            <a:off x="441960" y="6477000"/>
            <a:ext cx="10820400" cy="15901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700">
                <a:solidFill>
                  <a:srgbClr val="536770"/>
                </a:solidFill>
                <a:latin typeface="Arial" panose="020B0604020202020204" pitchFamily="34" charset="0"/>
              </a:rPr>
              <a:t>Slide 2 sources: World Atlas Fig. 1.1 hydrate structure crop; OSL/website 2D stability-screen map with public GIS overlays; selected USGS/DOE stability figure. Stability is not hydrate proof.</a:t>
            </a:r>
          </a:p>
        </p:txBody>
      </p:sp>
    </p:spTree>
    <p:extLst>
      <p:ext uri="{BB962C8B-B14F-4D97-AF65-F5344CB8AC3E}">
        <p14:creationId xmlns:p14="http://schemas.microsoft.com/office/powerpoint/2010/main" val="31816274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5A1199E-C5ED-CA39-051B-7D848E3718E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5E0236-5E81-A42C-A542-0BCAA7A002B0}"/>
              </a:ext>
            </a:extLst>
          </p:cNvPr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0818F"/>
          </a:solidFill>
          <a:ln w="6350">
            <a:solidFill>
              <a:srgbClr val="1081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B31769-EC10-ADD4-F149-2D3F073A774D}"/>
              </a:ext>
            </a:extLst>
          </p:cNvPr>
          <p:cNvSpPr txBox="1"/>
          <p:nvPr/>
        </p:nvSpPr>
        <p:spPr>
          <a:xfrm>
            <a:off x="457200" y="289560"/>
            <a:ext cx="8991600" cy="389850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2200" b="1">
                <a:solidFill>
                  <a:srgbClr val="0F2230"/>
                </a:solidFill>
                <a:latin typeface="Arial" panose="020B0604020202020204" pitchFamily="34" charset="0"/>
              </a:rPr>
              <a:t>Parameters And Expected Hydrate Ranges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31F63D-3AD5-9056-68B8-B6354FD4C9AA}"/>
              </a:ext>
            </a:extLst>
          </p:cNvPr>
          <p:cNvSpPr txBox="1"/>
          <p:nvPr/>
        </p:nvSpPr>
        <p:spPr>
          <a:xfrm>
            <a:off x="480060" y="693420"/>
            <a:ext cx="10591800" cy="20518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1000">
                <a:solidFill>
                  <a:srgbClr val="536770"/>
                </a:solidFill>
                <a:latin typeface="Arial" panose="020B0604020202020204" pitchFamily="34" charset="0"/>
              </a:rPr>
              <a:t>Working normalized screening envelopes only: direction, opposite meaning, mimic risk, and ML role.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D74AE5-03A9-D4DA-3ECD-91547ABC3A42}"/>
              </a:ext>
            </a:extLst>
          </p:cNvPr>
          <p:cNvSpPr txBox="1"/>
          <p:nvPr/>
        </p:nvSpPr>
        <p:spPr>
          <a:xfrm>
            <a:off x="624840" y="952500"/>
            <a:ext cx="1143000" cy="15901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700" b="1">
                <a:solidFill>
                  <a:srgbClr val="536770"/>
                </a:solidFill>
                <a:latin typeface="Arial" panose="020B0604020202020204" pitchFamily="34" charset="0"/>
              </a:rPr>
              <a:t>family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D5529F-268D-7CEC-953E-9941A94503E8}"/>
              </a:ext>
            </a:extLst>
          </p:cNvPr>
          <p:cNvSpPr txBox="1"/>
          <p:nvPr/>
        </p:nvSpPr>
        <p:spPr>
          <a:xfrm>
            <a:off x="2286000" y="952500"/>
            <a:ext cx="1143000" cy="15901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700" b="1">
                <a:solidFill>
                  <a:srgbClr val="536770"/>
                </a:solidFill>
                <a:latin typeface="Arial" panose="020B0604020202020204" pitchFamily="34" charset="0"/>
              </a:rPr>
              <a:t>range direction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FA5241-2454-BF87-C34A-335DFFF2CC7C}"/>
              </a:ext>
            </a:extLst>
          </p:cNvPr>
          <p:cNvSpPr txBox="1"/>
          <p:nvPr/>
        </p:nvSpPr>
        <p:spPr>
          <a:xfrm>
            <a:off x="7056120" y="952500"/>
            <a:ext cx="1143000" cy="15901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700" b="1">
                <a:solidFill>
                  <a:srgbClr val="536770"/>
                </a:solidFill>
                <a:latin typeface="Arial" panose="020B0604020202020204" pitchFamily="34" charset="0"/>
              </a:rPr>
              <a:t>supports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D69184-494F-E2F8-8E2D-91D2CA65C6D9}"/>
              </a:ext>
            </a:extLst>
          </p:cNvPr>
          <p:cNvSpPr txBox="1"/>
          <p:nvPr/>
        </p:nvSpPr>
        <p:spPr>
          <a:xfrm>
            <a:off x="8138160" y="952500"/>
            <a:ext cx="1143000" cy="15901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700" b="1">
                <a:solidFill>
                  <a:srgbClr val="536770"/>
                </a:solidFill>
                <a:latin typeface="Arial" panose="020B0604020202020204" pitchFamily="34" charset="0"/>
              </a:rPr>
              <a:t>opposite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72C50C-824B-BC4C-00FD-57A0604EADD0}"/>
              </a:ext>
            </a:extLst>
          </p:cNvPr>
          <p:cNvSpPr txBox="1"/>
          <p:nvPr/>
        </p:nvSpPr>
        <p:spPr>
          <a:xfrm>
            <a:off x="9410700" y="952500"/>
            <a:ext cx="1143000" cy="15901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700" b="1">
                <a:solidFill>
                  <a:srgbClr val="536770"/>
                </a:solidFill>
                <a:latin typeface="Arial" panose="020B0604020202020204" pitchFamily="34" charset="0"/>
              </a:rPr>
              <a:t>mimic / mask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F6FD1EA-0E97-E687-F14D-3D04B09F4DA8}"/>
              </a:ext>
            </a:extLst>
          </p:cNvPr>
          <p:cNvSpPr txBox="1"/>
          <p:nvPr/>
        </p:nvSpPr>
        <p:spPr>
          <a:xfrm>
            <a:off x="10820400" y="952500"/>
            <a:ext cx="1143000" cy="15901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700" b="1">
                <a:solidFill>
                  <a:srgbClr val="536770"/>
                </a:solidFill>
                <a:latin typeface="Arial" panose="020B0604020202020204" pitchFamily="34" charset="0"/>
              </a:rPr>
              <a:t>role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9A962C5-0D07-2363-B890-6440C3296B1B}"/>
              </a:ext>
            </a:extLst>
          </p:cNvPr>
          <p:cNvSpPr/>
          <p:nvPr/>
        </p:nvSpPr>
        <p:spPr>
          <a:xfrm>
            <a:off x="441960" y="1173480"/>
            <a:ext cx="1130808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DCF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D3DE6D1-3099-B533-CCBA-577CA54EC4F4}"/>
              </a:ext>
            </a:extLst>
          </p:cNvPr>
          <p:cNvSpPr txBox="1"/>
          <p:nvPr/>
        </p:nvSpPr>
        <p:spPr>
          <a:xfrm>
            <a:off x="624840" y="1272540"/>
            <a:ext cx="1447800" cy="18979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900" b="1">
                <a:solidFill>
                  <a:srgbClr val="0F2230"/>
                </a:solidFill>
                <a:latin typeface="Arial" panose="020B0604020202020204" pitchFamily="34" charset="0"/>
              </a:rPr>
              <a:t>GR clean sand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9AD4608-8028-CA8D-69F1-BEE590371017}"/>
              </a:ext>
            </a:extLst>
          </p:cNvPr>
          <p:cNvCxnSpPr/>
          <p:nvPr/>
        </p:nvCxnSpPr>
        <p:spPr>
          <a:xfrm>
            <a:off x="2286000" y="1447800"/>
            <a:ext cx="4572000" cy="0"/>
          </a:xfrm>
          <a:prstGeom prst="straightConnector1">
            <a:avLst/>
          </a:prstGeom>
          <a:ln w="95250">
            <a:solidFill>
              <a:srgbClr val="DCEA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9C927A9-2A7C-2F52-6571-F9CDF9F9A8BE}"/>
              </a:ext>
            </a:extLst>
          </p:cNvPr>
          <p:cNvCxnSpPr/>
          <p:nvPr/>
        </p:nvCxnSpPr>
        <p:spPr>
          <a:xfrm>
            <a:off x="2286000" y="1447800"/>
            <a:ext cx="1600200" cy="0"/>
          </a:xfrm>
          <a:prstGeom prst="straightConnector1">
            <a:avLst/>
          </a:prstGeom>
          <a:ln w="104140">
            <a:solidFill>
              <a:srgbClr val="239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BA7FB96B-95A3-4C4C-0416-50EB8D03F226}"/>
              </a:ext>
            </a:extLst>
          </p:cNvPr>
          <p:cNvSpPr/>
          <p:nvPr/>
        </p:nvSpPr>
        <p:spPr>
          <a:xfrm rot="5400000">
            <a:off x="3870960" y="1356360"/>
            <a:ext cx="182880" cy="182880"/>
          </a:xfrm>
          <a:prstGeom prst="triangle">
            <a:avLst/>
          </a:prstGeom>
          <a:solidFill>
            <a:srgbClr val="239E70"/>
          </a:solidFill>
          <a:ln>
            <a:solidFill>
              <a:srgbClr val="239E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49890B7-873F-2485-B2B0-7DEE292742EF}"/>
              </a:ext>
            </a:extLst>
          </p:cNvPr>
          <p:cNvCxnSpPr/>
          <p:nvPr/>
        </p:nvCxnSpPr>
        <p:spPr>
          <a:xfrm>
            <a:off x="2286000" y="1356360"/>
            <a:ext cx="0" cy="182880"/>
          </a:xfrm>
          <a:prstGeom prst="straightConnector1">
            <a:avLst/>
          </a:prstGeom>
          <a:ln w="25400">
            <a:solidFill>
              <a:srgbClr val="239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6E202AD-18FE-CD87-C36E-D42D1EEBC480}"/>
              </a:ext>
            </a:extLst>
          </p:cNvPr>
          <p:cNvSpPr txBox="1"/>
          <p:nvPr/>
        </p:nvSpPr>
        <p:spPr>
          <a:xfrm>
            <a:off x="2286000" y="1242060"/>
            <a:ext cx="1143000" cy="143629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600" b="1">
                <a:solidFill>
                  <a:srgbClr val="536770"/>
                </a:solidFill>
                <a:latin typeface="Arial" panose="020B0604020202020204" pitchFamily="34" charset="0"/>
              </a:rPr>
              <a:t>clean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773CA27-AD94-ED6B-C7D6-D302493B63F0}"/>
              </a:ext>
            </a:extLst>
          </p:cNvPr>
          <p:cNvSpPr txBox="1"/>
          <p:nvPr/>
        </p:nvSpPr>
        <p:spPr>
          <a:xfrm>
            <a:off x="5715000" y="1242060"/>
            <a:ext cx="1143000" cy="143629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r"/>
            <a:r>
              <a:rPr lang="en-US" sz="600" b="1">
                <a:solidFill>
                  <a:srgbClr val="536770"/>
                </a:solidFill>
                <a:latin typeface="Arial" panose="020B0604020202020204" pitchFamily="34" charset="0"/>
              </a:rPr>
              <a:t>shaly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6431C36-7FF1-4404-BEE3-8BFFA12BF30B}"/>
              </a:ext>
            </a:extLst>
          </p:cNvPr>
          <p:cNvSpPr txBox="1"/>
          <p:nvPr/>
        </p:nvSpPr>
        <p:spPr>
          <a:xfrm>
            <a:off x="7056120" y="1234440"/>
            <a:ext cx="99060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239E70"/>
                </a:solidFill>
                <a:latin typeface="Arial" panose="020B0604020202020204" pitchFamily="34" charset="0"/>
              </a:rPr>
              <a:t>clean sand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47024B9-0355-7D81-4DF0-21D24FDA9CEA}"/>
              </a:ext>
            </a:extLst>
          </p:cNvPr>
          <p:cNvSpPr txBox="1"/>
          <p:nvPr/>
        </p:nvSpPr>
        <p:spPr>
          <a:xfrm>
            <a:off x="8138160" y="1234440"/>
            <a:ext cx="1219200" cy="15901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700" b="1">
                <a:solidFill>
                  <a:srgbClr val="0F2230"/>
                </a:solidFill>
                <a:latin typeface="Arial" panose="020B0604020202020204" pitchFamily="34" charset="0"/>
              </a:rPr>
              <a:t>shale/clay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E90A584-5A6B-6872-040E-0F710DC78B37}"/>
              </a:ext>
            </a:extLst>
          </p:cNvPr>
          <p:cNvSpPr txBox="1"/>
          <p:nvPr/>
        </p:nvSpPr>
        <p:spPr>
          <a:xfrm>
            <a:off x="9410700" y="1234440"/>
            <a:ext cx="1295400" cy="15901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700" b="1">
                <a:solidFill>
                  <a:srgbClr val="536770"/>
                </a:solidFill>
                <a:latin typeface="Arial" panose="020B0604020202020204" pitchFamily="34" charset="0"/>
              </a:rPr>
              <a:t>radioactive minerals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887FDF96-689C-EE31-749E-3AD0E0BB7A5A}"/>
              </a:ext>
            </a:extLst>
          </p:cNvPr>
          <p:cNvSpPr/>
          <p:nvPr/>
        </p:nvSpPr>
        <p:spPr>
          <a:xfrm>
            <a:off x="10774680" y="1325880"/>
            <a:ext cx="777240" cy="228600"/>
          </a:xfrm>
          <a:prstGeom prst="roundRect">
            <a:avLst/>
          </a:prstGeom>
          <a:solidFill>
            <a:srgbClr val="E0F8FA"/>
          </a:solidFill>
          <a:ln w="10160">
            <a:solidFill>
              <a:srgbClr val="E0F8F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800" b="1">
                <a:solidFill>
                  <a:srgbClr val="10818F"/>
                </a:solidFill>
                <a:latin typeface="Arial" panose="020B0604020202020204" pitchFamily="34" charset="0"/>
              </a:rPr>
              <a:t>input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50ABD56-40DE-ED81-0817-C6B4384EA9FE}"/>
              </a:ext>
            </a:extLst>
          </p:cNvPr>
          <p:cNvSpPr/>
          <p:nvPr/>
        </p:nvSpPr>
        <p:spPr>
          <a:xfrm>
            <a:off x="441960" y="1752600"/>
            <a:ext cx="1130808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DCF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E76712A-60EA-537E-2236-35375488F29F}"/>
              </a:ext>
            </a:extLst>
          </p:cNvPr>
          <p:cNvSpPr txBox="1"/>
          <p:nvPr/>
        </p:nvSpPr>
        <p:spPr>
          <a:xfrm>
            <a:off x="624840" y="1851660"/>
            <a:ext cx="1447800" cy="18979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900" b="1">
                <a:solidFill>
                  <a:srgbClr val="0F2230"/>
                </a:solidFill>
                <a:latin typeface="Arial" panose="020B0604020202020204" pitchFamily="34" charset="0"/>
              </a:rPr>
              <a:t>Density / porosity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33E6448B-5BF0-AF27-0209-A37539929AB4}"/>
              </a:ext>
            </a:extLst>
          </p:cNvPr>
          <p:cNvCxnSpPr/>
          <p:nvPr/>
        </p:nvCxnSpPr>
        <p:spPr>
          <a:xfrm>
            <a:off x="2286000" y="2026920"/>
            <a:ext cx="4572000" cy="0"/>
          </a:xfrm>
          <a:prstGeom prst="straightConnector1">
            <a:avLst/>
          </a:prstGeom>
          <a:ln w="95250">
            <a:solidFill>
              <a:srgbClr val="DCEA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AA4D86F-65B0-3622-3017-D388C56C40A7}"/>
              </a:ext>
            </a:extLst>
          </p:cNvPr>
          <p:cNvCxnSpPr/>
          <p:nvPr/>
        </p:nvCxnSpPr>
        <p:spPr>
          <a:xfrm>
            <a:off x="4343400" y="2026920"/>
            <a:ext cx="1371600" cy="0"/>
          </a:xfrm>
          <a:prstGeom prst="straightConnector1">
            <a:avLst/>
          </a:prstGeom>
          <a:ln w="104140">
            <a:solidFill>
              <a:srgbClr val="378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B501562C-305D-F94E-F522-ED861F314F17}"/>
              </a:ext>
            </a:extLst>
          </p:cNvPr>
          <p:cNvSpPr/>
          <p:nvPr/>
        </p:nvSpPr>
        <p:spPr>
          <a:xfrm rot="5400000">
            <a:off x="5699760" y="1935480"/>
            <a:ext cx="182880" cy="182880"/>
          </a:xfrm>
          <a:prstGeom prst="triangle">
            <a:avLst/>
          </a:prstGeom>
          <a:solidFill>
            <a:srgbClr val="3786CF"/>
          </a:solidFill>
          <a:ln>
            <a:solidFill>
              <a:srgbClr val="3786C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64589221-3331-1770-EA2A-D6E3AB714CDA}"/>
              </a:ext>
            </a:extLst>
          </p:cNvPr>
          <p:cNvCxnSpPr/>
          <p:nvPr/>
        </p:nvCxnSpPr>
        <p:spPr>
          <a:xfrm>
            <a:off x="4343400" y="1935480"/>
            <a:ext cx="0" cy="182880"/>
          </a:xfrm>
          <a:prstGeom prst="straightConnector1">
            <a:avLst/>
          </a:prstGeom>
          <a:ln w="25400">
            <a:solidFill>
              <a:srgbClr val="378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EEE47C86-72F2-DC35-ADEF-1A92B28A713E}"/>
              </a:ext>
            </a:extLst>
          </p:cNvPr>
          <p:cNvSpPr txBox="1"/>
          <p:nvPr/>
        </p:nvSpPr>
        <p:spPr>
          <a:xfrm>
            <a:off x="2286000" y="1821180"/>
            <a:ext cx="1143000" cy="143629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600" b="1">
                <a:solidFill>
                  <a:srgbClr val="536770"/>
                </a:solidFill>
                <a:latin typeface="Arial" panose="020B0604020202020204" pitchFamily="34" charset="0"/>
              </a:rPr>
              <a:t>tight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4C55366-9BBA-0A83-BB6B-3988911D8DE9}"/>
              </a:ext>
            </a:extLst>
          </p:cNvPr>
          <p:cNvSpPr txBox="1"/>
          <p:nvPr/>
        </p:nvSpPr>
        <p:spPr>
          <a:xfrm>
            <a:off x="5715000" y="1821180"/>
            <a:ext cx="1143000" cy="143629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r"/>
            <a:r>
              <a:rPr lang="en-US" sz="600" b="1">
                <a:solidFill>
                  <a:srgbClr val="536770"/>
                </a:solidFill>
                <a:latin typeface="Arial" panose="020B0604020202020204" pitchFamily="34" charset="0"/>
              </a:rPr>
              <a:t>porous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F54F5E6-ABBC-5FF5-17C0-7AE7CE100EDD}"/>
              </a:ext>
            </a:extLst>
          </p:cNvPr>
          <p:cNvSpPr txBox="1"/>
          <p:nvPr/>
        </p:nvSpPr>
        <p:spPr>
          <a:xfrm>
            <a:off x="7056120" y="1813560"/>
            <a:ext cx="99060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3786CF"/>
                </a:solidFill>
                <a:latin typeface="Arial" panose="020B0604020202020204" pitchFamily="34" charset="0"/>
              </a:rPr>
              <a:t>porous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44BF7EE-6FF3-884C-E2EF-D67B687A174B}"/>
              </a:ext>
            </a:extLst>
          </p:cNvPr>
          <p:cNvSpPr txBox="1"/>
          <p:nvPr/>
        </p:nvSpPr>
        <p:spPr>
          <a:xfrm>
            <a:off x="8138160" y="1813560"/>
            <a:ext cx="1219200" cy="15901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700" b="1">
                <a:solidFill>
                  <a:srgbClr val="0F2230"/>
                </a:solidFill>
                <a:latin typeface="Arial" panose="020B0604020202020204" pitchFamily="34" charset="0"/>
              </a:rPr>
              <a:t>tight/shale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FE73B59-17EE-42E2-D2AB-DBAFABD78F25}"/>
              </a:ext>
            </a:extLst>
          </p:cNvPr>
          <p:cNvSpPr txBox="1"/>
          <p:nvPr/>
        </p:nvSpPr>
        <p:spPr>
          <a:xfrm>
            <a:off x="9410700" y="1813560"/>
            <a:ext cx="1295400" cy="15901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700" b="1">
                <a:solidFill>
                  <a:srgbClr val="536770"/>
                </a:solidFill>
                <a:latin typeface="Arial" panose="020B0604020202020204" pitchFamily="34" charset="0"/>
              </a:rPr>
              <a:t>gas, washout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276B7032-4D0D-991D-9A6A-D15259FE9E46}"/>
              </a:ext>
            </a:extLst>
          </p:cNvPr>
          <p:cNvSpPr/>
          <p:nvPr/>
        </p:nvSpPr>
        <p:spPr>
          <a:xfrm>
            <a:off x="10774680" y="1905000"/>
            <a:ext cx="777240" cy="228600"/>
          </a:xfrm>
          <a:prstGeom prst="roundRect">
            <a:avLst/>
          </a:prstGeom>
          <a:solidFill>
            <a:srgbClr val="E0F8FA"/>
          </a:solidFill>
          <a:ln w="10160">
            <a:solidFill>
              <a:srgbClr val="E0F8F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800" b="1">
                <a:solidFill>
                  <a:srgbClr val="10818F"/>
                </a:solidFill>
                <a:latin typeface="Arial" panose="020B0604020202020204" pitchFamily="34" charset="0"/>
              </a:rPr>
              <a:t>input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E86926C3-E34A-9303-668D-CAA880A1F232}"/>
              </a:ext>
            </a:extLst>
          </p:cNvPr>
          <p:cNvSpPr/>
          <p:nvPr/>
        </p:nvSpPr>
        <p:spPr>
          <a:xfrm>
            <a:off x="441960" y="2331720"/>
            <a:ext cx="1130808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DCF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518324B-928D-F89D-EFC0-5889E03073EE}"/>
              </a:ext>
            </a:extLst>
          </p:cNvPr>
          <p:cNvSpPr txBox="1"/>
          <p:nvPr/>
        </p:nvSpPr>
        <p:spPr>
          <a:xfrm>
            <a:off x="624840" y="2430780"/>
            <a:ext cx="1447800" cy="18979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900" b="1">
                <a:solidFill>
                  <a:srgbClr val="0F2230"/>
                </a:solidFill>
                <a:latin typeface="Arial" panose="020B0604020202020204" pitchFamily="34" charset="0"/>
              </a:rPr>
              <a:t>Deep resistivity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AD61F93-493E-7613-CB89-29087882D431}"/>
              </a:ext>
            </a:extLst>
          </p:cNvPr>
          <p:cNvCxnSpPr/>
          <p:nvPr/>
        </p:nvCxnSpPr>
        <p:spPr>
          <a:xfrm>
            <a:off x="2286000" y="2606040"/>
            <a:ext cx="4572000" cy="0"/>
          </a:xfrm>
          <a:prstGeom prst="straightConnector1">
            <a:avLst/>
          </a:prstGeom>
          <a:ln w="95250">
            <a:solidFill>
              <a:srgbClr val="DCEA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182CF564-178D-C972-5C67-B9788CF3BC59}"/>
              </a:ext>
            </a:extLst>
          </p:cNvPr>
          <p:cNvCxnSpPr/>
          <p:nvPr/>
        </p:nvCxnSpPr>
        <p:spPr>
          <a:xfrm>
            <a:off x="5257800" y="2606040"/>
            <a:ext cx="1508760" cy="0"/>
          </a:xfrm>
          <a:prstGeom prst="straightConnector1">
            <a:avLst/>
          </a:prstGeom>
          <a:ln w="104140">
            <a:solidFill>
              <a:srgbClr val="D937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6D40A872-FC38-D3D1-2251-3AB15C5F4A81}"/>
              </a:ext>
            </a:extLst>
          </p:cNvPr>
          <p:cNvSpPr/>
          <p:nvPr/>
        </p:nvSpPr>
        <p:spPr>
          <a:xfrm rot="5400000">
            <a:off x="6751320" y="2514600"/>
            <a:ext cx="182880" cy="182880"/>
          </a:xfrm>
          <a:prstGeom prst="triangle">
            <a:avLst/>
          </a:prstGeom>
          <a:solidFill>
            <a:srgbClr val="D9373A"/>
          </a:solidFill>
          <a:ln>
            <a:solidFill>
              <a:srgbClr val="D937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E8AC8089-50BC-AA37-C3EA-53C39C16CC4E}"/>
              </a:ext>
            </a:extLst>
          </p:cNvPr>
          <p:cNvCxnSpPr/>
          <p:nvPr/>
        </p:nvCxnSpPr>
        <p:spPr>
          <a:xfrm>
            <a:off x="5257800" y="2514600"/>
            <a:ext cx="0" cy="182880"/>
          </a:xfrm>
          <a:prstGeom prst="straightConnector1">
            <a:avLst/>
          </a:prstGeom>
          <a:ln w="25400">
            <a:solidFill>
              <a:srgbClr val="D937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A39ADE5F-A7D7-7DF2-FE77-F60378524013}"/>
              </a:ext>
            </a:extLst>
          </p:cNvPr>
          <p:cNvSpPr txBox="1"/>
          <p:nvPr/>
        </p:nvSpPr>
        <p:spPr>
          <a:xfrm>
            <a:off x="2286000" y="2400300"/>
            <a:ext cx="1143000" cy="143629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600" b="1">
                <a:solidFill>
                  <a:srgbClr val="536770"/>
                </a:solidFill>
                <a:latin typeface="Arial" panose="020B0604020202020204" pitchFamily="34" charset="0"/>
              </a:rPr>
              <a:t>conductive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A8C19E1-C76C-3C5F-3FE0-8092C1575D4E}"/>
              </a:ext>
            </a:extLst>
          </p:cNvPr>
          <p:cNvSpPr txBox="1"/>
          <p:nvPr/>
        </p:nvSpPr>
        <p:spPr>
          <a:xfrm>
            <a:off x="5715000" y="2400300"/>
            <a:ext cx="1143000" cy="143629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r"/>
            <a:r>
              <a:rPr lang="en-US" sz="600" b="1">
                <a:solidFill>
                  <a:srgbClr val="536770"/>
                </a:solidFill>
                <a:latin typeface="Arial" panose="020B0604020202020204" pitchFamily="34" charset="0"/>
              </a:rPr>
              <a:t>resistive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DE660D3-5F10-85E6-DDF5-EED2601F19BD}"/>
              </a:ext>
            </a:extLst>
          </p:cNvPr>
          <p:cNvSpPr txBox="1"/>
          <p:nvPr/>
        </p:nvSpPr>
        <p:spPr>
          <a:xfrm>
            <a:off x="7056120" y="2392680"/>
            <a:ext cx="99060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D9373A"/>
                </a:solidFill>
                <a:latin typeface="Arial" panose="020B0604020202020204" pitchFamily="34" charset="0"/>
              </a:rPr>
              <a:t>resistive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37BF1B1-E4D1-3AB7-89BF-D6C1E3C9485A}"/>
              </a:ext>
            </a:extLst>
          </p:cNvPr>
          <p:cNvSpPr txBox="1"/>
          <p:nvPr/>
        </p:nvSpPr>
        <p:spPr>
          <a:xfrm>
            <a:off x="8138160" y="2392680"/>
            <a:ext cx="1219200" cy="15901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700" b="1">
                <a:solidFill>
                  <a:srgbClr val="0F2230"/>
                </a:solidFill>
                <a:latin typeface="Arial" panose="020B0604020202020204" pitchFamily="34" charset="0"/>
              </a:rPr>
              <a:t>wet/saline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942488F-0097-9FA0-9967-D4313B8D302A}"/>
              </a:ext>
            </a:extLst>
          </p:cNvPr>
          <p:cNvSpPr txBox="1"/>
          <p:nvPr/>
        </p:nvSpPr>
        <p:spPr>
          <a:xfrm>
            <a:off x="9410700" y="2392680"/>
            <a:ext cx="1295400" cy="15901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700" b="1">
                <a:solidFill>
                  <a:srgbClr val="536770"/>
                </a:solidFill>
                <a:latin typeface="Arial" panose="020B0604020202020204" pitchFamily="34" charset="0"/>
              </a:rPr>
              <a:t>ice/free gas/tight</a:t>
            </a: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0F0DEF89-79C2-D5F2-FDB1-18237DE48656}"/>
              </a:ext>
            </a:extLst>
          </p:cNvPr>
          <p:cNvSpPr/>
          <p:nvPr/>
        </p:nvSpPr>
        <p:spPr>
          <a:xfrm>
            <a:off x="10774680" y="2484120"/>
            <a:ext cx="777240" cy="228600"/>
          </a:xfrm>
          <a:prstGeom prst="roundRect">
            <a:avLst/>
          </a:prstGeom>
          <a:solidFill>
            <a:srgbClr val="E0F8FA"/>
          </a:solidFill>
          <a:ln w="10160">
            <a:solidFill>
              <a:srgbClr val="E0F8F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800" b="1">
                <a:solidFill>
                  <a:srgbClr val="10818F"/>
                </a:solidFill>
                <a:latin typeface="Arial" panose="020B0604020202020204" pitchFamily="34" charset="0"/>
              </a:rPr>
              <a:t>input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D9949B0A-C13F-9926-1721-AE39EEB0DB68}"/>
              </a:ext>
            </a:extLst>
          </p:cNvPr>
          <p:cNvSpPr/>
          <p:nvPr/>
        </p:nvSpPr>
        <p:spPr>
          <a:xfrm>
            <a:off x="441960" y="2910840"/>
            <a:ext cx="1130808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DCF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39E6E0B-0EEA-ECCE-D6AB-51ACCEEEFBB3}"/>
              </a:ext>
            </a:extLst>
          </p:cNvPr>
          <p:cNvSpPr txBox="1"/>
          <p:nvPr/>
        </p:nvSpPr>
        <p:spPr>
          <a:xfrm>
            <a:off x="624840" y="3009900"/>
            <a:ext cx="1447800" cy="18979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900" b="1">
                <a:solidFill>
                  <a:srgbClr val="0F2230"/>
                </a:solidFill>
                <a:latin typeface="Arial" panose="020B0604020202020204" pitchFamily="34" charset="0"/>
              </a:rPr>
              <a:t>NMR separation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21F6873-0BE1-B952-D1D1-754A29006364}"/>
              </a:ext>
            </a:extLst>
          </p:cNvPr>
          <p:cNvCxnSpPr/>
          <p:nvPr/>
        </p:nvCxnSpPr>
        <p:spPr>
          <a:xfrm>
            <a:off x="2286000" y="3185160"/>
            <a:ext cx="4572000" cy="0"/>
          </a:xfrm>
          <a:prstGeom prst="straightConnector1">
            <a:avLst/>
          </a:prstGeom>
          <a:ln w="95250">
            <a:solidFill>
              <a:srgbClr val="DCEA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B6337C83-E3DD-AF8D-B11A-73204D3F92C6}"/>
              </a:ext>
            </a:extLst>
          </p:cNvPr>
          <p:cNvCxnSpPr/>
          <p:nvPr/>
        </p:nvCxnSpPr>
        <p:spPr>
          <a:xfrm>
            <a:off x="5029200" y="3185160"/>
            <a:ext cx="1371600" cy="0"/>
          </a:xfrm>
          <a:prstGeom prst="straightConnector1">
            <a:avLst/>
          </a:prstGeom>
          <a:ln w="104140">
            <a:solidFill>
              <a:srgbClr val="705F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Isosceles Triangle 51">
            <a:extLst>
              <a:ext uri="{FF2B5EF4-FFF2-40B4-BE49-F238E27FC236}">
                <a16:creationId xmlns:a16="http://schemas.microsoft.com/office/drawing/2014/main" id="{4A7BFC49-6D23-84C2-B3F8-6FC97BC7F822}"/>
              </a:ext>
            </a:extLst>
          </p:cNvPr>
          <p:cNvSpPr/>
          <p:nvPr/>
        </p:nvSpPr>
        <p:spPr>
          <a:xfrm rot="5400000">
            <a:off x="6385560" y="3093720"/>
            <a:ext cx="182880" cy="182880"/>
          </a:xfrm>
          <a:prstGeom prst="triangle">
            <a:avLst/>
          </a:prstGeom>
          <a:solidFill>
            <a:srgbClr val="705FC3"/>
          </a:solidFill>
          <a:ln>
            <a:solidFill>
              <a:srgbClr val="705FC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318F05B-03F2-A295-746C-F0D09F0ED37F}"/>
              </a:ext>
            </a:extLst>
          </p:cNvPr>
          <p:cNvCxnSpPr/>
          <p:nvPr/>
        </p:nvCxnSpPr>
        <p:spPr>
          <a:xfrm>
            <a:off x="5029200" y="3093720"/>
            <a:ext cx="0" cy="182880"/>
          </a:xfrm>
          <a:prstGeom prst="straightConnector1">
            <a:avLst/>
          </a:prstGeom>
          <a:ln w="25400">
            <a:solidFill>
              <a:srgbClr val="705F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D450E784-3725-7302-3B22-C76CDBF46B73}"/>
              </a:ext>
            </a:extLst>
          </p:cNvPr>
          <p:cNvSpPr txBox="1"/>
          <p:nvPr/>
        </p:nvSpPr>
        <p:spPr>
          <a:xfrm>
            <a:off x="2286000" y="2979420"/>
            <a:ext cx="1143000" cy="143629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600" b="1">
                <a:solidFill>
                  <a:srgbClr val="536770"/>
                </a:solidFill>
                <a:latin typeface="Arial" panose="020B0604020202020204" pitchFamily="34" charset="0"/>
              </a:rPr>
              <a:t>mobile water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6471506-95FB-70DB-3B25-74E185D2CB30}"/>
              </a:ext>
            </a:extLst>
          </p:cNvPr>
          <p:cNvSpPr txBox="1"/>
          <p:nvPr/>
        </p:nvSpPr>
        <p:spPr>
          <a:xfrm>
            <a:off x="5715000" y="2979420"/>
            <a:ext cx="1143000" cy="143629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r"/>
            <a:r>
              <a:rPr lang="en-US" sz="600" b="1">
                <a:solidFill>
                  <a:srgbClr val="536770"/>
                </a:solidFill>
                <a:latin typeface="Arial" panose="020B0604020202020204" pitchFamily="34" charset="0"/>
              </a:rPr>
              <a:t>separation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6A73B95-3870-DCCD-8D15-2C445DBC64F1}"/>
              </a:ext>
            </a:extLst>
          </p:cNvPr>
          <p:cNvSpPr txBox="1"/>
          <p:nvPr/>
        </p:nvSpPr>
        <p:spPr>
          <a:xfrm>
            <a:off x="7056120" y="2971800"/>
            <a:ext cx="99060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705FC3"/>
                </a:solidFill>
                <a:latin typeface="Arial" panose="020B0604020202020204" pitchFamily="34" charset="0"/>
              </a:rPr>
              <a:t>separation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FBB9EE6-FCAB-A9E5-35FB-AF6320595DF1}"/>
              </a:ext>
            </a:extLst>
          </p:cNvPr>
          <p:cNvSpPr txBox="1"/>
          <p:nvPr/>
        </p:nvSpPr>
        <p:spPr>
          <a:xfrm>
            <a:off x="8138160" y="2971800"/>
            <a:ext cx="1219200" cy="15901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700" b="1">
                <a:solidFill>
                  <a:srgbClr val="0F2230"/>
                </a:solidFill>
                <a:latin typeface="Arial" panose="020B0604020202020204" pitchFamily="34" charset="0"/>
              </a:rPr>
              <a:t>water/clay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1C03FE7-6798-F21C-106B-5B95059A00C8}"/>
              </a:ext>
            </a:extLst>
          </p:cNvPr>
          <p:cNvSpPr txBox="1"/>
          <p:nvPr/>
        </p:nvSpPr>
        <p:spPr>
          <a:xfrm>
            <a:off x="9410700" y="2971800"/>
            <a:ext cx="1295400" cy="15901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700" b="1">
                <a:solidFill>
                  <a:srgbClr val="536770"/>
                </a:solidFill>
                <a:latin typeface="Arial" panose="020B0604020202020204" pitchFamily="34" charset="0"/>
              </a:rPr>
              <a:t>processing/depth</a:t>
            </a: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C90551B4-1B25-880C-35FB-B64EC8D5F038}"/>
              </a:ext>
            </a:extLst>
          </p:cNvPr>
          <p:cNvSpPr/>
          <p:nvPr/>
        </p:nvSpPr>
        <p:spPr>
          <a:xfrm>
            <a:off x="10774680" y="3063240"/>
            <a:ext cx="777240" cy="228600"/>
          </a:xfrm>
          <a:prstGeom prst="roundRect">
            <a:avLst/>
          </a:prstGeom>
          <a:solidFill>
            <a:srgbClr val="E0F8FA"/>
          </a:solidFill>
          <a:ln w="10160">
            <a:solidFill>
              <a:srgbClr val="E0F8F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800" b="1">
                <a:solidFill>
                  <a:srgbClr val="10818F"/>
                </a:solidFill>
                <a:latin typeface="Arial" panose="020B0604020202020204" pitchFamily="34" charset="0"/>
              </a:rPr>
              <a:t>input/Y guard</a:t>
            </a: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C1552FCF-7BA0-5121-D0E7-565CE7C7473D}"/>
              </a:ext>
            </a:extLst>
          </p:cNvPr>
          <p:cNvSpPr/>
          <p:nvPr/>
        </p:nvSpPr>
        <p:spPr>
          <a:xfrm>
            <a:off x="441960" y="3489960"/>
            <a:ext cx="1130808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DCF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55785A5-7337-15A8-C4FC-761673CE12DF}"/>
              </a:ext>
            </a:extLst>
          </p:cNvPr>
          <p:cNvSpPr txBox="1"/>
          <p:nvPr/>
        </p:nvSpPr>
        <p:spPr>
          <a:xfrm>
            <a:off x="624840" y="3589020"/>
            <a:ext cx="1447800" cy="18979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900" b="1">
                <a:solidFill>
                  <a:srgbClr val="0F2230"/>
                </a:solidFill>
                <a:latin typeface="Arial" panose="020B0604020202020204" pitchFamily="34" charset="0"/>
              </a:rPr>
              <a:t>Vp/Vs/AI elastic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7A76A96D-3124-5845-89FD-0DA3D895AAB5}"/>
              </a:ext>
            </a:extLst>
          </p:cNvPr>
          <p:cNvCxnSpPr/>
          <p:nvPr/>
        </p:nvCxnSpPr>
        <p:spPr>
          <a:xfrm>
            <a:off x="2286000" y="3764280"/>
            <a:ext cx="4572000" cy="0"/>
          </a:xfrm>
          <a:prstGeom prst="straightConnector1">
            <a:avLst/>
          </a:prstGeom>
          <a:ln w="95250">
            <a:solidFill>
              <a:srgbClr val="DCEA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6D7DBCCD-9324-20E9-CBD9-31EE841C8537}"/>
              </a:ext>
            </a:extLst>
          </p:cNvPr>
          <p:cNvCxnSpPr/>
          <p:nvPr/>
        </p:nvCxnSpPr>
        <p:spPr>
          <a:xfrm>
            <a:off x="3429000" y="3764280"/>
            <a:ext cx="2880360" cy="0"/>
          </a:xfrm>
          <a:prstGeom prst="straightConnector1">
            <a:avLst/>
          </a:prstGeom>
          <a:ln w="104140">
            <a:solidFill>
              <a:srgbClr val="705F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Isosceles Triangle 63">
            <a:extLst>
              <a:ext uri="{FF2B5EF4-FFF2-40B4-BE49-F238E27FC236}">
                <a16:creationId xmlns:a16="http://schemas.microsoft.com/office/drawing/2014/main" id="{E716B1EE-87FD-B749-1088-2BCF31145E39}"/>
              </a:ext>
            </a:extLst>
          </p:cNvPr>
          <p:cNvSpPr/>
          <p:nvPr/>
        </p:nvSpPr>
        <p:spPr>
          <a:xfrm rot="5400000">
            <a:off x="6294120" y="3672840"/>
            <a:ext cx="182880" cy="182880"/>
          </a:xfrm>
          <a:prstGeom prst="triangle">
            <a:avLst/>
          </a:prstGeom>
          <a:solidFill>
            <a:srgbClr val="705FC3"/>
          </a:solidFill>
          <a:ln>
            <a:solidFill>
              <a:srgbClr val="705FC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2EB1A560-18E8-EE73-E71F-0972BEC34278}"/>
              </a:ext>
            </a:extLst>
          </p:cNvPr>
          <p:cNvCxnSpPr/>
          <p:nvPr/>
        </p:nvCxnSpPr>
        <p:spPr>
          <a:xfrm>
            <a:off x="3429000" y="3672840"/>
            <a:ext cx="0" cy="182880"/>
          </a:xfrm>
          <a:prstGeom prst="straightConnector1">
            <a:avLst/>
          </a:prstGeom>
          <a:ln w="25400">
            <a:solidFill>
              <a:srgbClr val="705F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7DA86E59-FA33-3ED2-D34B-785A80EB4081}"/>
              </a:ext>
            </a:extLst>
          </p:cNvPr>
          <p:cNvSpPr txBox="1"/>
          <p:nvPr/>
        </p:nvSpPr>
        <p:spPr>
          <a:xfrm>
            <a:off x="2286000" y="3558540"/>
            <a:ext cx="1143000" cy="143629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600" b="1">
                <a:solidFill>
                  <a:srgbClr val="536770"/>
                </a:solidFill>
                <a:latin typeface="Arial" panose="020B0604020202020204" pitchFamily="34" charset="0"/>
              </a:rPr>
              <a:t>soft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65C4861-2150-C9FC-4DA2-12E5B00044EA}"/>
              </a:ext>
            </a:extLst>
          </p:cNvPr>
          <p:cNvSpPr txBox="1"/>
          <p:nvPr/>
        </p:nvSpPr>
        <p:spPr>
          <a:xfrm>
            <a:off x="5715000" y="3558540"/>
            <a:ext cx="1143000" cy="143629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r"/>
            <a:r>
              <a:rPr lang="en-US" sz="600" b="1">
                <a:solidFill>
                  <a:srgbClr val="536770"/>
                </a:solidFill>
                <a:latin typeface="Arial" panose="020B0604020202020204" pitchFamily="34" charset="0"/>
              </a:rPr>
              <a:t>stiff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EE06A5F-A4C2-C8CF-C6CE-58779E7EBAEC}"/>
              </a:ext>
            </a:extLst>
          </p:cNvPr>
          <p:cNvSpPr txBox="1"/>
          <p:nvPr/>
        </p:nvSpPr>
        <p:spPr>
          <a:xfrm>
            <a:off x="7056120" y="3550920"/>
            <a:ext cx="99060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705FC3"/>
                </a:solidFill>
                <a:latin typeface="Arial" panose="020B0604020202020204" pitchFamily="34" charset="0"/>
              </a:rPr>
              <a:t>stiff contrast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C5576AA-417F-C5D8-9108-DB3E59B21B75}"/>
              </a:ext>
            </a:extLst>
          </p:cNvPr>
          <p:cNvSpPr txBox="1"/>
          <p:nvPr/>
        </p:nvSpPr>
        <p:spPr>
          <a:xfrm>
            <a:off x="8138160" y="3550920"/>
            <a:ext cx="1219200" cy="15901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700" b="1">
                <a:solidFill>
                  <a:srgbClr val="0F2230"/>
                </a:solidFill>
                <a:latin typeface="Arial" panose="020B0604020202020204" pitchFamily="34" charset="0"/>
              </a:rPr>
              <a:t>soft/gas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AC74813-01AE-2468-0BB4-8DFF9AB27ACF}"/>
              </a:ext>
            </a:extLst>
          </p:cNvPr>
          <p:cNvSpPr txBox="1"/>
          <p:nvPr/>
        </p:nvSpPr>
        <p:spPr>
          <a:xfrm>
            <a:off x="9410700" y="3550920"/>
            <a:ext cx="1295400" cy="15901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700" b="1">
                <a:solidFill>
                  <a:srgbClr val="536770"/>
                </a:solidFill>
                <a:latin typeface="Arial" panose="020B0604020202020204" pitchFamily="34" charset="0"/>
              </a:rPr>
              <a:t>compaction/cement</a:t>
            </a:r>
          </a:p>
        </p:txBody>
      </p: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89B30547-BB6B-4CD3-C416-926663A59C47}"/>
              </a:ext>
            </a:extLst>
          </p:cNvPr>
          <p:cNvSpPr/>
          <p:nvPr/>
        </p:nvSpPr>
        <p:spPr>
          <a:xfrm>
            <a:off x="10774680" y="3642360"/>
            <a:ext cx="777240" cy="228600"/>
          </a:xfrm>
          <a:prstGeom prst="roundRect">
            <a:avLst/>
          </a:prstGeom>
          <a:solidFill>
            <a:srgbClr val="E0F8FA"/>
          </a:solidFill>
          <a:ln w="10160">
            <a:solidFill>
              <a:srgbClr val="E0F8F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800" b="1">
                <a:solidFill>
                  <a:srgbClr val="10818F"/>
                </a:solidFill>
                <a:latin typeface="Arial" panose="020B0604020202020204" pitchFamily="34" charset="0"/>
              </a:rPr>
              <a:t>derived</a:t>
            </a:r>
          </a:p>
        </p:txBody>
      </p:sp>
      <p:sp>
        <p:nvSpPr>
          <p:cNvPr id="72" name="Rectangle: Rounded Corners 71">
            <a:extLst>
              <a:ext uri="{FF2B5EF4-FFF2-40B4-BE49-F238E27FC236}">
                <a16:creationId xmlns:a16="http://schemas.microsoft.com/office/drawing/2014/main" id="{B98E8C5F-4CAA-EC7C-0E63-7B59B4F5B2A7}"/>
              </a:ext>
            </a:extLst>
          </p:cNvPr>
          <p:cNvSpPr/>
          <p:nvPr/>
        </p:nvSpPr>
        <p:spPr>
          <a:xfrm>
            <a:off x="441960" y="4069080"/>
            <a:ext cx="1130808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DCF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9129BE1-7D68-0593-EC18-8FD5AC7724E3}"/>
              </a:ext>
            </a:extLst>
          </p:cNvPr>
          <p:cNvSpPr txBox="1"/>
          <p:nvPr/>
        </p:nvSpPr>
        <p:spPr>
          <a:xfrm>
            <a:off x="624840" y="4168140"/>
            <a:ext cx="1447800" cy="18979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900" b="1">
                <a:solidFill>
                  <a:srgbClr val="0F2230"/>
                </a:solidFill>
                <a:latin typeface="Arial" panose="020B0604020202020204" pitchFamily="34" charset="0"/>
              </a:rPr>
              <a:t>Caliper QC</a:t>
            </a:r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A64E12D4-204F-81A8-BFEC-B0D02EC28DFD}"/>
              </a:ext>
            </a:extLst>
          </p:cNvPr>
          <p:cNvCxnSpPr/>
          <p:nvPr/>
        </p:nvCxnSpPr>
        <p:spPr>
          <a:xfrm>
            <a:off x="2286000" y="4343400"/>
            <a:ext cx="4572000" cy="0"/>
          </a:xfrm>
          <a:prstGeom prst="straightConnector1">
            <a:avLst/>
          </a:prstGeom>
          <a:ln w="95250">
            <a:solidFill>
              <a:srgbClr val="DCEA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74C12E01-9C11-1E4B-02AB-2BB2C8A88088}"/>
              </a:ext>
            </a:extLst>
          </p:cNvPr>
          <p:cNvCxnSpPr/>
          <p:nvPr/>
        </p:nvCxnSpPr>
        <p:spPr>
          <a:xfrm>
            <a:off x="2286000" y="4343400"/>
            <a:ext cx="1143000" cy="0"/>
          </a:xfrm>
          <a:prstGeom prst="straightConnector1">
            <a:avLst/>
          </a:prstGeom>
          <a:ln w="104140">
            <a:solidFill>
              <a:srgbClr val="E0A1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Isosceles Triangle 75">
            <a:extLst>
              <a:ext uri="{FF2B5EF4-FFF2-40B4-BE49-F238E27FC236}">
                <a16:creationId xmlns:a16="http://schemas.microsoft.com/office/drawing/2014/main" id="{3B94DBFB-B9BE-ADF6-C3D8-7C2D74EF18C4}"/>
              </a:ext>
            </a:extLst>
          </p:cNvPr>
          <p:cNvSpPr/>
          <p:nvPr/>
        </p:nvSpPr>
        <p:spPr>
          <a:xfrm rot="5400000">
            <a:off x="3413760" y="4251960"/>
            <a:ext cx="182880" cy="182880"/>
          </a:xfrm>
          <a:prstGeom prst="triangle">
            <a:avLst/>
          </a:prstGeom>
          <a:solidFill>
            <a:srgbClr val="E0A12D"/>
          </a:solidFill>
          <a:ln>
            <a:solidFill>
              <a:srgbClr val="E0A12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5BC8DF68-9A00-819B-6BB9-F3BDD9BF57A0}"/>
              </a:ext>
            </a:extLst>
          </p:cNvPr>
          <p:cNvCxnSpPr/>
          <p:nvPr/>
        </p:nvCxnSpPr>
        <p:spPr>
          <a:xfrm>
            <a:off x="2286000" y="4251960"/>
            <a:ext cx="0" cy="182880"/>
          </a:xfrm>
          <a:prstGeom prst="straightConnector1">
            <a:avLst/>
          </a:prstGeom>
          <a:ln w="25400">
            <a:solidFill>
              <a:srgbClr val="E0A1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B4103FFF-B1F1-63BE-767F-DC250C3F4699}"/>
              </a:ext>
            </a:extLst>
          </p:cNvPr>
          <p:cNvSpPr txBox="1"/>
          <p:nvPr/>
        </p:nvSpPr>
        <p:spPr>
          <a:xfrm>
            <a:off x="2286000" y="4137660"/>
            <a:ext cx="1143000" cy="143629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600" b="1">
                <a:solidFill>
                  <a:srgbClr val="536770"/>
                </a:solidFill>
                <a:latin typeface="Arial" panose="020B0604020202020204" pitchFamily="34" charset="0"/>
              </a:rPr>
              <a:t>in gauge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824E335-82AA-876F-C3BD-EC951D6F546F}"/>
              </a:ext>
            </a:extLst>
          </p:cNvPr>
          <p:cNvSpPr txBox="1"/>
          <p:nvPr/>
        </p:nvSpPr>
        <p:spPr>
          <a:xfrm>
            <a:off x="5715000" y="4137660"/>
            <a:ext cx="1143000" cy="143629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r"/>
            <a:r>
              <a:rPr lang="en-US" sz="600" b="1">
                <a:solidFill>
                  <a:srgbClr val="536770"/>
                </a:solidFill>
                <a:latin typeface="Arial" panose="020B0604020202020204" pitchFamily="34" charset="0"/>
              </a:rPr>
              <a:t>washout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A904806-BF8C-9EE7-4B63-D37571F3CE17}"/>
              </a:ext>
            </a:extLst>
          </p:cNvPr>
          <p:cNvSpPr txBox="1"/>
          <p:nvPr/>
        </p:nvSpPr>
        <p:spPr>
          <a:xfrm>
            <a:off x="7056120" y="4130040"/>
            <a:ext cx="99060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E0A12D"/>
                </a:solidFill>
                <a:latin typeface="Arial" panose="020B0604020202020204" pitchFamily="34" charset="0"/>
              </a:rPr>
              <a:t>trust gate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2370B41-EF55-3093-6093-6E6DFB430A2E}"/>
              </a:ext>
            </a:extLst>
          </p:cNvPr>
          <p:cNvSpPr txBox="1"/>
          <p:nvPr/>
        </p:nvSpPr>
        <p:spPr>
          <a:xfrm>
            <a:off x="8138160" y="4130040"/>
            <a:ext cx="1219200" cy="15901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700" b="1">
                <a:solidFill>
                  <a:srgbClr val="0F2230"/>
                </a:solidFill>
                <a:latin typeface="Arial" panose="020B0604020202020204" pitchFamily="34" charset="0"/>
              </a:rPr>
              <a:t>bad hole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BEDF3B4-C01A-A3C5-796D-8B0C05FFBC06}"/>
              </a:ext>
            </a:extLst>
          </p:cNvPr>
          <p:cNvSpPr txBox="1"/>
          <p:nvPr/>
        </p:nvSpPr>
        <p:spPr>
          <a:xfrm>
            <a:off x="9410700" y="4130040"/>
            <a:ext cx="1295400" cy="15901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700" b="1">
                <a:solidFill>
                  <a:srgbClr val="536770"/>
                </a:solidFill>
                <a:latin typeface="Arial" panose="020B0604020202020204" pitchFamily="34" charset="0"/>
              </a:rPr>
              <a:t>tool standoff</a:t>
            </a:r>
          </a:p>
        </p:txBody>
      </p:sp>
      <p:sp>
        <p:nvSpPr>
          <p:cNvPr id="83" name="Rectangle: Rounded Corners 82">
            <a:extLst>
              <a:ext uri="{FF2B5EF4-FFF2-40B4-BE49-F238E27FC236}">
                <a16:creationId xmlns:a16="http://schemas.microsoft.com/office/drawing/2014/main" id="{250D06CA-DC37-E1C7-5038-F58F34313588}"/>
              </a:ext>
            </a:extLst>
          </p:cNvPr>
          <p:cNvSpPr/>
          <p:nvPr/>
        </p:nvSpPr>
        <p:spPr>
          <a:xfrm>
            <a:off x="10774680" y="4221480"/>
            <a:ext cx="777240" cy="228600"/>
          </a:xfrm>
          <a:prstGeom prst="roundRect">
            <a:avLst/>
          </a:prstGeom>
          <a:solidFill>
            <a:srgbClr val="E0F8FA"/>
          </a:solidFill>
          <a:ln w="10160">
            <a:solidFill>
              <a:srgbClr val="E0F8F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800" b="1">
                <a:solidFill>
                  <a:srgbClr val="10818F"/>
                </a:solidFill>
                <a:latin typeface="Arial" panose="020B0604020202020204" pitchFamily="34" charset="0"/>
              </a:rPr>
              <a:t>QC</a:t>
            </a:r>
          </a:p>
        </p:txBody>
      </p:sp>
      <p:sp>
        <p:nvSpPr>
          <p:cNvPr id="84" name="Rectangle: Rounded Corners 83">
            <a:extLst>
              <a:ext uri="{FF2B5EF4-FFF2-40B4-BE49-F238E27FC236}">
                <a16:creationId xmlns:a16="http://schemas.microsoft.com/office/drawing/2014/main" id="{FAC41467-7E54-C103-7AAB-4258013E90EF}"/>
              </a:ext>
            </a:extLst>
          </p:cNvPr>
          <p:cNvSpPr/>
          <p:nvPr/>
        </p:nvSpPr>
        <p:spPr>
          <a:xfrm>
            <a:off x="441960" y="4648200"/>
            <a:ext cx="1130808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DCF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2AB7CFD-CAD8-8D7E-0464-4F64233A06B4}"/>
              </a:ext>
            </a:extLst>
          </p:cNvPr>
          <p:cNvSpPr txBox="1"/>
          <p:nvPr/>
        </p:nvSpPr>
        <p:spPr>
          <a:xfrm>
            <a:off x="624840" y="4747260"/>
            <a:ext cx="1447800" cy="18979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900" b="1">
                <a:solidFill>
                  <a:srgbClr val="0F2230"/>
                </a:solidFill>
                <a:latin typeface="Arial" panose="020B0604020202020204" pitchFamily="34" charset="0"/>
              </a:rPr>
              <a:t>Stability context</a:t>
            </a: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3F162CF2-1BF7-568F-BF39-8AA7DA32EC7E}"/>
              </a:ext>
            </a:extLst>
          </p:cNvPr>
          <p:cNvCxnSpPr/>
          <p:nvPr/>
        </p:nvCxnSpPr>
        <p:spPr>
          <a:xfrm>
            <a:off x="2286000" y="4922520"/>
            <a:ext cx="4572000" cy="0"/>
          </a:xfrm>
          <a:prstGeom prst="straightConnector1">
            <a:avLst/>
          </a:prstGeom>
          <a:ln w="95250">
            <a:solidFill>
              <a:srgbClr val="DCEA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81077DD5-D1E6-9027-796F-E5F916847FCA}"/>
              </a:ext>
            </a:extLst>
          </p:cNvPr>
          <p:cNvCxnSpPr/>
          <p:nvPr/>
        </p:nvCxnSpPr>
        <p:spPr>
          <a:xfrm>
            <a:off x="5029200" y="4922520"/>
            <a:ext cx="1828800" cy="0"/>
          </a:xfrm>
          <a:prstGeom prst="straightConnector1">
            <a:avLst/>
          </a:prstGeom>
          <a:ln w="104140">
            <a:solidFill>
              <a:srgbClr val="1081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Isosceles Triangle 87">
            <a:extLst>
              <a:ext uri="{FF2B5EF4-FFF2-40B4-BE49-F238E27FC236}">
                <a16:creationId xmlns:a16="http://schemas.microsoft.com/office/drawing/2014/main" id="{5DC3FE1F-97A7-5283-25CB-770A61771B90}"/>
              </a:ext>
            </a:extLst>
          </p:cNvPr>
          <p:cNvSpPr/>
          <p:nvPr/>
        </p:nvSpPr>
        <p:spPr>
          <a:xfrm rot="5400000">
            <a:off x="6842760" y="4831080"/>
            <a:ext cx="182880" cy="182880"/>
          </a:xfrm>
          <a:prstGeom prst="triangle">
            <a:avLst/>
          </a:prstGeom>
          <a:solidFill>
            <a:srgbClr val="10818F"/>
          </a:solidFill>
          <a:ln>
            <a:solidFill>
              <a:srgbClr val="1081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65347511-A8D3-F256-7341-4A9F8C55EA68}"/>
              </a:ext>
            </a:extLst>
          </p:cNvPr>
          <p:cNvCxnSpPr/>
          <p:nvPr/>
        </p:nvCxnSpPr>
        <p:spPr>
          <a:xfrm>
            <a:off x="5029200" y="4831080"/>
            <a:ext cx="0" cy="182880"/>
          </a:xfrm>
          <a:prstGeom prst="straightConnector1">
            <a:avLst/>
          </a:prstGeom>
          <a:ln w="25400">
            <a:solidFill>
              <a:srgbClr val="1081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96D3CC14-AEFA-291B-908E-B13F329FC161}"/>
              </a:ext>
            </a:extLst>
          </p:cNvPr>
          <p:cNvSpPr txBox="1"/>
          <p:nvPr/>
        </p:nvSpPr>
        <p:spPr>
          <a:xfrm>
            <a:off x="2286000" y="4716780"/>
            <a:ext cx="1143000" cy="143629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600" b="1">
                <a:solidFill>
                  <a:srgbClr val="536770"/>
                </a:solidFill>
                <a:latin typeface="Arial" panose="020B0604020202020204" pitchFamily="34" charset="0"/>
              </a:rPr>
              <a:t>outside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AC88D04-F034-C35D-360F-D550B1482F7D}"/>
              </a:ext>
            </a:extLst>
          </p:cNvPr>
          <p:cNvSpPr txBox="1"/>
          <p:nvPr/>
        </p:nvSpPr>
        <p:spPr>
          <a:xfrm>
            <a:off x="5715000" y="4716780"/>
            <a:ext cx="1143000" cy="143629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r"/>
            <a:r>
              <a:rPr lang="en-US" sz="600" b="1">
                <a:solidFill>
                  <a:srgbClr val="536770"/>
                </a:solidFill>
                <a:latin typeface="Arial" panose="020B0604020202020204" pitchFamily="34" charset="0"/>
              </a:rPr>
              <a:t>inside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A859BC77-4BE2-12BD-EBA4-CC272CE969A0}"/>
              </a:ext>
            </a:extLst>
          </p:cNvPr>
          <p:cNvSpPr txBox="1"/>
          <p:nvPr/>
        </p:nvSpPr>
        <p:spPr>
          <a:xfrm>
            <a:off x="7056120" y="4709160"/>
            <a:ext cx="99060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10818F"/>
                </a:solidFill>
                <a:latin typeface="Arial" panose="020B0604020202020204" pitchFamily="34" charset="0"/>
              </a:rPr>
              <a:t>admissible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40EE669-FAD8-A3A9-162B-F46B3BBF6E4A}"/>
              </a:ext>
            </a:extLst>
          </p:cNvPr>
          <p:cNvSpPr txBox="1"/>
          <p:nvPr/>
        </p:nvSpPr>
        <p:spPr>
          <a:xfrm>
            <a:off x="8138160" y="4709160"/>
            <a:ext cx="1219200" cy="15901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700" b="1">
                <a:solidFill>
                  <a:srgbClr val="0F2230"/>
                </a:solidFill>
                <a:latin typeface="Arial" panose="020B0604020202020204" pitchFamily="34" charset="0"/>
              </a:rPr>
              <a:t>unstable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AAE45D2-CE23-88AA-BFE7-E0364F840093}"/>
              </a:ext>
            </a:extLst>
          </p:cNvPr>
          <p:cNvSpPr txBox="1"/>
          <p:nvPr/>
        </p:nvSpPr>
        <p:spPr>
          <a:xfrm>
            <a:off x="9410700" y="4709160"/>
            <a:ext cx="1295400" cy="15901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700" b="1">
                <a:solidFill>
                  <a:srgbClr val="536770"/>
                </a:solidFill>
                <a:latin typeface="Arial" panose="020B0604020202020204" pitchFamily="34" charset="0"/>
              </a:rPr>
              <a:t>gas/depth/temp</a:t>
            </a:r>
          </a:p>
        </p:txBody>
      </p:sp>
      <p:sp>
        <p:nvSpPr>
          <p:cNvPr id="95" name="Rectangle: Rounded Corners 94">
            <a:extLst>
              <a:ext uri="{FF2B5EF4-FFF2-40B4-BE49-F238E27FC236}">
                <a16:creationId xmlns:a16="http://schemas.microsoft.com/office/drawing/2014/main" id="{F06CB257-0B3C-062C-9A25-049B6978AA95}"/>
              </a:ext>
            </a:extLst>
          </p:cNvPr>
          <p:cNvSpPr/>
          <p:nvPr/>
        </p:nvSpPr>
        <p:spPr>
          <a:xfrm>
            <a:off x="10774680" y="4800600"/>
            <a:ext cx="777240" cy="228600"/>
          </a:xfrm>
          <a:prstGeom prst="roundRect">
            <a:avLst/>
          </a:prstGeom>
          <a:solidFill>
            <a:srgbClr val="E0F8FA"/>
          </a:solidFill>
          <a:ln w="10160">
            <a:solidFill>
              <a:srgbClr val="E0F8F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800" b="1">
                <a:solidFill>
                  <a:srgbClr val="10818F"/>
                </a:solidFill>
                <a:latin typeface="Arial" panose="020B0604020202020204" pitchFamily="34" charset="0"/>
              </a:rPr>
              <a:t>context</a:t>
            </a:r>
          </a:p>
        </p:txBody>
      </p: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8A90C64D-B5D2-3EBF-9964-332361740FF6}"/>
              </a:ext>
            </a:extLst>
          </p:cNvPr>
          <p:cNvSpPr/>
          <p:nvPr/>
        </p:nvSpPr>
        <p:spPr>
          <a:xfrm>
            <a:off x="441960" y="5227320"/>
            <a:ext cx="11308080" cy="533400"/>
          </a:xfrm>
          <a:prstGeom prst="roundRect">
            <a:avLst/>
          </a:prstGeom>
          <a:solidFill>
            <a:srgbClr val="FFEFEF"/>
          </a:solidFill>
          <a:ln w="12700">
            <a:solidFill>
              <a:srgbClr val="D937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1B7AFC53-B796-1B08-C79E-F51329E0293E}"/>
              </a:ext>
            </a:extLst>
          </p:cNvPr>
          <p:cNvSpPr txBox="1"/>
          <p:nvPr/>
        </p:nvSpPr>
        <p:spPr>
          <a:xfrm>
            <a:off x="624840" y="5326380"/>
            <a:ext cx="1447800" cy="18979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900" b="1">
                <a:solidFill>
                  <a:srgbClr val="D9373A"/>
                </a:solidFill>
                <a:latin typeface="Arial" panose="020B0604020202020204" pitchFamily="34" charset="0"/>
              </a:rPr>
              <a:t>Occurrence / saturation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7440DD52-D25F-02D9-5BE2-D2C49DE789A6}"/>
              </a:ext>
            </a:extLst>
          </p:cNvPr>
          <p:cNvSpPr txBox="1"/>
          <p:nvPr/>
        </p:nvSpPr>
        <p:spPr>
          <a:xfrm>
            <a:off x="2270760" y="5341620"/>
            <a:ext cx="1447800" cy="18979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900" b="1">
                <a:solidFill>
                  <a:srgbClr val="D9373A"/>
                </a:solidFill>
                <a:latin typeface="Arial" panose="020B0604020202020204" pitchFamily="34" charset="0"/>
              </a:rPr>
              <a:t>Y-only target rail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6147500-9BDB-5B99-8C6F-E85B4F90EB7A}"/>
              </a:ext>
            </a:extLst>
          </p:cNvPr>
          <p:cNvSpPr txBox="1"/>
          <p:nvPr/>
        </p:nvSpPr>
        <p:spPr>
          <a:xfrm>
            <a:off x="3962400" y="5341620"/>
            <a:ext cx="4648200" cy="18979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900" b="1">
                <a:solidFill>
                  <a:srgbClr val="0F2230"/>
                </a:solidFill>
                <a:latin typeface="Arial" panose="020B0604020202020204" pitchFamily="34" charset="0"/>
              </a:rPr>
              <a:t>Labels supervise training and validation, but never enter X_allowed.</a:t>
            </a:r>
          </a:p>
        </p:txBody>
      </p:sp>
      <p:sp>
        <p:nvSpPr>
          <p:cNvPr id="100" name="Rectangle: Rounded Corners 99">
            <a:extLst>
              <a:ext uri="{FF2B5EF4-FFF2-40B4-BE49-F238E27FC236}">
                <a16:creationId xmlns:a16="http://schemas.microsoft.com/office/drawing/2014/main" id="{3DFC8867-14A0-42AB-C30C-B67FE03A3A4E}"/>
              </a:ext>
            </a:extLst>
          </p:cNvPr>
          <p:cNvSpPr/>
          <p:nvPr/>
        </p:nvSpPr>
        <p:spPr>
          <a:xfrm>
            <a:off x="9601200" y="5364480"/>
            <a:ext cx="1790700" cy="228600"/>
          </a:xfrm>
          <a:prstGeom prst="roundRect">
            <a:avLst/>
          </a:prstGeom>
          <a:solidFill>
            <a:srgbClr val="FFEFEF"/>
          </a:solidFill>
          <a:ln w="10160">
            <a:solidFill>
              <a:srgbClr val="FFEF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800" b="1">
                <a:solidFill>
                  <a:srgbClr val="D9373A"/>
                </a:solidFill>
                <a:latin typeface="Arial" panose="020B0604020202020204" pitchFamily="34" charset="0"/>
              </a:rPr>
              <a:t>Y-only</a:t>
            </a:r>
          </a:p>
        </p:txBody>
      </p: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F2A0B79B-5F83-F2F6-83D6-17BDA31F740F}"/>
              </a:ext>
            </a:extLst>
          </p:cNvPr>
          <p:cNvCxnSpPr/>
          <p:nvPr/>
        </p:nvCxnSpPr>
        <p:spPr>
          <a:xfrm>
            <a:off x="411480" y="6416040"/>
            <a:ext cx="11369040" cy="0"/>
          </a:xfrm>
          <a:prstGeom prst="straightConnector1">
            <a:avLst/>
          </a:prstGeom>
          <a:ln w="12700">
            <a:solidFill>
              <a:srgbClr val="ADCF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9A02FBD1-FCD6-1C9A-0D87-0E99E993234E}"/>
              </a:ext>
            </a:extLst>
          </p:cNvPr>
          <p:cNvSpPr txBox="1"/>
          <p:nvPr/>
        </p:nvSpPr>
        <p:spPr>
          <a:xfrm>
            <a:off x="441960" y="6477000"/>
            <a:ext cx="10820400" cy="15901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700">
                <a:solidFill>
                  <a:srgbClr val="536770"/>
                </a:solidFill>
                <a:latin typeface="Arial" panose="020B0604020202020204" pitchFamily="34" charset="0"/>
              </a:rPr>
              <a:t>Source: data/public_ml_products/public_parameter_evidence_registry_2026-06-16.csv. Ranges are working envelopes unless source-locked; none prove hydrate.</a:t>
            </a:r>
          </a:p>
        </p:txBody>
      </p:sp>
    </p:spTree>
    <p:extLst>
      <p:ext uri="{BB962C8B-B14F-4D97-AF65-F5344CB8AC3E}">
        <p14:creationId xmlns:p14="http://schemas.microsoft.com/office/powerpoint/2010/main" val="14433833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5C09AE5-AEBA-CEEC-4515-AC2692E9960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2E5D6E3-D9CD-C64A-DC6B-AF2A871B42C7}"/>
              </a:ext>
            </a:extLst>
          </p:cNvPr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0818F"/>
          </a:solidFill>
          <a:ln w="6350">
            <a:solidFill>
              <a:srgbClr val="1081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40B69C-F634-9959-46BC-C1979A1D061C}"/>
              </a:ext>
            </a:extLst>
          </p:cNvPr>
          <p:cNvSpPr txBox="1"/>
          <p:nvPr/>
        </p:nvSpPr>
        <p:spPr>
          <a:xfrm>
            <a:off x="457200" y="289560"/>
            <a:ext cx="8991600" cy="389850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2200" b="1">
                <a:solidFill>
                  <a:srgbClr val="0F2230"/>
                </a:solidFill>
                <a:latin typeface="Arial" panose="020B0604020202020204" pitchFamily="34" charset="0"/>
              </a:rPr>
              <a:t>Full Complex Project Workflow V5.5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637AF6-63AD-518A-83B6-6FE67E3E3F6F}"/>
              </a:ext>
            </a:extLst>
          </p:cNvPr>
          <p:cNvSpPr txBox="1"/>
          <p:nvPr/>
        </p:nvSpPr>
        <p:spPr>
          <a:xfrm>
            <a:off x="480060" y="693420"/>
            <a:ext cx="10591800" cy="20518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1000">
                <a:solidFill>
                  <a:srgbClr val="536770"/>
                </a:solidFill>
                <a:latin typeface="Arial" panose="020B0604020202020204" pitchFamily="34" charset="0"/>
              </a:rPr>
              <a:t>The complete architecture stays in the main sequence: public sources, approved runtime later, stability context, feature engineering, target rail, split controls, validation, and exports.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1A0477E-1956-0874-159E-2448630D6C25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01040"/>
            <a:ext cx="12192000" cy="57150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478C0C9-FFCA-1168-3626-E63864014455}"/>
              </a:ext>
            </a:extLst>
          </p:cNvPr>
          <p:cNvCxnSpPr/>
          <p:nvPr/>
        </p:nvCxnSpPr>
        <p:spPr>
          <a:xfrm>
            <a:off x="411480" y="6416040"/>
            <a:ext cx="11369040" cy="0"/>
          </a:xfrm>
          <a:prstGeom prst="straightConnector1">
            <a:avLst/>
          </a:prstGeom>
          <a:ln w="12700">
            <a:solidFill>
              <a:srgbClr val="ADCF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B0183A9-C6AE-9E76-C906-738AB396525B}"/>
              </a:ext>
            </a:extLst>
          </p:cNvPr>
          <p:cNvSpPr txBox="1"/>
          <p:nvPr/>
        </p:nvSpPr>
        <p:spPr>
          <a:xfrm>
            <a:off x="441960" y="6477000"/>
            <a:ext cx="10820400" cy="15901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700">
                <a:solidFill>
                  <a:srgbClr val="536770"/>
                </a:solidFill>
                <a:latin typeface="Arial" panose="020B0604020202020204" pitchFamily="34" charset="0"/>
              </a:rPr>
              <a:t>Expanded architecture reference inside the deck: slides 5, 6, 8, and 9 provide readable zoom explanations.</a:t>
            </a:r>
          </a:p>
        </p:txBody>
      </p:sp>
    </p:spTree>
    <p:extLst>
      <p:ext uri="{BB962C8B-B14F-4D97-AF65-F5344CB8AC3E}">
        <p14:creationId xmlns:p14="http://schemas.microsoft.com/office/powerpoint/2010/main" val="4196123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B3339FF-EE0F-5CFB-F893-528C49C9D0D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E33EFBB-7E73-7977-242B-4B316DCB3FD5}"/>
              </a:ext>
            </a:extLst>
          </p:cNvPr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0818F"/>
          </a:solidFill>
          <a:ln w="6350">
            <a:solidFill>
              <a:srgbClr val="1081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CC1007-BE37-015F-AA6B-1A36290D82D5}"/>
              </a:ext>
            </a:extLst>
          </p:cNvPr>
          <p:cNvSpPr txBox="1"/>
          <p:nvPr/>
        </p:nvSpPr>
        <p:spPr>
          <a:xfrm>
            <a:off x="457200" y="289560"/>
            <a:ext cx="8991600" cy="389850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2200" b="1">
                <a:solidFill>
                  <a:srgbClr val="0F2230"/>
                </a:solidFill>
                <a:latin typeface="Arial" panose="020B0604020202020204" pitchFamily="34" charset="0"/>
              </a:rPr>
              <a:t>Equation Checks For The Four-Well Workflow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F9F639-E447-3AA7-8DDF-9EF4D7745278}"/>
              </a:ext>
            </a:extLst>
          </p:cNvPr>
          <p:cNvSpPr txBox="1"/>
          <p:nvPr/>
        </p:nvSpPr>
        <p:spPr>
          <a:xfrm>
            <a:off x="480060" y="693420"/>
            <a:ext cx="10591800" cy="20518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1000">
                <a:solidFill>
                  <a:srgbClr val="536770"/>
                </a:solidFill>
                <a:latin typeface="Arial" panose="020B0604020202020204" pitchFamily="34" charset="0"/>
              </a:rPr>
              <a:t>Measured curves, core calibration, and stability context are converted into review features. These equations are not final hydrate results.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82CC7DC-7DAF-74F9-B3E0-7922C38AB89C}"/>
              </a:ext>
            </a:extLst>
          </p:cNvPr>
          <p:cNvSpPr/>
          <p:nvPr/>
        </p:nvSpPr>
        <p:spPr>
          <a:xfrm>
            <a:off x="7620000" y="388620"/>
            <a:ext cx="952500" cy="2514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800" b="1">
                <a:solidFill>
                  <a:srgbClr val="239E70"/>
                </a:solidFill>
                <a:latin typeface="Arial" panose="020B0604020202020204" pitchFamily="34" charset="0"/>
              </a:rPr>
              <a:t>log input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488532F-598B-B653-31DD-3C66CC2203F1}"/>
              </a:ext>
            </a:extLst>
          </p:cNvPr>
          <p:cNvSpPr/>
          <p:nvPr/>
        </p:nvSpPr>
        <p:spPr>
          <a:xfrm>
            <a:off x="8724900" y="388620"/>
            <a:ext cx="922020" cy="2514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800" b="1">
                <a:solidFill>
                  <a:srgbClr val="E0A12D"/>
                </a:solidFill>
                <a:latin typeface="Arial" panose="020B0604020202020204" pitchFamily="34" charset="0"/>
              </a:rPr>
              <a:t>core or lab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F129624-B5C5-F73B-7E3B-3C5C9121CCE2}"/>
              </a:ext>
            </a:extLst>
          </p:cNvPr>
          <p:cNvSpPr/>
          <p:nvPr/>
        </p:nvSpPr>
        <p:spPr>
          <a:xfrm>
            <a:off x="9791700" y="388620"/>
            <a:ext cx="937260" cy="2514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800" b="1">
                <a:solidFill>
                  <a:srgbClr val="3786CF"/>
                </a:solidFill>
                <a:latin typeface="Arial" panose="020B0604020202020204" pitchFamily="34" charset="0"/>
              </a:rPr>
              <a:t>stability context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70CDBF3-8CE5-6814-2B62-EB3FE908CCBC}"/>
              </a:ext>
            </a:extLst>
          </p:cNvPr>
          <p:cNvSpPr/>
          <p:nvPr/>
        </p:nvSpPr>
        <p:spPr>
          <a:xfrm>
            <a:off x="10873740" y="388620"/>
            <a:ext cx="937260" cy="2514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800" b="1">
                <a:solidFill>
                  <a:srgbClr val="705FC3"/>
                </a:solidFill>
                <a:latin typeface="Arial" panose="020B0604020202020204" pitchFamily="34" charset="0"/>
              </a:rPr>
              <a:t>derived check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C03956E-E71B-0125-7092-084A061F6327}"/>
              </a:ext>
            </a:extLst>
          </p:cNvPr>
          <p:cNvSpPr/>
          <p:nvPr/>
        </p:nvSpPr>
        <p:spPr>
          <a:xfrm>
            <a:off x="457200" y="1104900"/>
            <a:ext cx="3665220" cy="1988820"/>
          </a:xfrm>
          <a:prstGeom prst="roundRect">
            <a:avLst/>
          </a:prstGeom>
          <a:solidFill>
            <a:srgbClr val="F8FCFD"/>
          </a:solidFill>
          <a:ln w="15240">
            <a:solidFill>
              <a:srgbClr val="3786C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A7949F9-92D6-D9B2-B7A7-BF1E87B895A5}"/>
              </a:ext>
            </a:extLst>
          </p:cNvPr>
          <p:cNvSpPr/>
          <p:nvPr/>
        </p:nvSpPr>
        <p:spPr>
          <a:xfrm>
            <a:off x="457200" y="1104900"/>
            <a:ext cx="3665220" cy="320040"/>
          </a:xfrm>
          <a:prstGeom prst="rect">
            <a:avLst/>
          </a:prstGeom>
          <a:solidFill>
            <a:srgbClr val="3786CF"/>
          </a:solidFill>
          <a:ln w="6350">
            <a:solidFill>
              <a:srgbClr val="3786C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F2CA119-C980-7C3C-36D9-B230D1ABC397}"/>
              </a:ext>
            </a:extLst>
          </p:cNvPr>
          <p:cNvSpPr txBox="1"/>
          <p:nvPr/>
        </p:nvSpPr>
        <p:spPr>
          <a:xfrm>
            <a:off x="594360" y="1196340"/>
            <a:ext cx="3314700" cy="18979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900" b="1">
                <a:solidFill>
                  <a:srgbClr val="FFFFFF"/>
                </a:solidFill>
                <a:latin typeface="Arial" panose="020B0604020202020204" pitchFamily="34" charset="0"/>
              </a:rPr>
              <a:t>Hydrostatic pressure-depth relation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2D7439-2D3C-AB2F-F816-3C315D20733A}"/>
              </a:ext>
            </a:extLst>
          </p:cNvPr>
          <p:cNvSpPr txBox="1"/>
          <p:nvPr/>
        </p:nvSpPr>
        <p:spPr>
          <a:xfrm>
            <a:off x="693420" y="1645920"/>
            <a:ext cx="3162300" cy="666849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pl-PL" sz="2000" b="1">
                <a:solidFill>
                  <a:srgbClr val="0F2230"/>
                </a:solidFill>
                <a:latin typeface="Arial" panose="020B0604020202020204" pitchFamily="34" charset="0"/>
              </a:rPr>
              <a:t>P_abs(z) = P0 +  rho_w * g * z</a:t>
            </a:r>
            <a:endParaRPr lang="en-US" sz="2000" b="1">
              <a:solidFill>
                <a:srgbClr val="0F2230"/>
              </a:solidFill>
              <a:latin typeface="Arial" panose="020B0604020202020204" pitchFamily="34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C9CF9D6-840E-BA8C-7454-2A802153E1BA}"/>
              </a:ext>
            </a:extLst>
          </p:cNvPr>
          <p:cNvCxnSpPr/>
          <p:nvPr/>
        </p:nvCxnSpPr>
        <p:spPr>
          <a:xfrm>
            <a:off x="2514600" y="1882140"/>
            <a:ext cx="1348740" cy="0"/>
          </a:xfrm>
          <a:prstGeom prst="straightConnector1">
            <a:avLst/>
          </a:prstGeom>
          <a:ln w="22860">
            <a:solidFill>
              <a:srgbClr val="0F22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B25E2DF-53E6-DCEE-B25D-444AC5A411D6}"/>
              </a:ext>
            </a:extLst>
          </p:cNvPr>
          <p:cNvSpPr txBox="1"/>
          <p:nvPr/>
        </p:nvSpPr>
        <p:spPr>
          <a:xfrm>
            <a:off x="2720340" y="1981200"/>
            <a:ext cx="838200" cy="543739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1600" b="1">
                <a:solidFill>
                  <a:srgbClr val="0F2230"/>
                </a:solidFill>
                <a:latin typeface="Arial" panose="020B0604020202020204" pitchFamily="34" charset="0"/>
              </a:rPr>
              <a:t>1,000,000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77D0253-6274-73E2-B1C9-3D9EE8E690CA}"/>
              </a:ext>
            </a:extLst>
          </p:cNvPr>
          <p:cNvSpPr txBox="1"/>
          <p:nvPr/>
        </p:nvSpPr>
        <p:spPr>
          <a:xfrm>
            <a:off x="701040" y="2346960"/>
            <a:ext cx="54864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P_abs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51CA7A7-742E-732E-9ACC-F57E7260146F}"/>
              </a:ext>
            </a:extLst>
          </p:cNvPr>
          <p:cNvCxnSpPr/>
          <p:nvPr/>
        </p:nvCxnSpPr>
        <p:spPr>
          <a:xfrm>
            <a:off x="762000" y="2514600"/>
            <a:ext cx="426720" cy="0"/>
          </a:xfrm>
          <a:prstGeom prst="straightConnector1">
            <a:avLst/>
          </a:prstGeom>
          <a:ln w="26670">
            <a:solidFill>
              <a:srgbClr val="378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7F496043-AC4D-F690-E98E-9CEFE419A217}"/>
              </a:ext>
            </a:extLst>
          </p:cNvPr>
          <p:cNvSpPr txBox="1"/>
          <p:nvPr/>
        </p:nvSpPr>
        <p:spPr>
          <a:xfrm>
            <a:off x="701040" y="2545080"/>
            <a:ext cx="548640" cy="23596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600">
                <a:solidFill>
                  <a:srgbClr val="536770"/>
                </a:solidFill>
                <a:latin typeface="Arial" panose="020B0604020202020204" pitchFamily="34" charset="0"/>
              </a:rPr>
              <a:t>absolute
pressure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4793014-60F4-08B8-EEDA-D22E7721087D}"/>
              </a:ext>
            </a:extLst>
          </p:cNvPr>
          <p:cNvSpPr txBox="1"/>
          <p:nvPr/>
        </p:nvSpPr>
        <p:spPr>
          <a:xfrm>
            <a:off x="1249680" y="2346960"/>
            <a:ext cx="41910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P0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B38C139-6AC9-074C-5917-1C2D9A5BBCFF}"/>
              </a:ext>
            </a:extLst>
          </p:cNvPr>
          <p:cNvCxnSpPr/>
          <p:nvPr/>
        </p:nvCxnSpPr>
        <p:spPr>
          <a:xfrm>
            <a:off x="1310640" y="2514600"/>
            <a:ext cx="297180" cy="0"/>
          </a:xfrm>
          <a:prstGeom prst="straightConnector1">
            <a:avLst/>
          </a:prstGeom>
          <a:ln w="26670">
            <a:solidFill>
              <a:srgbClr val="378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16EDCB89-82DC-C66D-F169-81D57A01ACA0}"/>
              </a:ext>
            </a:extLst>
          </p:cNvPr>
          <p:cNvSpPr txBox="1"/>
          <p:nvPr/>
        </p:nvSpPr>
        <p:spPr>
          <a:xfrm>
            <a:off x="1249680" y="2545080"/>
            <a:ext cx="419100" cy="23596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600">
                <a:solidFill>
                  <a:srgbClr val="536770"/>
                </a:solidFill>
                <a:latin typeface="Arial" panose="020B0604020202020204" pitchFamily="34" charset="0"/>
              </a:rPr>
              <a:t>surface
pressure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39B7777-C3F8-73D1-C542-D57E0ACB56DE}"/>
              </a:ext>
            </a:extLst>
          </p:cNvPr>
          <p:cNvSpPr txBox="1"/>
          <p:nvPr/>
        </p:nvSpPr>
        <p:spPr>
          <a:xfrm>
            <a:off x="1805940" y="2346960"/>
            <a:ext cx="47244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rho_w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909ABF8-D236-53CA-A50B-DB5A95614229}"/>
              </a:ext>
            </a:extLst>
          </p:cNvPr>
          <p:cNvCxnSpPr/>
          <p:nvPr/>
        </p:nvCxnSpPr>
        <p:spPr>
          <a:xfrm>
            <a:off x="1866900" y="2514600"/>
            <a:ext cx="350520" cy="0"/>
          </a:xfrm>
          <a:prstGeom prst="straightConnector1">
            <a:avLst/>
          </a:prstGeom>
          <a:ln w="26670">
            <a:solidFill>
              <a:srgbClr val="378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2E2081B1-7692-14AE-5D09-27F06A2A9FA0}"/>
              </a:ext>
            </a:extLst>
          </p:cNvPr>
          <p:cNvSpPr txBox="1"/>
          <p:nvPr/>
        </p:nvSpPr>
        <p:spPr>
          <a:xfrm>
            <a:off x="1805940" y="2545080"/>
            <a:ext cx="472440" cy="23596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600">
                <a:solidFill>
                  <a:srgbClr val="536770"/>
                </a:solidFill>
                <a:latin typeface="Arial" panose="020B0604020202020204" pitchFamily="34" charset="0"/>
              </a:rPr>
              <a:t>pore-fluid
density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D365772-F4B3-BD2E-D7B9-8575F11D7395}"/>
              </a:ext>
            </a:extLst>
          </p:cNvPr>
          <p:cNvSpPr txBox="1"/>
          <p:nvPr/>
        </p:nvSpPr>
        <p:spPr>
          <a:xfrm>
            <a:off x="2354580" y="2346960"/>
            <a:ext cx="45720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g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C0FFEC1-9CDA-A136-9F90-4D33E085210D}"/>
              </a:ext>
            </a:extLst>
          </p:cNvPr>
          <p:cNvCxnSpPr/>
          <p:nvPr/>
        </p:nvCxnSpPr>
        <p:spPr>
          <a:xfrm>
            <a:off x="2415540" y="2514600"/>
            <a:ext cx="335280" cy="0"/>
          </a:xfrm>
          <a:prstGeom prst="straightConnector1">
            <a:avLst/>
          </a:prstGeom>
          <a:ln w="26670">
            <a:solidFill>
              <a:srgbClr val="378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D51A382A-C0DA-C30B-30B3-6D7233B49AFF}"/>
              </a:ext>
            </a:extLst>
          </p:cNvPr>
          <p:cNvSpPr txBox="1"/>
          <p:nvPr/>
        </p:nvSpPr>
        <p:spPr>
          <a:xfrm>
            <a:off x="2354580" y="2545080"/>
            <a:ext cx="457200" cy="143629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600">
                <a:solidFill>
                  <a:srgbClr val="536770"/>
                </a:solidFill>
                <a:latin typeface="Arial" panose="020B0604020202020204" pitchFamily="34" charset="0"/>
              </a:rPr>
              <a:t>gravity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88009FD-3512-FE2A-4356-1A6B5D0EAC23}"/>
              </a:ext>
            </a:extLst>
          </p:cNvPr>
          <p:cNvSpPr txBox="1"/>
          <p:nvPr/>
        </p:nvSpPr>
        <p:spPr>
          <a:xfrm>
            <a:off x="2895600" y="2346960"/>
            <a:ext cx="44196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z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1ADC155-8095-FC78-5B60-6E7686B4DF0C}"/>
              </a:ext>
            </a:extLst>
          </p:cNvPr>
          <p:cNvCxnSpPr/>
          <p:nvPr/>
        </p:nvCxnSpPr>
        <p:spPr>
          <a:xfrm>
            <a:off x="2956560" y="2514600"/>
            <a:ext cx="320040" cy="0"/>
          </a:xfrm>
          <a:prstGeom prst="straightConnector1">
            <a:avLst/>
          </a:prstGeom>
          <a:ln w="26670">
            <a:solidFill>
              <a:srgbClr val="378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1EA133D7-C407-58CF-689A-F0F34165CCB8}"/>
              </a:ext>
            </a:extLst>
          </p:cNvPr>
          <p:cNvSpPr txBox="1"/>
          <p:nvPr/>
        </p:nvSpPr>
        <p:spPr>
          <a:xfrm>
            <a:off x="2895600" y="2545080"/>
            <a:ext cx="441960" cy="143629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600">
                <a:solidFill>
                  <a:srgbClr val="536770"/>
                </a:solidFill>
                <a:latin typeface="Arial" panose="020B0604020202020204" pitchFamily="34" charset="0"/>
              </a:rPr>
              <a:t>depth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A43B74E-A302-18BB-1631-49F0E649FA61}"/>
              </a:ext>
            </a:extLst>
          </p:cNvPr>
          <p:cNvSpPr txBox="1"/>
          <p:nvPr/>
        </p:nvSpPr>
        <p:spPr>
          <a:xfrm>
            <a:off x="3444240" y="2346960"/>
            <a:ext cx="44196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10^6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5A98FE8-F424-5F4A-4948-403199E0E291}"/>
              </a:ext>
            </a:extLst>
          </p:cNvPr>
          <p:cNvCxnSpPr/>
          <p:nvPr/>
        </p:nvCxnSpPr>
        <p:spPr>
          <a:xfrm>
            <a:off x="3505200" y="2514600"/>
            <a:ext cx="320040" cy="0"/>
          </a:xfrm>
          <a:prstGeom prst="straightConnector1">
            <a:avLst/>
          </a:prstGeom>
          <a:ln w="26670">
            <a:solidFill>
              <a:srgbClr val="705F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7B8B8B6-D3BB-A527-7A37-2E100923E46B}"/>
              </a:ext>
            </a:extLst>
          </p:cNvPr>
          <p:cNvSpPr txBox="1"/>
          <p:nvPr/>
        </p:nvSpPr>
        <p:spPr>
          <a:xfrm>
            <a:off x="3444240" y="2545080"/>
            <a:ext cx="441960" cy="23596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600">
                <a:solidFill>
                  <a:srgbClr val="536770"/>
                </a:solidFill>
                <a:latin typeface="Arial" panose="020B0604020202020204" pitchFamily="34" charset="0"/>
              </a:rPr>
              <a:t>Pa to MPa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BE0FD12-5D63-57B5-B313-888FCA5C35ED}"/>
              </a:ext>
            </a:extLst>
          </p:cNvPr>
          <p:cNvSpPr txBox="1"/>
          <p:nvPr/>
        </p:nvSpPr>
        <p:spPr>
          <a:xfrm>
            <a:off x="883920" y="2743200"/>
            <a:ext cx="266700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Converts depth to pressure for phase-boundary comparison; not measured reservoir pressure.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CE48DF38-6009-6925-A3DF-D35F28ECC69E}"/>
              </a:ext>
            </a:extLst>
          </p:cNvPr>
          <p:cNvSpPr/>
          <p:nvPr/>
        </p:nvSpPr>
        <p:spPr>
          <a:xfrm>
            <a:off x="4343400" y="1104900"/>
            <a:ext cx="3398520" cy="1988820"/>
          </a:xfrm>
          <a:prstGeom prst="roundRect">
            <a:avLst/>
          </a:prstGeom>
          <a:solidFill>
            <a:srgbClr val="F8FCFD"/>
          </a:solidFill>
          <a:ln w="15240">
            <a:solidFill>
              <a:srgbClr val="239E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EA34EBA-991D-9E71-D2A9-98F796B96DE2}"/>
              </a:ext>
            </a:extLst>
          </p:cNvPr>
          <p:cNvSpPr/>
          <p:nvPr/>
        </p:nvSpPr>
        <p:spPr>
          <a:xfrm>
            <a:off x="4343400" y="1104900"/>
            <a:ext cx="3398520" cy="320040"/>
          </a:xfrm>
          <a:prstGeom prst="rect">
            <a:avLst/>
          </a:prstGeom>
          <a:solidFill>
            <a:srgbClr val="239E70"/>
          </a:solidFill>
          <a:ln w="6350">
            <a:solidFill>
              <a:srgbClr val="239E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51BEFB0-B741-D744-15EE-C4D4271417D7}"/>
              </a:ext>
            </a:extLst>
          </p:cNvPr>
          <p:cNvSpPr txBox="1"/>
          <p:nvPr/>
        </p:nvSpPr>
        <p:spPr>
          <a:xfrm>
            <a:off x="4480560" y="1196340"/>
            <a:ext cx="1981200" cy="18979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900" b="1">
                <a:solidFill>
                  <a:srgbClr val="FFFFFF"/>
                </a:solidFill>
                <a:latin typeface="Arial" panose="020B0604020202020204" pitchFamily="34" charset="0"/>
              </a:rPr>
              <a:t>Velocity ratio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CEE9B0D-AC29-8190-3C8E-7C53DE3E38C8}"/>
              </a:ext>
            </a:extLst>
          </p:cNvPr>
          <p:cNvSpPr txBox="1"/>
          <p:nvPr/>
        </p:nvSpPr>
        <p:spPr>
          <a:xfrm>
            <a:off x="5006340" y="1813560"/>
            <a:ext cx="838200" cy="374461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2100" b="1">
                <a:solidFill>
                  <a:srgbClr val="0F2230"/>
                </a:solidFill>
                <a:latin typeface="Arial" panose="020B0604020202020204" pitchFamily="34" charset="0"/>
              </a:rPr>
              <a:t>R_v =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990131F-6C4D-94A3-5BF9-A0A7AA072E97}"/>
              </a:ext>
            </a:extLst>
          </p:cNvPr>
          <p:cNvSpPr txBox="1"/>
          <p:nvPr/>
        </p:nvSpPr>
        <p:spPr>
          <a:xfrm>
            <a:off x="5905500" y="1630680"/>
            <a:ext cx="838200" cy="359073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2000" b="1">
                <a:solidFill>
                  <a:srgbClr val="0F2230"/>
                </a:solidFill>
                <a:latin typeface="Arial" panose="020B0604020202020204" pitchFamily="34" charset="0"/>
              </a:rPr>
              <a:t>V_p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B830BE74-7650-35AD-4001-CBC990F8FF40}"/>
              </a:ext>
            </a:extLst>
          </p:cNvPr>
          <p:cNvCxnSpPr/>
          <p:nvPr/>
        </p:nvCxnSpPr>
        <p:spPr>
          <a:xfrm>
            <a:off x="6019800" y="1935480"/>
            <a:ext cx="693420" cy="0"/>
          </a:xfrm>
          <a:prstGeom prst="straightConnector1">
            <a:avLst/>
          </a:prstGeom>
          <a:ln w="22860">
            <a:solidFill>
              <a:srgbClr val="0F22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E85E78AA-0C35-E261-0F1C-292F2B35693B}"/>
              </a:ext>
            </a:extLst>
          </p:cNvPr>
          <p:cNvSpPr txBox="1"/>
          <p:nvPr/>
        </p:nvSpPr>
        <p:spPr>
          <a:xfrm>
            <a:off x="5905500" y="1981200"/>
            <a:ext cx="838200" cy="359073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2000" b="1">
                <a:solidFill>
                  <a:srgbClr val="0F2230"/>
                </a:solidFill>
                <a:latin typeface="Arial" panose="020B0604020202020204" pitchFamily="34" charset="0"/>
              </a:rPr>
              <a:t>V_s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01EC991-85F4-49C1-CDD2-5283F8ABD852}"/>
              </a:ext>
            </a:extLst>
          </p:cNvPr>
          <p:cNvSpPr txBox="1"/>
          <p:nvPr/>
        </p:nvSpPr>
        <p:spPr>
          <a:xfrm>
            <a:off x="4770120" y="2385060"/>
            <a:ext cx="53340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R_v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C4D58BA-FBC3-40C4-E8C8-59BEC1F3760B}"/>
              </a:ext>
            </a:extLst>
          </p:cNvPr>
          <p:cNvCxnSpPr/>
          <p:nvPr/>
        </p:nvCxnSpPr>
        <p:spPr>
          <a:xfrm>
            <a:off x="4831080" y="2552700"/>
            <a:ext cx="411480" cy="0"/>
          </a:xfrm>
          <a:prstGeom prst="straightConnector1">
            <a:avLst/>
          </a:prstGeom>
          <a:ln w="26670">
            <a:solidFill>
              <a:srgbClr val="705F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89009AE9-3DA2-6DE1-57FF-B12A68AC1D15}"/>
              </a:ext>
            </a:extLst>
          </p:cNvPr>
          <p:cNvSpPr txBox="1"/>
          <p:nvPr/>
        </p:nvSpPr>
        <p:spPr>
          <a:xfrm>
            <a:off x="4770120" y="2583180"/>
            <a:ext cx="533400" cy="143629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600">
                <a:solidFill>
                  <a:srgbClr val="536770"/>
                </a:solidFill>
                <a:latin typeface="Arial" panose="020B0604020202020204" pitchFamily="34" charset="0"/>
              </a:rPr>
              <a:t>velocity ratio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2B1EA79-10D0-639F-E60E-3C9B7D4A137D}"/>
              </a:ext>
            </a:extLst>
          </p:cNvPr>
          <p:cNvSpPr txBox="1"/>
          <p:nvPr/>
        </p:nvSpPr>
        <p:spPr>
          <a:xfrm>
            <a:off x="5775960" y="2385060"/>
            <a:ext cx="57150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V_p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172B4307-F4CD-D479-FDE9-F8EFDC828462}"/>
              </a:ext>
            </a:extLst>
          </p:cNvPr>
          <p:cNvCxnSpPr/>
          <p:nvPr/>
        </p:nvCxnSpPr>
        <p:spPr>
          <a:xfrm>
            <a:off x="5836920" y="2552700"/>
            <a:ext cx="449580" cy="0"/>
          </a:xfrm>
          <a:prstGeom prst="straightConnector1">
            <a:avLst/>
          </a:prstGeom>
          <a:ln w="26670">
            <a:solidFill>
              <a:srgbClr val="239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2A8D2702-E85F-B320-B3E5-CB5424C6C757}"/>
              </a:ext>
            </a:extLst>
          </p:cNvPr>
          <p:cNvSpPr txBox="1"/>
          <p:nvPr/>
        </p:nvSpPr>
        <p:spPr>
          <a:xfrm>
            <a:off x="5775960" y="2583180"/>
            <a:ext cx="571500" cy="23596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600">
                <a:solidFill>
                  <a:srgbClr val="536770"/>
                </a:solidFill>
                <a:latin typeface="Arial" panose="020B0604020202020204" pitchFamily="34" charset="0"/>
              </a:rPr>
              <a:t>P-wave velocity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965DDDE-C236-4324-323F-11FF93B28AD5}"/>
              </a:ext>
            </a:extLst>
          </p:cNvPr>
          <p:cNvSpPr txBox="1"/>
          <p:nvPr/>
        </p:nvSpPr>
        <p:spPr>
          <a:xfrm>
            <a:off x="6781800" y="2385060"/>
            <a:ext cx="57150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V_s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EAC4D8F8-DA5E-7530-CA31-F9596B2D8F98}"/>
              </a:ext>
            </a:extLst>
          </p:cNvPr>
          <p:cNvCxnSpPr/>
          <p:nvPr/>
        </p:nvCxnSpPr>
        <p:spPr>
          <a:xfrm>
            <a:off x="6842760" y="2552700"/>
            <a:ext cx="449580" cy="0"/>
          </a:xfrm>
          <a:prstGeom prst="straightConnector1">
            <a:avLst/>
          </a:prstGeom>
          <a:ln w="26670">
            <a:solidFill>
              <a:srgbClr val="239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5F33B4D3-9412-69F9-D83F-37A1890FB690}"/>
              </a:ext>
            </a:extLst>
          </p:cNvPr>
          <p:cNvSpPr txBox="1"/>
          <p:nvPr/>
        </p:nvSpPr>
        <p:spPr>
          <a:xfrm>
            <a:off x="6781800" y="2583180"/>
            <a:ext cx="571500" cy="23596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600">
                <a:solidFill>
                  <a:srgbClr val="536770"/>
                </a:solidFill>
                <a:latin typeface="Arial" panose="020B0604020202020204" pitchFamily="34" charset="0"/>
              </a:rPr>
              <a:t>S-wave velocity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1384311-2D84-B37A-6E09-41D55E661B4C}"/>
              </a:ext>
            </a:extLst>
          </p:cNvPr>
          <p:cNvSpPr txBox="1"/>
          <p:nvPr/>
        </p:nvSpPr>
        <p:spPr>
          <a:xfrm>
            <a:off x="4572000" y="2727960"/>
            <a:ext cx="274320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Compares compressional and shear response; useful only with unit and lithology checks.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0A60B41C-9445-2F6F-51F6-F80B8AA80876}"/>
              </a:ext>
            </a:extLst>
          </p:cNvPr>
          <p:cNvSpPr/>
          <p:nvPr/>
        </p:nvSpPr>
        <p:spPr>
          <a:xfrm>
            <a:off x="7962900" y="1104900"/>
            <a:ext cx="3779520" cy="1988820"/>
          </a:xfrm>
          <a:prstGeom prst="roundRect">
            <a:avLst/>
          </a:prstGeom>
          <a:solidFill>
            <a:srgbClr val="F8FCFD"/>
          </a:solidFill>
          <a:ln w="15240">
            <a:solidFill>
              <a:srgbClr val="1081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DEE280A2-29D0-0E68-442F-DDD018D0FED4}"/>
              </a:ext>
            </a:extLst>
          </p:cNvPr>
          <p:cNvSpPr/>
          <p:nvPr/>
        </p:nvSpPr>
        <p:spPr>
          <a:xfrm>
            <a:off x="7962900" y="1104900"/>
            <a:ext cx="3779520" cy="320040"/>
          </a:xfrm>
          <a:prstGeom prst="rect">
            <a:avLst/>
          </a:prstGeom>
          <a:solidFill>
            <a:srgbClr val="10818F"/>
          </a:solidFill>
          <a:ln w="6350">
            <a:solidFill>
              <a:srgbClr val="1081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843C616-AA6A-1D31-38A5-80F54D61D1DD}"/>
              </a:ext>
            </a:extLst>
          </p:cNvPr>
          <p:cNvSpPr txBox="1"/>
          <p:nvPr/>
        </p:nvSpPr>
        <p:spPr>
          <a:xfrm>
            <a:off x="8100060" y="1196340"/>
            <a:ext cx="1981200" cy="18979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900" b="1">
                <a:solidFill>
                  <a:srgbClr val="FFFFFF"/>
                </a:solidFill>
                <a:latin typeface="Arial" panose="020B0604020202020204" pitchFamily="34" charset="0"/>
              </a:rPr>
              <a:t>Acoustic impedance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F490DA3-F913-DA2E-56D0-586C2086A541}"/>
              </a:ext>
            </a:extLst>
          </p:cNvPr>
          <p:cNvSpPr txBox="1"/>
          <p:nvPr/>
        </p:nvSpPr>
        <p:spPr>
          <a:xfrm>
            <a:off x="8877300" y="1859280"/>
            <a:ext cx="2095500" cy="359073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it-IT" sz="2000" b="1">
                <a:solidFill>
                  <a:srgbClr val="0F2230"/>
                </a:solidFill>
                <a:latin typeface="Arial" panose="020B0604020202020204" pitchFamily="34" charset="0"/>
              </a:rPr>
              <a:t>AI = rho_b * V_p</a:t>
            </a:r>
            <a:endParaRPr lang="en-US" sz="2000" b="1">
              <a:solidFill>
                <a:srgbClr val="0F2230"/>
              </a:solidFill>
              <a:latin typeface="Arial" panose="020B0604020202020204" pitchFamily="34" charset="0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D2E60E7-93C6-8E8A-09F9-6DF947B3E7CD}"/>
              </a:ext>
            </a:extLst>
          </p:cNvPr>
          <p:cNvSpPr txBox="1"/>
          <p:nvPr/>
        </p:nvSpPr>
        <p:spPr>
          <a:xfrm>
            <a:off x="8442960" y="2385060"/>
            <a:ext cx="60960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AI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14EDFDDB-F080-00B8-38C3-833ABB9CFD9C}"/>
              </a:ext>
            </a:extLst>
          </p:cNvPr>
          <p:cNvCxnSpPr/>
          <p:nvPr/>
        </p:nvCxnSpPr>
        <p:spPr>
          <a:xfrm>
            <a:off x="8503920" y="2552700"/>
            <a:ext cx="487680" cy="0"/>
          </a:xfrm>
          <a:prstGeom prst="straightConnector1">
            <a:avLst/>
          </a:prstGeom>
          <a:ln w="26670">
            <a:solidFill>
              <a:srgbClr val="705F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249F2EA4-499A-0D7A-5B6D-8534B20F5AF4}"/>
              </a:ext>
            </a:extLst>
          </p:cNvPr>
          <p:cNvSpPr txBox="1"/>
          <p:nvPr/>
        </p:nvSpPr>
        <p:spPr>
          <a:xfrm>
            <a:off x="8442960" y="2583180"/>
            <a:ext cx="609600" cy="23596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600">
                <a:solidFill>
                  <a:srgbClr val="536770"/>
                </a:solidFill>
                <a:latin typeface="Arial" panose="020B0604020202020204" pitchFamily="34" charset="0"/>
              </a:rPr>
              <a:t>acoustic impedance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DAAC146-D66D-02A5-E9AF-CC6E883E7206}"/>
              </a:ext>
            </a:extLst>
          </p:cNvPr>
          <p:cNvSpPr txBox="1"/>
          <p:nvPr/>
        </p:nvSpPr>
        <p:spPr>
          <a:xfrm>
            <a:off x="9585960" y="2385060"/>
            <a:ext cx="64770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rho_b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9EA57AEA-83F8-FEBE-3A7F-79B250EFF7E2}"/>
              </a:ext>
            </a:extLst>
          </p:cNvPr>
          <p:cNvCxnSpPr/>
          <p:nvPr/>
        </p:nvCxnSpPr>
        <p:spPr>
          <a:xfrm>
            <a:off x="9646920" y="2552700"/>
            <a:ext cx="525780" cy="0"/>
          </a:xfrm>
          <a:prstGeom prst="straightConnector1">
            <a:avLst/>
          </a:prstGeom>
          <a:ln w="26670">
            <a:solidFill>
              <a:srgbClr val="239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26737C0F-2853-FDFF-AD85-7602782591A0}"/>
              </a:ext>
            </a:extLst>
          </p:cNvPr>
          <p:cNvSpPr txBox="1"/>
          <p:nvPr/>
        </p:nvSpPr>
        <p:spPr>
          <a:xfrm>
            <a:off x="9585960" y="2583180"/>
            <a:ext cx="647700" cy="143629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600">
                <a:solidFill>
                  <a:srgbClr val="536770"/>
                </a:solidFill>
                <a:latin typeface="Arial" panose="020B0604020202020204" pitchFamily="34" charset="0"/>
              </a:rPr>
              <a:t>bulk density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B109793-095D-75D3-4377-283452F347FD}"/>
              </a:ext>
            </a:extLst>
          </p:cNvPr>
          <p:cNvSpPr txBox="1"/>
          <p:nvPr/>
        </p:nvSpPr>
        <p:spPr>
          <a:xfrm>
            <a:off x="10820400" y="2385060"/>
            <a:ext cx="60960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V_p</a:t>
            </a: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AA6D8356-4FE8-52D3-2D84-F02F8F7E8D21}"/>
              </a:ext>
            </a:extLst>
          </p:cNvPr>
          <p:cNvCxnSpPr/>
          <p:nvPr/>
        </p:nvCxnSpPr>
        <p:spPr>
          <a:xfrm>
            <a:off x="10881360" y="2552700"/>
            <a:ext cx="487680" cy="0"/>
          </a:xfrm>
          <a:prstGeom prst="straightConnector1">
            <a:avLst/>
          </a:prstGeom>
          <a:ln w="26670">
            <a:solidFill>
              <a:srgbClr val="239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C9CF3BC3-0F9D-C9B4-0356-835737E5BCDF}"/>
              </a:ext>
            </a:extLst>
          </p:cNvPr>
          <p:cNvSpPr txBox="1"/>
          <p:nvPr/>
        </p:nvSpPr>
        <p:spPr>
          <a:xfrm>
            <a:off x="10820400" y="2583180"/>
            <a:ext cx="609600" cy="23596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600">
                <a:solidFill>
                  <a:srgbClr val="536770"/>
                </a:solidFill>
                <a:latin typeface="Arial" panose="020B0604020202020204" pitchFamily="34" charset="0"/>
              </a:rPr>
              <a:t>P-wave velocity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12DEA9A-3464-F6D3-3A0E-590842E0E723}"/>
              </a:ext>
            </a:extLst>
          </p:cNvPr>
          <p:cNvSpPr txBox="1"/>
          <p:nvPr/>
        </p:nvSpPr>
        <p:spPr>
          <a:xfrm>
            <a:off x="8420100" y="2727960"/>
            <a:ext cx="289560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Combines density and velocity into an impedance contrast check.</a:t>
            </a:r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51353B82-3C8D-2871-AD8F-E77E5CDC26EA}"/>
              </a:ext>
            </a:extLst>
          </p:cNvPr>
          <p:cNvSpPr/>
          <p:nvPr/>
        </p:nvSpPr>
        <p:spPr>
          <a:xfrm>
            <a:off x="457200" y="3352800"/>
            <a:ext cx="3672840" cy="2301240"/>
          </a:xfrm>
          <a:prstGeom prst="roundRect">
            <a:avLst/>
          </a:prstGeom>
          <a:solidFill>
            <a:srgbClr val="F8FCFD"/>
          </a:solidFill>
          <a:ln w="15240">
            <a:solidFill>
              <a:srgbClr val="705FC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686FE7C8-0CFE-48CE-E0D1-04DC7B9B0CCD}"/>
              </a:ext>
            </a:extLst>
          </p:cNvPr>
          <p:cNvSpPr/>
          <p:nvPr/>
        </p:nvSpPr>
        <p:spPr>
          <a:xfrm>
            <a:off x="457200" y="3352800"/>
            <a:ext cx="3672840" cy="327660"/>
          </a:xfrm>
          <a:prstGeom prst="rect">
            <a:avLst/>
          </a:prstGeom>
          <a:solidFill>
            <a:srgbClr val="705FC3"/>
          </a:solidFill>
          <a:ln w="6350">
            <a:solidFill>
              <a:srgbClr val="705FC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EDF70BD-314E-7607-0C77-0B557E254CCF}"/>
              </a:ext>
            </a:extLst>
          </p:cNvPr>
          <p:cNvSpPr txBox="1"/>
          <p:nvPr/>
        </p:nvSpPr>
        <p:spPr>
          <a:xfrm>
            <a:off x="594360" y="3444240"/>
            <a:ext cx="1981200" cy="18979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900" b="1">
                <a:solidFill>
                  <a:srgbClr val="FFFFFF"/>
                </a:solidFill>
                <a:latin typeface="Arial" panose="020B0604020202020204" pitchFamily="34" charset="0"/>
              </a:rPr>
              <a:t>Shear rigidity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B4CBE1D-B1A1-6969-72B3-777A1CB2F2C2}"/>
              </a:ext>
            </a:extLst>
          </p:cNvPr>
          <p:cNvSpPr txBox="1"/>
          <p:nvPr/>
        </p:nvSpPr>
        <p:spPr>
          <a:xfrm>
            <a:off x="1287780" y="4076700"/>
            <a:ext cx="2019300" cy="666849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2000" b="1">
                <a:solidFill>
                  <a:srgbClr val="0F2230"/>
                </a:solidFill>
                <a:latin typeface="Arial" panose="020B0604020202020204" pitchFamily="34" charset="0"/>
              </a:rPr>
              <a:t>G = rho_b * V_s^2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B80DAA0-4830-B690-F6FF-96E503594CDC}"/>
              </a:ext>
            </a:extLst>
          </p:cNvPr>
          <p:cNvSpPr txBox="1"/>
          <p:nvPr/>
        </p:nvSpPr>
        <p:spPr>
          <a:xfrm>
            <a:off x="914400" y="4640580"/>
            <a:ext cx="57150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G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A8ECE69F-95A1-462C-6203-AFF4C28E6C49}"/>
              </a:ext>
            </a:extLst>
          </p:cNvPr>
          <p:cNvCxnSpPr/>
          <p:nvPr/>
        </p:nvCxnSpPr>
        <p:spPr>
          <a:xfrm>
            <a:off x="975360" y="4808220"/>
            <a:ext cx="449580" cy="0"/>
          </a:xfrm>
          <a:prstGeom prst="straightConnector1">
            <a:avLst/>
          </a:prstGeom>
          <a:ln w="26670">
            <a:solidFill>
              <a:srgbClr val="705F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1BACE964-EDFB-50A1-DD7F-9486946DC4DD}"/>
              </a:ext>
            </a:extLst>
          </p:cNvPr>
          <p:cNvSpPr txBox="1"/>
          <p:nvPr/>
        </p:nvSpPr>
        <p:spPr>
          <a:xfrm>
            <a:off x="914400" y="4838700"/>
            <a:ext cx="571500" cy="23596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600">
                <a:solidFill>
                  <a:srgbClr val="536770"/>
                </a:solidFill>
                <a:latin typeface="Arial" panose="020B0604020202020204" pitchFamily="34" charset="0"/>
              </a:rPr>
              <a:t>shear modulus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8664237-55F6-9070-F386-99D4206FB079}"/>
              </a:ext>
            </a:extLst>
          </p:cNvPr>
          <p:cNvSpPr txBox="1"/>
          <p:nvPr/>
        </p:nvSpPr>
        <p:spPr>
          <a:xfrm>
            <a:off x="2019300" y="4640580"/>
            <a:ext cx="57150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rho_b</a:t>
            </a:r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7DF644E2-BC9F-1B5A-6804-36B67A853A7F}"/>
              </a:ext>
            </a:extLst>
          </p:cNvPr>
          <p:cNvCxnSpPr/>
          <p:nvPr/>
        </p:nvCxnSpPr>
        <p:spPr>
          <a:xfrm>
            <a:off x="2080260" y="4808220"/>
            <a:ext cx="449580" cy="0"/>
          </a:xfrm>
          <a:prstGeom prst="straightConnector1">
            <a:avLst/>
          </a:prstGeom>
          <a:ln w="26670">
            <a:solidFill>
              <a:srgbClr val="239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9B2677C1-BFB3-D80D-394D-915B3A66607E}"/>
              </a:ext>
            </a:extLst>
          </p:cNvPr>
          <p:cNvSpPr txBox="1"/>
          <p:nvPr/>
        </p:nvSpPr>
        <p:spPr>
          <a:xfrm>
            <a:off x="2019300" y="4838700"/>
            <a:ext cx="571500" cy="143629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600">
                <a:solidFill>
                  <a:srgbClr val="536770"/>
                </a:solidFill>
                <a:latin typeface="Arial" panose="020B0604020202020204" pitchFamily="34" charset="0"/>
              </a:rPr>
              <a:t>bulk density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7717105-65A4-3F04-67F7-1E8513FA13DF}"/>
              </a:ext>
            </a:extLst>
          </p:cNvPr>
          <p:cNvSpPr txBox="1"/>
          <p:nvPr/>
        </p:nvSpPr>
        <p:spPr>
          <a:xfrm>
            <a:off x="3116580" y="4640580"/>
            <a:ext cx="57150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V_s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1B4FF292-B805-08C0-6B3D-4B452B472361}"/>
              </a:ext>
            </a:extLst>
          </p:cNvPr>
          <p:cNvCxnSpPr/>
          <p:nvPr/>
        </p:nvCxnSpPr>
        <p:spPr>
          <a:xfrm>
            <a:off x="3177540" y="4808220"/>
            <a:ext cx="449580" cy="0"/>
          </a:xfrm>
          <a:prstGeom prst="straightConnector1">
            <a:avLst/>
          </a:prstGeom>
          <a:ln w="26670">
            <a:solidFill>
              <a:srgbClr val="239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AADD0833-11C8-046A-C916-2E4CC4C29738}"/>
              </a:ext>
            </a:extLst>
          </p:cNvPr>
          <p:cNvSpPr txBox="1"/>
          <p:nvPr/>
        </p:nvSpPr>
        <p:spPr>
          <a:xfrm>
            <a:off x="3116580" y="4838700"/>
            <a:ext cx="571500" cy="23596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600">
                <a:solidFill>
                  <a:srgbClr val="536770"/>
                </a:solidFill>
                <a:latin typeface="Arial" panose="020B0604020202020204" pitchFamily="34" charset="0"/>
              </a:rPr>
              <a:t>S-wave velocity</a:t>
            </a:r>
          </a:p>
        </p:txBody>
      </p: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BD9EF468-9BAD-E8A4-E5B1-E6FDE31C65B6}"/>
              </a:ext>
            </a:extLst>
          </p:cNvPr>
          <p:cNvSpPr/>
          <p:nvPr/>
        </p:nvSpPr>
        <p:spPr>
          <a:xfrm>
            <a:off x="731520" y="5090160"/>
            <a:ext cx="3116580" cy="259080"/>
          </a:xfrm>
          <a:prstGeom prst="roundRect">
            <a:avLst/>
          </a:prstGeom>
          <a:solidFill>
            <a:srgbClr val="F5EEFF"/>
          </a:solidFill>
          <a:ln w="10160">
            <a:solidFill>
              <a:srgbClr val="F5EE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Highlights frame stiffness; mimics still require review.</a:t>
            </a:r>
          </a:p>
        </p:txBody>
      </p: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7F4A4512-2E34-2FCC-4E62-09701D40D236}"/>
              </a:ext>
            </a:extLst>
          </p:cNvPr>
          <p:cNvSpPr/>
          <p:nvPr/>
        </p:nvSpPr>
        <p:spPr>
          <a:xfrm>
            <a:off x="4343400" y="3352800"/>
            <a:ext cx="7399020" cy="2301240"/>
          </a:xfrm>
          <a:prstGeom prst="roundRect">
            <a:avLst/>
          </a:prstGeom>
          <a:solidFill>
            <a:srgbClr val="F8FCFD"/>
          </a:solidFill>
          <a:ln w="15240">
            <a:solidFill>
              <a:srgbClr val="E0A12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ABBBB9A7-59B8-9431-92B5-44C5BFE030C2}"/>
              </a:ext>
            </a:extLst>
          </p:cNvPr>
          <p:cNvSpPr/>
          <p:nvPr/>
        </p:nvSpPr>
        <p:spPr>
          <a:xfrm>
            <a:off x="4343400" y="3352800"/>
            <a:ext cx="7399020" cy="327660"/>
          </a:xfrm>
          <a:prstGeom prst="rect">
            <a:avLst/>
          </a:prstGeom>
          <a:solidFill>
            <a:srgbClr val="E0A12D"/>
          </a:solidFill>
          <a:ln w="6350">
            <a:solidFill>
              <a:srgbClr val="E0A12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9568ECE-BC42-F17C-E3D4-2AB5952418B4}"/>
              </a:ext>
            </a:extLst>
          </p:cNvPr>
          <p:cNvSpPr txBox="1"/>
          <p:nvPr/>
        </p:nvSpPr>
        <p:spPr>
          <a:xfrm>
            <a:off x="4480560" y="3444240"/>
            <a:ext cx="5334000" cy="18979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900" b="1">
                <a:solidFill>
                  <a:srgbClr val="FFFFFF"/>
                </a:solidFill>
                <a:latin typeface="Arial" panose="020B0604020202020204" pitchFamily="34" charset="0"/>
              </a:rPr>
              <a:t>Electrical saturation baseline - locked until parameters are approved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1614A2E-195C-01F2-42DC-E32768055410}"/>
              </a:ext>
            </a:extLst>
          </p:cNvPr>
          <p:cNvSpPr txBox="1"/>
          <p:nvPr/>
        </p:nvSpPr>
        <p:spPr>
          <a:xfrm>
            <a:off x="4709160" y="3962400"/>
            <a:ext cx="1104900" cy="666849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2000" b="1">
                <a:solidFill>
                  <a:srgbClr val="0F2230"/>
                </a:solidFill>
                <a:latin typeface="Arial" panose="020B0604020202020204" pitchFamily="34" charset="0"/>
              </a:rPr>
              <a:t>S_w^n =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823B9B6-170F-E4EB-477D-DB8B06A40AE7}"/>
              </a:ext>
            </a:extLst>
          </p:cNvPr>
          <p:cNvSpPr txBox="1"/>
          <p:nvPr/>
        </p:nvSpPr>
        <p:spPr>
          <a:xfrm>
            <a:off x="5981700" y="3855720"/>
            <a:ext cx="1104900" cy="359073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2000" b="1">
                <a:solidFill>
                  <a:srgbClr val="0F2230"/>
                </a:solidFill>
                <a:latin typeface="Arial" panose="020B0604020202020204" pitchFamily="34" charset="0"/>
              </a:rPr>
              <a:t>a * R_w</a:t>
            </a: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57BD4EE6-D848-5FAB-62C6-289F75534BDE}"/>
              </a:ext>
            </a:extLst>
          </p:cNvPr>
          <p:cNvCxnSpPr/>
          <p:nvPr/>
        </p:nvCxnSpPr>
        <p:spPr>
          <a:xfrm>
            <a:off x="5943600" y="4175760"/>
            <a:ext cx="1143000" cy="0"/>
          </a:xfrm>
          <a:prstGeom prst="straightConnector1">
            <a:avLst/>
          </a:prstGeom>
          <a:ln w="22860">
            <a:solidFill>
              <a:srgbClr val="0F223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A141EDA9-FC01-F982-66A4-0A263EB3BB7C}"/>
              </a:ext>
            </a:extLst>
          </p:cNvPr>
          <p:cNvSpPr txBox="1"/>
          <p:nvPr/>
        </p:nvSpPr>
        <p:spPr>
          <a:xfrm>
            <a:off x="5928360" y="4229100"/>
            <a:ext cx="1219200" cy="666849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2000" b="1">
                <a:solidFill>
                  <a:srgbClr val="0F2230"/>
                </a:solidFill>
                <a:latin typeface="Arial" panose="020B0604020202020204" pitchFamily="34" charset="0"/>
              </a:rPr>
              <a:t>R_t * phi^m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D26FD40-BDA4-A26E-7218-608B67AA8C34}"/>
              </a:ext>
            </a:extLst>
          </p:cNvPr>
          <p:cNvSpPr txBox="1"/>
          <p:nvPr/>
        </p:nvSpPr>
        <p:spPr>
          <a:xfrm>
            <a:off x="7315200" y="4000500"/>
            <a:ext cx="1866900" cy="666849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2000" b="1">
                <a:solidFill>
                  <a:srgbClr val="0F2230"/>
                </a:solidFill>
                <a:latin typeface="Arial" panose="020B0604020202020204" pitchFamily="34" charset="0"/>
              </a:rPr>
              <a:t>S_h ~= 1 - S_w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64D8B30-0271-1ED0-AD59-CA2EB6DB0243}"/>
              </a:ext>
            </a:extLst>
          </p:cNvPr>
          <p:cNvSpPr txBox="1"/>
          <p:nvPr/>
        </p:nvSpPr>
        <p:spPr>
          <a:xfrm>
            <a:off x="4693920" y="4701540"/>
            <a:ext cx="60960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S_w</a:t>
            </a:r>
          </a:p>
        </p:txBody>
      </p: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0752CEE2-9443-88CD-1CC7-D5B2C7103322}"/>
              </a:ext>
            </a:extLst>
          </p:cNvPr>
          <p:cNvCxnSpPr/>
          <p:nvPr/>
        </p:nvCxnSpPr>
        <p:spPr>
          <a:xfrm>
            <a:off x="4754880" y="4869180"/>
            <a:ext cx="487680" cy="0"/>
          </a:xfrm>
          <a:prstGeom prst="straightConnector1">
            <a:avLst/>
          </a:prstGeom>
          <a:ln w="26670">
            <a:solidFill>
              <a:srgbClr val="705F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D876CB5B-38B9-F1A3-9F12-E7A770C57CB0}"/>
              </a:ext>
            </a:extLst>
          </p:cNvPr>
          <p:cNvSpPr txBox="1"/>
          <p:nvPr/>
        </p:nvSpPr>
        <p:spPr>
          <a:xfrm>
            <a:off x="4693920" y="4899660"/>
            <a:ext cx="609600" cy="23596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600">
                <a:solidFill>
                  <a:srgbClr val="536770"/>
                </a:solidFill>
                <a:latin typeface="Arial" panose="020B0604020202020204" pitchFamily="34" charset="0"/>
              </a:rPr>
              <a:t>water saturation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66D502B-D68E-AFD3-EAD0-04278BCA066B}"/>
              </a:ext>
            </a:extLst>
          </p:cNvPr>
          <p:cNvSpPr txBox="1"/>
          <p:nvPr/>
        </p:nvSpPr>
        <p:spPr>
          <a:xfrm>
            <a:off x="5570220" y="4701540"/>
            <a:ext cx="60960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n</a:t>
            </a:r>
          </a:p>
        </p:txBody>
      </p: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900D3150-0C6D-D5DA-8D26-42E48F30C3E3}"/>
              </a:ext>
            </a:extLst>
          </p:cNvPr>
          <p:cNvCxnSpPr/>
          <p:nvPr/>
        </p:nvCxnSpPr>
        <p:spPr>
          <a:xfrm>
            <a:off x="5631180" y="4869180"/>
            <a:ext cx="487680" cy="0"/>
          </a:xfrm>
          <a:prstGeom prst="straightConnector1">
            <a:avLst/>
          </a:prstGeom>
          <a:ln w="26670">
            <a:solidFill>
              <a:srgbClr val="E0A1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15A58849-B0A7-DF82-4FA4-B82A54E9F2DE}"/>
              </a:ext>
            </a:extLst>
          </p:cNvPr>
          <p:cNvSpPr txBox="1"/>
          <p:nvPr/>
        </p:nvSpPr>
        <p:spPr>
          <a:xfrm>
            <a:off x="5570220" y="4899660"/>
            <a:ext cx="609600" cy="143629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600">
                <a:solidFill>
                  <a:srgbClr val="536770"/>
                </a:solidFill>
                <a:latin typeface="Arial" panose="020B0604020202020204" pitchFamily="34" charset="0"/>
              </a:rPr>
              <a:t>sat. exponent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69E2929-BD43-1CF9-78BA-72B1C9C012B5}"/>
              </a:ext>
            </a:extLst>
          </p:cNvPr>
          <p:cNvSpPr txBox="1"/>
          <p:nvPr/>
        </p:nvSpPr>
        <p:spPr>
          <a:xfrm>
            <a:off x="6446520" y="4701540"/>
            <a:ext cx="60960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a</a:t>
            </a:r>
          </a:p>
        </p:txBody>
      </p: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0D94526F-A4DA-39EB-B3F4-31B78E78CBF2}"/>
              </a:ext>
            </a:extLst>
          </p:cNvPr>
          <p:cNvCxnSpPr/>
          <p:nvPr/>
        </p:nvCxnSpPr>
        <p:spPr>
          <a:xfrm>
            <a:off x="6507480" y="4869180"/>
            <a:ext cx="487680" cy="0"/>
          </a:xfrm>
          <a:prstGeom prst="straightConnector1">
            <a:avLst/>
          </a:prstGeom>
          <a:ln w="26670">
            <a:solidFill>
              <a:srgbClr val="E0A1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2654CFB7-D461-B85D-2C71-12EBE84179F5}"/>
              </a:ext>
            </a:extLst>
          </p:cNvPr>
          <p:cNvSpPr txBox="1"/>
          <p:nvPr/>
        </p:nvSpPr>
        <p:spPr>
          <a:xfrm>
            <a:off x="6446520" y="4899660"/>
            <a:ext cx="609600" cy="23596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600">
                <a:solidFill>
                  <a:srgbClr val="536770"/>
                </a:solidFill>
                <a:latin typeface="Arial" panose="020B0604020202020204" pitchFamily="34" charset="0"/>
              </a:rPr>
              <a:t>Archie constant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880ECC28-4303-7BB9-0899-96F06345B6E0}"/>
              </a:ext>
            </a:extLst>
          </p:cNvPr>
          <p:cNvSpPr txBox="1"/>
          <p:nvPr/>
        </p:nvSpPr>
        <p:spPr>
          <a:xfrm>
            <a:off x="7322820" y="4701540"/>
            <a:ext cx="60960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R_w</a:t>
            </a:r>
          </a:p>
        </p:txBody>
      </p: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7BD6D987-479A-F054-634B-7322101D0623}"/>
              </a:ext>
            </a:extLst>
          </p:cNvPr>
          <p:cNvCxnSpPr/>
          <p:nvPr/>
        </p:nvCxnSpPr>
        <p:spPr>
          <a:xfrm>
            <a:off x="7383780" y="4869180"/>
            <a:ext cx="487680" cy="0"/>
          </a:xfrm>
          <a:prstGeom prst="straightConnector1">
            <a:avLst/>
          </a:prstGeom>
          <a:ln w="26670">
            <a:solidFill>
              <a:srgbClr val="E0A1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9C3F1B84-16CF-0AD8-6E28-FE7EAEABFC07}"/>
              </a:ext>
            </a:extLst>
          </p:cNvPr>
          <p:cNvSpPr txBox="1"/>
          <p:nvPr/>
        </p:nvSpPr>
        <p:spPr>
          <a:xfrm>
            <a:off x="7322820" y="4899660"/>
            <a:ext cx="609600" cy="23596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600">
                <a:solidFill>
                  <a:srgbClr val="536770"/>
                </a:solidFill>
                <a:latin typeface="Arial" panose="020B0604020202020204" pitchFamily="34" charset="0"/>
              </a:rPr>
              <a:t>water resistivity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56176E6C-B8DE-6AC3-B4AE-346E4B81C55B}"/>
              </a:ext>
            </a:extLst>
          </p:cNvPr>
          <p:cNvSpPr txBox="1"/>
          <p:nvPr/>
        </p:nvSpPr>
        <p:spPr>
          <a:xfrm>
            <a:off x="8199120" y="4701540"/>
            <a:ext cx="60960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R_t</a:t>
            </a:r>
          </a:p>
        </p:txBody>
      </p: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93A87F5A-4993-E6AB-F7D3-364A12AE0075}"/>
              </a:ext>
            </a:extLst>
          </p:cNvPr>
          <p:cNvCxnSpPr/>
          <p:nvPr/>
        </p:nvCxnSpPr>
        <p:spPr>
          <a:xfrm>
            <a:off x="8260080" y="4869180"/>
            <a:ext cx="487680" cy="0"/>
          </a:xfrm>
          <a:prstGeom prst="straightConnector1">
            <a:avLst/>
          </a:prstGeom>
          <a:ln w="26670">
            <a:solidFill>
              <a:srgbClr val="239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92E3DA97-2EFF-50D7-2430-507AEB7B738C}"/>
              </a:ext>
            </a:extLst>
          </p:cNvPr>
          <p:cNvSpPr txBox="1"/>
          <p:nvPr/>
        </p:nvSpPr>
        <p:spPr>
          <a:xfrm>
            <a:off x="8199120" y="4899660"/>
            <a:ext cx="609600" cy="143629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600">
                <a:solidFill>
                  <a:srgbClr val="536770"/>
                </a:solidFill>
                <a:latin typeface="Arial" panose="020B0604020202020204" pitchFamily="34" charset="0"/>
              </a:rPr>
              <a:t>deep resistivity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BD45A657-A480-1EEF-5C3D-A0B459D293EB}"/>
              </a:ext>
            </a:extLst>
          </p:cNvPr>
          <p:cNvSpPr txBox="1"/>
          <p:nvPr/>
        </p:nvSpPr>
        <p:spPr>
          <a:xfrm>
            <a:off x="9075420" y="4701540"/>
            <a:ext cx="60960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phi</a:t>
            </a: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76316233-2375-9024-1A50-81B60DF50BF9}"/>
              </a:ext>
            </a:extLst>
          </p:cNvPr>
          <p:cNvCxnSpPr/>
          <p:nvPr/>
        </p:nvCxnSpPr>
        <p:spPr>
          <a:xfrm>
            <a:off x="9136380" y="4869180"/>
            <a:ext cx="487680" cy="0"/>
          </a:xfrm>
          <a:prstGeom prst="straightConnector1">
            <a:avLst/>
          </a:prstGeom>
          <a:ln w="26670">
            <a:solidFill>
              <a:srgbClr val="239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C1BB44AE-3287-6BF6-A538-8A1D06E20F83}"/>
              </a:ext>
            </a:extLst>
          </p:cNvPr>
          <p:cNvSpPr txBox="1"/>
          <p:nvPr/>
        </p:nvSpPr>
        <p:spPr>
          <a:xfrm>
            <a:off x="9075420" y="4899660"/>
            <a:ext cx="609600" cy="143629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600">
                <a:solidFill>
                  <a:srgbClr val="536770"/>
                </a:solidFill>
                <a:latin typeface="Arial" panose="020B0604020202020204" pitchFamily="34" charset="0"/>
              </a:rPr>
              <a:t>porosity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7B160D7-0EB8-C9A5-0A67-9B203B9013C7}"/>
              </a:ext>
            </a:extLst>
          </p:cNvPr>
          <p:cNvSpPr txBox="1"/>
          <p:nvPr/>
        </p:nvSpPr>
        <p:spPr>
          <a:xfrm>
            <a:off x="9951720" y="4701540"/>
            <a:ext cx="60960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m</a:t>
            </a:r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CB4D83DD-BDC5-D7CC-B2D5-5307F71BF402}"/>
              </a:ext>
            </a:extLst>
          </p:cNvPr>
          <p:cNvCxnSpPr/>
          <p:nvPr/>
        </p:nvCxnSpPr>
        <p:spPr>
          <a:xfrm>
            <a:off x="10012680" y="4869180"/>
            <a:ext cx="487680" cy="0"/>
          </a:xfrm>
          <a:prstGeom prst="straightConnector1">
            <a:avLst/>
          </a:prstGeom>
          <a:ln w="26670">
            <a:solidFill>
              <a:srgbClr val="E0A1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456C6A51-CAE7-113C-B44A-B54D50440A1D}"/>
              </a:ext>
            </a:extLst>
          </p:cNvPr>
          <p:cNvSpPr txBox="1"/>
          <p:nvPr/>
        </p:nvSpPr>
        <p:spPr>
          <a:xfrm>
            <a:off x="9951720" y="4899660"/>
            <a:ext cx="609600" cy="23596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600">
                <a:solidFill>
                  <a:srgbClr val="536770"/>
                </a:solidFill>
                <a:latin typeface="Arial" panose="020B0604020202020204" pitchFamily="34" charset="0"/>
              </a:rPr>
              <a:t>cementation exp.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7E2A743B-189F-A8E5-64E2-704CB9CD6EA1}"/>
              </a:ext>
            </a:extLst>
          </p:cNvPr>
          <p:cNvSpPr txBox="1"/>
          <p:nvPr/>
        </p:nvSpPr>
        <p:spPr>
          <a:xfrm>
            <a:off x="10828020" y="4701540"/>
            <a:ext cx="60960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S_h</a:t>
            </a: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433B6028-45C4-68D4-49CF-F79836D3645A}"/>
              </a:ext>
            </a:extLst>
          </p:cNvPr>
          <p:cNvCxnSpPr/>
          <p:nvPr/>
        </p:nvCxnSpPr>
        <p:spPr>
          <a:xfrm>
            <a:off x="10888980" y="4869180"/>
            <a:ext cx="487680" cy="0"/>
          </a:xfrm>
          <a:prstGeom prst="straightConnector1">
            <a:avLst/>
          </a:prstGeom>
          <a:ln w="26670">
            <a:solidFill>
              <a:srgbClr val="705F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86A6CD59-887A-B601-61E5-C78489E351C1}"/>
              </a:ext>
            </a:extLst>
          </p:cNvPr>
          <p:cNvSpPr txBox="1"/>
          <p:nvPr/>
        </p:nvSpPr>
        <p:spPr>
          <a:xfrm>
            <a:off x="10828020" y="4899660"/>
            <a:ext cx="609600" cy="23596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600">
                <a:solidFill>
                  <a:srgbClr val="536770"/>
                </a:solidFill>
                <a:latin typeface="Arial" panose="020B0604020202020204" pitchFamily="34" charset="0"/>
              </a:rPr>
              <a:t>review estimate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96BD7DE4-3C04-8701-04F1-E12B9224DD30}"/>
              </a:ext>
            </a:extLst>
          </p:cNvPr>
          <p:cNvSpPr txBox="1"/>
          <p:nvPr/>
        </p:nvSpPr>
        <p:spPr>
          <a:xfrm>
            <a:off x="5257800" y="5273040"/>
            <a:ext cx="548640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Use as a comparison baseline only after water resistivity, porosity convention, shale correction, and target role are documented.</a:t>
            </a:r>
          </a:p>
        </p:txBody>
      </p:sp>
      <p:sp>
        <p:nvSpPr>
          <p:cNvPr id="113" name="Rectangle: Rounded Corners 112">
            <a:extLst>
              <a:ext uri="{FF2B5EF4-FFF2-40B4-BE49-F238E27FC236}">
                <a16:creationId xmlns:a16="http://schemas.microsoft.com/office/drawing/2014/main" id="{598D23C6-6461-8648-3915-3B0C22794494}"/>
              </a:ext>
            </a:extLst>
          </p:cNvPr>
          <p:cNvSpPr/>
          <p:nvPr/>
        </p:nvSpPr>
        <p:spPr>
          <a:xfrm>
            <a:off x="457200" y="5829300"/>
            <a:ext cx="11285220" cy="495300"/>
          </a:xfrm>
          <a:prstGeom prst="roundRect">
            <a:avLst/>
          </a:prstGeom>
          <a:solidFill>
            <a:srgbClr val="FFEFEF"/>
          </a:solidFill>
          <a:ln w="15240">
            <a:solidFill>
              <a:srgbClr val="D937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529B3914-DEDB-207D-69FC-52F27F7068EF}"/>
              </a:ext>
            </a:extLst>
          </p:cNvPr>
          <p:cNvSpPr txBox="1"/>
          <p:nvPr/>
        </p:nvSpPr>
        <p:spPr>
          <a:xfrm>
            <a:off x="975360" y="6012180"/>
            <a:ext cx="9906000" cy="389850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n-US" sz="1100" b="1">
                <a:solidFill>
                  <a:srgbClr val="D9373A"/>
                </a:solidFill>
                <a:latin typeface="Arial" panose="020B0604020202020204" pitchFamily="34" charset="0"/>
              </a:rPr>
              <a:t>Guardrail: equations convert or compare source-backed quantities. They do not prove hydrate occurrence, final stability, saturation, producibility, or ranking.</a:t>
            </a: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A090EC49-B6A1-FE6C-686C-22043CE33DD9}"/>
              </a:ext>
            </a:extLst>
          </p:cNvPr>
          <p:cNvCxnSpPr/>
          <p:nvPr/>
        </p:nvCxnSpPr>
        <p:spPr>
          <a:xfrm>
            <a:off x="411480" y="6416040"/>
            <a:ext cx="11369040" cy="0"/>
          </a:xfrm>
          <a:prstGeom prst="straightConnector1">
            <a:avLst/>
          </a:prstGeom>
          <a:ln w="12700">
            <a:solidFill>
              <a:srgbClr val="ADCF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7EB5E4BC-571A-2AF7-5F62-A4F47F7CD688}"/>
              </a:ext>
            </a:extLst>
          </p:cNvPr>
          <p:cNvSpPr txBox="1"/>
          <p:nvPr/>
        </p:nvSpPr>
        <p:spPr>
          <a:xfrm>
            <a:off x="441960" y="6477000"/>
            <a:ext cx="10820400" cy="15901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700">
                <a:solidFill>
                  <a:srgbClr val="536770"/>
                </a:solidFill>
                <a:latin typeface="Arial" panose="020B0604020202020204" pitchFamily="34" charset="0"/>
              </a:rPr>
              <a:t>Sources: stability calculation plan; email screenshot equation set; science logic ladder; baseline source ledger; well-log requirements map.</a:t>
            </a:r>
          </a:p>
        </p:txBody>
      </p:sp>
    </p:spTree>
    <p:extLst>
      <p:ext uri="{BB962C8B-B14F-4D97-AF65-F5344CB8AC3E}">
        <p14:creationId xmlns:p14="http://schemas.microsoft.com/office/powerpoint/2010/main" val="7794366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3105D9A-D404-0381-FEE7-17ED86BA99D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E18DC97-AC7D-448E-321B-14B982CFD650}"/>
              </a:ext>
            </a:extLst>
          </p:cNvPr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0818F"/>
          </a:solidFill>
          <a:ln w="6350">
            <a:solidFill>
              <a:srgbClr val="1081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78B3C2-BC84-F6FC-F80F-5CC9126DB5A4}"/>
              </a:ext>
            </a:extLst>
          </p:cNvPr>
          <p:cNvSpPr txBox="1"/>
          <p:nvPr/>
        </p:nvSpPr>
        <p:spPr>
          <a:xfrm>
            <a:off x="457200" y="289560"/>
            <a:ext cx="8991600" cy="389850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2200" b="1">
                <a:solidFill>
                  <a:srgbClr val="0F2230"/>
                </a:solidFill>
                <a:latin typeface="Arial" panose="020B0604020202020204" pitchFamily="34" charset="0"/>
              </a:rPr>
              <a:t>Equations, Feature Engineering, And Unit Gate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541411-1259-9751-36CF-1383F2A7E79A}"/>
              </a:ext>
            </a:extLst>
          </p:cNvPr>
          <p:cNvSpPr txBox="1"/>
          <p:nvPr/>
        </p:nvSpPr>
        <p:spPr>
          <a:xfrm>
            <a:off x="480060" y="693420"/>
            <a:ext cx="10591800" cy="20518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1000">
                <a:solidFill>
                  <a:srgbClr val="536770"/>
                </a:solidFill>
                <a:latin typeface="Arial" panose="020B0604020202020204" pitchFamily="34" charset="0"/>
              </a:rPr>
              <a:t>Equation features enter X_allowed only after source, unit, depth, QC, and leakage checks.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F2259E3-0D9D-C2DC-6806-7AF0BEE8D462}"/>
              </a:ext>
            </a:extLst>
          </p:cNvPr>
          <p:cNvSpPr/>
          <p:nvPr/>
        </p:nvSpPr>
        <p:spPr>
          <a:xfrm>
            <a:off x="441960" y="1104900"/>
            <a:ext cx="2225040" cy="4914900"/>
          </a:xfrm>
          <a:prstGeom prst="roundRect">
            <a:avLst/>
          </a:prstGeom>
          <a:solidFill>
            <a:srgbClr val="F8FCFD"/>
          </a:solidFill>
          <a:ln w="15240">
            <a:solidFill>
              <a:srgbClr val="1081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EAC41A0-BE75-22CA-BE3B-A34AB648FB16}"/>
              </a:ext>
            </a:extLst>
          </p:cNvPr>
          <p:cNvSpPr txBox="1"/>
          <p:nvPr/>
        </p:nvSpPr>
        <p:spPr>
          <a:xfrm>
            <a:off x="640080" y="1325880"/>
            <a:ext cx="1828800" cy="482183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1400" b="1">
                <a:solidFill>
                  <a:srgbClr val="10818F"/>
                </a:solidFill>
                <a:latin typeface="Arial" panose="020B0604020202020204" pitchFamily="34" charset="0"/>
              </a:rPr>
              <a:t>Unit and leakage gate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E9D4E39-299F-8ED7-F0DC-140FA95F316A}"/>
              </a:ext>
            </a:extLst>
          </p:cNvPr>
          <p:cNvSpPr/>
          <p:nvPr/>
        </p:nvSpPr>
        <p:spPr>
          <a:xfrm>
            <a:off x="655320" y="1744980"/>
            <a:ext cx="228600" cy="228600"/>
          </a:xfrm>
          <a:prstGeom prst="ellipse">
            <a:avLst/>
          </a:prstGeom>
          <a:solidFill>
            <a:srgbClr val="10818F"/>
          </a:solidFill>
          <a:ln w="12700">
            <a:solidFill>
              <a:srgbClr val="1081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8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2026A3-16E8-409D-D6A5-D92B415A8B49}"/>
              </a:ext>
            </a:extLst>
          </p:cNvPr>
          <p:cNvSpPr txBox="1"/>
          <p:nvPr/>
        </p:nvSpPr>
        <p:spPr>
          <a:xfrm>
            <a:off x="990600" y="1737360"/>
            <a:ext cx="121920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source header preserved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2E56AF3-A401-F55B-1CBB-F2A130F8B776}"/>
              </a:ext>
            </a:extLst>
          </p:cNvPr>
          <p:cNvCxnSpPr/>
          <p:nvPr/>
        </p:nvCxnSpPr>
        <p:spPr>
          <a:xfrm>
            <a:off x="769620" y="2026920"/>
            <a:ext cx="0" cy="205740"/>
          </a:xfrm>
          <a:prstGeom prst="straightConnector1">
            <a:avLst/>
          </a:prstGeom>
          <a:ln w="27940">
            <a:solidFill>
              <a:srgbClr val="10818F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10B385AF-7BFC-37F3-B963-9ED5D51379FE}"/>
              </a:ext>
            </a:extLst>
          </p:cNvPr>
          <p:cNvSpPr/>
          <p:nvPr/>
        </p:nvSpPr>
        <p:spPr>
          <a:xfrm>
            <a:off x="655320" y="2308860"/>
            <a:ext cx="228600" cy="228600"/>
          </a:xfrm>
          <a:prstGeom prst="ellipse">
            <a:avLst/>
          </a:prstGeom>
          <a:solidFill>
            <a:srgbClr val="10818F"/>
          </a:solidFill>
          <a:ln w="12700">
            <a:solidFill>
              <a:srgbClr val="1081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8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FA41201-856E-1F83-F3AB-4FEF4B381ECE}"/>
              </a:ext>
            </a:extLst>
          </p:cNvPr>
          <p:cNvSpPr txBox="1"/>
          <p:nvPr/>
        </p:nvSpPr>
        <p:spPr>
          <a:xfrm>
            <a:off x="990600" y="2301240"/>
            <a:ext cx="121920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units visible or mapped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C8B59A3-75D3-82CF-84B7-CAD4A71C944E}"/>
              </a:ext>
            </a:extLst>
          </p:cNvPr>
          <p:cNvCxnSpPr/>
          <p:nvPr/>
        </p:nvCxnSpPr>
        <p:spPr>
          <a:xfrm>
            <a:off x="769620" y="2590800"/>
            <a:ext cx="0" cy="205740"/>
          </a:xfrm>
          <a:prstGeom prst="straightConnector1">
            <a:avLst/>
          </a:prstGeom>
          <a:ln w="27940">
            <a:solidFill>
              <a:srgbClr val="10818F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96E1E8FD-BA43-BDD8-0A96-C3FA7D9D567E}"/>
              </a:ext>
            </a:extLst>
          </p:cNvPr>
          <p:cNvSpPr/>
          <p:nvPr/>
        </p:nvSpPr>
        <p:spPr>
          <a:xfrm>
            <a:off x="655320" y="2872740"/>
            <a:ext cx="228600" cy="228600"/>
          </a:xfrm>
          <a:prstGeom prst="ellipse">
            <a:avLst/>
          </a:prstGeom>
          <a:solidFill>
            <a:srgbClr val="10818F"/>
          </a:solidFill>
          <a:ln w="12700">
            <a:solidFill>
              <a:srgbClr val="1081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8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6A9948-B7DB-D259-6129-0DB6C66285A9}"/>
              </a:ext>
            </a:extLst>
          </p:cNvPr>
          <p:cNvSpPr txBox="1"/>
          <p:nvPr/>
        </p:nvSpPr>
        <p:spPr>
          <a:xfrm>
            <a:off x="990600" y="2865120"/>
            <a:ext cx="121920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depth axis aligned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CF60A4A-C7E8-75AA-5960-9A94009E7001}"/>
              </a:ext>
            </a:extLst>
          </p:cNvPr>
          <p:cNvCxnSpPr/>
          <p:nvPr/>
        </p:nvCxnSpPr>
        <p:spPr>
          <a:xfrm>
            <a:off x="769620" y="3154680"/>
            <a:ext cx="0" cy="205740"/>
          </a:xfrm>
          <a:prstGeom prst="straightConnector1">
            <a:avLst/>
          </a:prstGeom>
          <a:ln w="27940">
            <a:solidFill>
              <a:srgbClr val="10818F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FAA17862-123E-7571-0EC9-90F0D658B9F0}"/>
              </a:ext>
            </a:extLst>
          </p:cNvPr>
          <p:cNvSpPr/>
          <p:nvPr/>
        </p:nvSpPr>
        <p:spPr>
          <a:xfrm>
            <a:off x="655320" y="3436620"/>
            <a:ext cx="228600" cy="228600"/>
          </a:xfrm>
          <a:prstGeom prst="ellipse">
            <a:avLst/>
          </a:prstGeom>
          <a:solidFill>
            <a:srgbClr val="10818F"/>
          </a:solidFill>
          <a:ln w="12700">
            <a:solidFill>
              <a:srgbClr val="1081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800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FF1C872-52EA-AB3A-4A9F-BC8495376E68}"/>
              </a:ext>
            </a:extLst>
          </p:cNvPr>
          <p:cNvSpPr txBox="1"/>
          <p:nvPr/>
        </p:nvSpPr>
        <p:spPr>
          <a:xfrm>
            <a:off x="990600" y="3429000"/>
            <a:ext cx="121920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caliper/QC first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8BE1016-200D-8492-DE27-A2CD60464D93}"/>
              </a:ext>
            </a:extLst>
          </p:cNvPr>
          <p:cNvCxnSpPr/>
          <p:nvPr/>
        </p:nvCxnSpPr>
        <p:spPr>
          <a:xfrm>
            <a:off x="769620" y="3718560"/>
            <a:ext cx="0" cy="205740"/>
          </a:xfrm>
          <a:prstGeom prst="straightConnector1">
            <a:avLst/>
          </a:prstGeom>
          <a:ln w="27940">
            <a:solidFill>
              <a:srgbClr val="10818F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5DB93C6C-8397-48AB-3DA5-74886EB44228}"/>
              </a:ext>
            </a:extLst>
          </p:cNvPr>
          <p:cNvSpPr/>
          <p:nvPr/>
        </p:nvSpPr>
        <p:spPr>
          <a:xfrm>
            <a:off x="655320" y="4000500"/>
            <a:ext cx="228600" cy="228600"/>
          </a:xfrm>
          <a:prstGeom prst="ellipse">
            <a:avLst/>
          </a:prstGeom>
          <a:solidFill>
            <a:srgbClr val="10818F"/>
          </a:solidFill>
          <a:ln w="12700">
            <a:solidFill>
              <a:srgbClr val="1081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800" b="1">
                <a:solidFill>
                  <a:srgbClr val="FFFFFF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C1E0DD5-29A1-A7A3-E46F-30EB1194240E}"/>
              </a:ext>
            </a:extLst>
          </p:cNvPr>
          <p:cNvSpPr txBox="1"/>
          <p:nvPr/>
        </p:nvSpPr>
        <p:spPr>
          <a:xfrm>
            <a:off x="990600" y="3992880"/>
            <a:ext cx="121920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derived formula
provenance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E00E0D4-FDE9-39BA-FCF6-364E3687FE74}"/>
              </a:ext>
            </a:extLst>
          </p:cNvPr>
          <p:cNvCxnSpPr/>
          <p:nvPr/>
        </p:nvCxnSpPr>
        <p:spPr>
          <a:xfrm>
            <a:off x="769620" y="4282440"/>
            <a:ext cx="0" cy="205740"/>
          </a:xfrm>
          <a:prstGeom prst="straightConnector1">
            <a:avLst/>
          </a:prstGeom>
          <a:ln w="27940">
            <a:solidFill>
              <a:srgbClr val="10818F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0B1BCF93-F78D-FA62-A196-044296D63C6A}"/>
              </a:ext>
            </a:extLst>
          </p:cNvPr>
          <p:cNvSpPr/>
          <p:nvPr/>
        </p:nvSpPr>
        <p:spPr>
          <a:xfrm>
            <a:off x="655320" y="4564380"/>
            <a:ext cx="228600" cy="228600"/>
          </a:xfrm>
          <a:prstGeom prst="ellipse">
            <a:avLst/>
          </a:prstGeom>
          <a:solidFill>
            <a:srgbClr val="10818F"/>
          </a:solidFill>
          <a:ln w="12700">
            <a:solidFill>
              <a:srgbClr val="1081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800" b="1">
                <a:solidFill>
                  <a:srgbClr val="FFFFFF"/>
                </a:solidFill>
                <a:latin typeface="Arial" panose="020B0604020202020204" pitchFamily="34" charset="0"/>
              </a:rPr>
              <a:t>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BA8036C-E36F-C79B-3F6A-B2CECC7EE855}"/>
              </a:ext>
            </a:extLst>
          </p:cNvPr>
          <p:cNvSpPr txBox="1"/>
          <p:nvPr/>
        </p:nvSpPr>
        <p:spPr>
          <a:xfrm>
            <a:off x="990600" y="4556760"/>
            <a:ext cx="121920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Y-only fields removed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5EE529C-211C-D141-D09F-F9E3ED4796FC}"/>
              </a:ext>
            </a:extLst>
          </p:cNvPr>
          <p:cNvCxnSpPr/>
          <p:nvPr/>
        </p:nvCxnSpPr>
        <p:spPr>
          <a:xfrm>
            <a:off x="769620" y="4846320"/>
            <a:ext cx="0" cy="205740"/>
          </a:xfrm>
          <a:prstGeom prst="straightConnector1">
            <a:avLst/>
          </a:prstGeom>
          <a:ln w="27940">
            <a:solidFill>
              <a:srgbClr val="10818F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F924117B-83D0-A8F1-EB24-E37BD40FC522}"/>
              </a:ext>
            </a:extLst>
          </p:cNvPr>
          <p:cNvSpPr/>
          <p:nvPr/>
        </p:nvSpPr>
        <p:spPr>
          <a:xfrm>
            <a:off x="655320" y="5128260"/>
            <a:ext cx="228600" cy="228600"/>
          </a:xfrm>
          <a:prstGeom prst="ellipse">
            <a:avLst/>
          </a:prstGeom>
          <a:solidFill>
            <a:srgbClr val="10818F"/>
          </a:solidFill>
          <a:ln w="12700">
            <a:solidFill>
              <a:srgbClr val="1081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800" b="1">
                <a:solidFill>
                  <a:srgbClr val="FFFFFF"/>
                </a:solidFill>
                <a:latin typeface="Arial" panose="020B0604020202020204" pitchFamily="34" charset="0"/>
              </a:rPr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7ABB832-A790-3283-4DF3-B0CE610928DD}"/>
              </a:ext>
            </a:extLst>
          </p:cNvPr>
          <p:cNvSpPr txBox="1"/>
          <p:nvPr/>
        </p:nvSpPr>
        <p:spPr>
          <a:xfrm>
            <a:off x="990600" y="5120640"/>
            <a:ext cx="121920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X_allowed matrix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373D7B35-3C98-1603-742D-99FD55909BCD}"/>
              </a:ext>
            </a:extLst>
          </p:cNvPr>
          <p:cNvSpPr/>
          <p:nvPr/>
        </p:nvSpPr>
        <p:spPr>
          <a:xfrm>
            <a:off x="2971800" y="1104900"/>
            <a:ext cx="2552700" cy="7924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39E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9ABE025-ACA7-94A3-F38A-8B173FDEDFE2}"/>
              </a:ext>
            </a:extLst>
          </p:cNvPr>
          <p:cNvSpPr txBox="1"/>
          <p:nvPr/>
        </p:nvSpPr>
        <p:spPr>
          <a:xfrm>
            <a:off x="3093720" y="1196340"/>
            <a:ext cx="2308860" cy="18979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900" b="1">
                <a:solidFill>
                  <a:srgbClr val="239E70"/>
                </a:solidFill>
                <a:latin typeface="Arial" panose="020B0604020202020204" pitchFamily="34" charset="0"/>
              </a:rPr>
              <a:t>GR clean/shale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A8B2728-6CF0-AB89-745F-A63FA5D1D925}"/>
              </a:ext>
            </a:extLst>
          </p:cNvPr>
          <p:cNvSpPr txBox="1"/>
          <p:nvPr/>
        </p:nvSpPr>
        <p:spPr>
          <a:xfrm>
            <a:off x="3093720" y="1424940"/>
            <a:ext cx="230886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GR_clean = low-GR reservoir proxy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5C7D729-54D2-7EC0-EFD5-C9F22A92D8E4}"/>
              </a:ext>
            </a:extLst>
          </p:cNvPr>
          <p:cNvSpPr txBox="1"/>
          <p:nvPr/>
        </p:nvSpPr>
        <p:spPr>
          <a:xfrm>
            <a:off x="3093720" y="1684020"/>
            <a:ext cx="2308860" cy="143629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600" b="1">
                <a:solidFill>
                  <a:srgbClr val="536770"/>
                </a:solidFill>
                <a:latin typeface="Arial" panose="020B0604020202020204" pitchFamily="34" charset="0"/>
              </a:rPr>
              <a:t>input/gate; not hydrate by itself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BA9ABA5-9DBC-61D9-6400-18A3C47705D4}"/>
              </a:ext>
            </a:extLst>
          </p:cNvPr>
          <p:cNvSpPr/>
          <p:nvPr/>
        </p:nvSpPr>
        <p:spPr>
          <a:xfrm>
            <a:off x="5791200" y="1104900"/>
            <a:ext cx="2560320" cy="7924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786C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F99C5A6-089D-91B9-CC52-ED8F92CE22D0}"/>
              </a:ext>
            </a:extLst>
          </p:cNvPr>
          <p:cNvSpPr txBox="1"/>
          <p:nvPr/>
        </p:nvSpPr>
        <p:spPr>
          <a:xfrm>
            <a:off x="5913120" y="1196340"/>
            <a:ext cx="2316480" cy="18979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900" b="1">
                <a:solidFill>
                  <a:srgbClr val="3786CF"/>
                </a:solidFill>
                <a:latin typeface="Arial" panose="020B0604020202020204" pitchFamily="34" charset="0"/>
              </a:rPr>
              <a:t>Density porosity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7E6067C-70B0-3743-BA69-C950CE0C5EFE}"/>
              </a:ext>
            </a:extLst>
          </p:cNvPr>
          <p:cNvSpPr txBox="1"/>
          <p:nvPr/>
        </p:nvSpPr>
        <p:spPr>
          <a:xfrm>
            <a:off x="5913120" y="1424940"/>
            <a:ext cx="231648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it-IT" sz="800" b="1">
                <a:solidFill>
                  <a:srgbClr val="0F2230"/>
                </a:solidFill>
                <a:latin typeface="Arial" panose="020B0604020202020204" pitchFamily="34" charset="0"/>
              </a:rPr>
              <a:t>phi_D = (rho_ma - RHOB)/(rho_ma - rho_f)</a:t>
            </a:r>
            <a:endParaRPr lang="en-US" sz="800" b="1">
              <a:solidFill>
                <a:srgbClr val="0F2230"/>
              </a:solidFill>
              <a:latin typeface="Arial" panose="020B060402020202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731B83E-76B5-0CCB-DE12-8C71483F5F11}"/>
              </a:ext>
            </a:extLst>
          </p:cNvPr>
          <p:cNvSpPr txBox="1"/>
          <p:nvPr/>
        </p:nvSpPr>
        <p:spPr>
          <a:xfrm>
            <a:off x="5913120" y="1684020"/>
            <a:ext cx="2316480" cy="143629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600" b="1">
                <a:solidFill>
                  <a:srgbClr val="536770"/>
                </a:solidFill>
                <a:latin typeface="Arial" panose="020B0604020202020204" pitchFamily="34" charset="0"/>
              </a:rPr>
              <a:t>requires matrix/fluid assumptions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E2A3E4BB-85BA-A574-CDFD-D60238E28E83}"/>
              </a:ext>
            </a:extLst>
          </p:cNvPr>
          <p:cNvSpPr/>
          <p:nvPr/>
        </p:nvSpPr>
        <p:spPr>
          <a:xfrm>
            <a:off x="2971800" y="2087880"/>
            <a:ext cx="2552700" cy="7848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937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BFAABC-431F-BEA6-F6C9-118AF62FB5CF}"/>
              </a:ext>
            </a:extLst>
          </p:cNvPr>
          <p:cNvSpPr txBox="1"/>
          <p:nvPr/>
        </p:nvSpPr>
        <p:spPr>
          <a:xfrm>
            <a:off x="3093720" y="2179320"/>
            <a:ext cx="2308860" cy="18979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900" b="1">
                <a:solidFill>
                  <a:srgbClr val="D9373A"/>
                </a:solidFill>
                <a:latin typeface="Arial" panose="020B0604020202020204" pitchFamily="34" charset="0"/>
              </a:rPr>
              <a:t>Resistivity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C3F0363-8543-7269-A8EF-4C85956FCDFC}"/>
              </a:ext>
            </a:extLst>
          </p:cNvPr>
          <p:cNvSpPr txBox="1"/>
          <p:nvPr/>
        </p:nvSpPr>
        <p:spPr>
          <a:xfrm>
            <a:off x="3093720" y="2407920"/>
            <a:ext cx="230886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log_Rt = log10(Rt); Archie only if a,m,n,Rw approved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2C8E6D1-7E7E-C398-F8C3-B7F5AC669F82}"/>
              </a:ext>
            </a:extLst>
          </p:cNvPr>
          <p:cNvSpPr txBox="1"/>
          <p:nvPr/>
        </p:nvSpPr>
        <p:spPr>
          <a:xfrm>
            <a:off x="3093720" y="2659380"/>
            <a:ext cx="2308860" cy="143629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600" b="1">
                <a:solidFill>
                  <a:srgbClr val="536770"/>
                </a:solidFill>
                <a:latin typeface="Arial" panose="020B0604020202020204" pitchFamily="34" charset="0"/>
              </a:rPr>
              <a:t>hydrate support, not proof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AF45965C-3C5B-3AFB-55E7-9C8F9904B8B7}"/>
              </a:ext>
            </a:extLst>
          </p:cNvPr>
          <p:cNvSpPr/>
          <p:nvPr/>
        </p:nvSpPr>
        <p:spPr>
          <a:xfrm>
            <a:off x="5791200" y="2087880"/>
            <a:ext cx="2560320" cy="7848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705FC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42D2F5C-0032-25E1-E8F5-95BB11C09C4F}"/>
              </a:ext>
            </a:extLst>
          </p:cNvPr>
          <p:cNvSpPr txBox="1"/>
          <p:nvPr/>
        </p:nvSpPr>
        <p:spPr>
          <a:xfrm>
            <a:off x="5913120" y="2179320"/>
            <a:ext cx="2316480" cy="18979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900" b="1">
                <a:solidFill>
                  <a:srgbClr val="705FC3"/>
                </a:solidFill>
                <a:latin typeface="Arial" panose="020B0604020202020204" pitchFamily="34" charset="0"/>
              </a:rPr>
              <a:t>Vp from sonic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E842152-6945-4D50-F684-17C4DDA04504}"/>
              </a:ext>
            </a:extLst>
          </p:cNvPr>
          <p:cNvSpPr txBox="1"/>
          <p:nvPr/>
        </p:nvSpPr>
        <p:spPr>
          <a:xfrm>
            <a:off x="5913120" y="2407920"/>
            <a:ext cx="231648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Vp = 304800 / DT_us_per_ft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B4D166C-197F-7FC5-8B0D-2631C505711C}"/>
              </a:ext>
            </a:extLst>
          </p:cNvPr>
          <p:cNvSpPr txBox="1"/>
          <p:nvPr/>
        </p:nvSpPr>
        <p:spPr>
          <a:xfrm>
            <a:off x="5913120" y="2659380"/>
            <a:ext cx="2316480" cy="143629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600" b="1">
                <a:solidFill>
                  <a:srgbClr val="536770"/>
                </a:solidFill>
                <a:latin typeface="Arial" panose="020B0604020202020204" pitchFamily="34" charset="0"/>
              </a:rPr>
              <a:t>unit conversion must be explicit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E5465651-4304-DD37-EDBD-B4DD8573A29B}"/>
              </a:ext>
            </a:extLst>
          </p:cNvPr>
          <p:cNvSpPr/>
          <p:nvPr/>
        </p:nvSpPr>
        <p:spPr>
          <a:xfrm>
            <a:off x="2971800" y="3063240"/>
            <a:ext cx="2552700" cy="7924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705FC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509F81D-623F-82D8-B854-83224966C002}"/>
              </a:ext>
            </a:extLst>
          </p:cNvPr>
          <p:cNvSpPr txBox="1"/>
          <p:nvPr/>
        </p:nvSpPr>
        <p:spPr>
          <a:xfrm>
            <a:off x="3093720" y="3154680"/>
            <a:ext cx="2308860" cy="18979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900" b="1">
                <a:solidFill>
                  <a:srgbClr val="705FC3"/>
                </a:solidFill>
                <a:latin typeface="Arial" panose="020B0604020202020204" pitchFamily="34" charset="0"/>
              </a:rPr>
              <a:t>Vs where available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4797F19-4A70-57E3-4CC3-C35974C1F357}"/>
              </a:ext>
            </a:extLst>
          </p:cNvPr>
          <p:cNvSpPr txBox="1"/>
          <p:nvPr/>
        </p:nvSpPr>
        <p:spPr>
          <a:xfrm>
            <a:off x="3093720" y="3383280"/>
            <a:ext cx="230886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Vs from shear sonic or approved source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6083D3A-9443-3015-8C35-74CC6D69B8EA}"/>
              </a:ext>
            </a:extLst>
          </p:cNvPr>
          <p:cNvSpPr txBox="1"/>
          <p:nvPr/>
        </p:nvSpPr>
        <p:spPr>
          <a:xfrm>
            <a:off x="3093720" y="3642360"/>
            <a:ext cx="2308860" cy="143629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600" b="1">
                <a:solidFill>
                  <a:srgbClr val="536770"/>
                </a:solidFill>
                <a:latin typeface="Arial" panose="020B0604020202020204" pitchFamily="34" charset="0"/>
              </a:rPr>
              <a:t>missingness flag if absent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D55E64D1-3ACE-C7D7-B0EC-A7566912D6D3}"/>
              </a:ext>
            </a:extLst>
          </p:cNvPr>
          <p:cNvSpPr/>
          <p:nvPr/>
        </p:nvSpPr>
        <p:spPr>
          <a:xfrm>
            <a:off x="5791200" y="3063240"/>
            <a:ext cx="2560320" cy="7924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705FC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A6DA423-A5EE-E1AC-1200-92F3BA4EFC96}"/>
              </a:ext>
            </a:extLst>
          </p:cNvPr>
          <p:cNvSpPr txBox="1"/>
          <p:nvPr/>
        </p:nvSpPr>
        <p:spPr>
          <a:xfrm>
            <a:off x="5913120" y="3154680"/>
            <a:ext cx="2316480" cy="18979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900" b="1">
                <a:solidFill>
                  <a:srgbClr val="705FC3"/>
                </a:solidFill>
                <a:latin typeface="Arial" panose="020B0604020202020204" pitchFamily="34" charset="0"/>
              </a:rPr>
              <a:t>Vp/Vs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318BFAC-EDF3-8438-34DC-17CC596096B5}"/>
              </a:ext>
            </a:extLst>
          </p:cNvPr>
          <p:cNvSpPr txBox="1"/>
          <p:nvPr/>
        </p:nvSpPr>
        <p:spPr>
          <a:xfrm>
            <a:off x="5913120" y="3383280"/>
            <a:ext cx="231648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VpVs = Vp / Vs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48BD93B-4D47-E902-4029-5CDDBD663AEF}"/>
              </a:ext>
            </a:extLst>
          </p:cNvPr>
          <p:cNvSpPr txBox="1"/>
          <p:nvPr/>
        </p:nvSpPr>
        <p:spPr>
          <a:xfrm>
            <a:off x="5913120" y="3642360"/>
            <a:ext cx="2316480" cy="143629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600" b="1">
                <a:solidFill>
                  <a:srgbClr val="536770"/>
                </a:solidFill>
                <a:latin typeface="Arial" panose="020B0604020202020204" pitchFamily="34" charset="0"/>
              </a:rPr>
              <a:t>derived crossplot feature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74929AB4-9B3E-F25F-85A1-883DE02695EA}"/>
              </a:ext>
            </a:extLst>
          </p:cNvPr>
          <p:cNvSpPr/>
          <p:nvPr/>
        </p:nvSpPr>
        <p:spPr>
          <a:xfrm>
            <a:off x="2971800" y="4046220"/>
            <a:ext cx="2552700" cy="7848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81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2492EB5-FE99-48B7-D1EE-3668CCFB8389}"/>
              </a:ext>
            </a:extLst>
          </p:cNvPr>
          <p:cNvSpPr txBox="1"/>
          <p:nvPr/>
        </p:nvSpPr>
        <p:spPr>
          <a:xfrm>
            <a:off x="3093720" y="4137660"/>
            <a:ext cx="2308860" cy="18979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900" b="1">
                <a:solidFill>
                  <a:srgbClr val="10818F"/>
                </a:solidFill>
                <a:latin typeface="Arial" panose="020B0604020202020204" pitchFamily="34" charset="0"/>
              </a:rPr>
              <a:t>Acoustic impedance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12606D0-C136-B941-BEE1-1D2565954346}"/>
              </a:ext>
            </a:extLst>
          </p:cNvPr>
          <p:cNvSpPr txBox="1"/>
          <p:nvPr/>
        </p:nvSpPr>
        <p:spPr>
          <a:xfrm>
            <a:off x="3093720" y="4366260"/>
            <a:ext cx="230886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AI = RHOB * Vp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5F97532-E7D3-A40B-F55D-61C3F3B51000}"/>
              </a:ext>
            </a:extLst>
          </p:cNvPr>
          <p:cNvSpPr txBox="1"/>
          <p:nvPr/>
        </p:nvSpPr>
        <p:spPr>
          <a:xfrm>
            <a:off x="3093720" y="4617720"/>
            <a:ext cx="2308860" cy="143629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600" b="1">
                <a:solidFill>
                  <a:srgbClr val="536770"/>
                </a:solidFill>
                <a:latin typeface="Arial" panose="020B0604020202020204" pitchFamily="34" charset="0"/>
              </a:rPr>
              <a:t>inherits density and sonic QC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C350C672-FC61-CEC5-18E6-B4B12922F619}"/>
              </a:ext>
            </a:extLst>
          </p:cNvPr>
          <p:cNvSpPr/>
          <p:nvPr/>
        </p:nvSpPr>
        <p:spPr>
          <a:xfrm>
            <a:off x="5791200" y="4046220"/>
            <a:ext cx="2560320" cy="7848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81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C9AE234-0487-C27B-1DA7-8FDA60CD8879}"/>
              </a:ext>
            </a:extLst>
          </p:cNvPr>
          <p:cNvSpPr txBox="1"/>
          <p:nvPr/>
        </p:nvSpPr>
        <p:spPr>
          <a:xfrm>
            <a:off x="5913120" y="4137660"/>
            <a:ext cx="2316480" cy="18979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900" b="1">
                <a:solidFill>
                  <a:srgbClr val="10818F"/>
                </a:solidFill>
                <a:latin typeface="Arial" panose="020B0604020202020204" pitchFamily="34" charset="0"/>
              </a:rPr>
              <a:t>Elastic moduli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F8BB9F5-1CC2-5F58-7FA0-72032F40CE9B}"/>
              </a:ext>
            </a:extLst>
          </p:cNvPr>
          <p:cNvSpPr txBox="1"/>
          <p:nvPr/>
        </p:nvSpPr>
        <p:spPr>
          <a:xfrm>
            <a:off x="5913120" y="4366260"/>
            <a:ext cx="231648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G = rho*Vs^2; K = rho*(Vp^2 - 4Vs^2/3)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9248DFC-136B-7E24-51F0-C21FA67C3FFA}"/>
              </a:ext>
            </a:extLst>
          </p:cNvPr>
          <p:cNvSpPr txBox="1"/>
          <p:nvPr/>
        </p:nvSpPr>
        <p:spPr>
          <a:xfrm>
            <a:off x="5913120" y="4617720"/>
            <a:ext cx="2316480" cy="143629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600" b="1">
                <a:solidFill>
                  <a:srgbClr val="536770"/>
                </a:solidFill>
                <a:latin typeface="Arial" panose="020B0604020202020204" pitchFamily="34" charset="0"/>
              </a:rPr>
              <a:t>unit-consistent physics only</a:t>
            </a: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30F0F746-300F-D357-D700-E550357F29F8}"/>
              </a:ext>
            </a:extLst>
          </p:cNvPr>
          <p:cNvSpPr/>
          <p:nvPr/>
        </p:nvSpPr>
        <p:spPr>
          <a:xfrm>
            <a:off x="2971800" y="5013960"/>
            <a:ext cx="2552700" cy="7848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81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3F8AB64-EE54-4ED8-5148-4B28D17087F3}"/>
              </a:ext>
            </a:extLst>
          </p:cNvPr>
          <p:cNvSpPr txBox="1"/>
          <p:nvPr/>
        </p:nvSpPr>
        <p:spPr>
          <a:xfrm>
            <a:off x="3093720" y="5105400"/>
            <a:ext cx="2308860" cy="18979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900" b="1">
                <a:solidFill>
                  <a:srgbClr val="10818F"/>
                </a:solidFill>
                <a:latin typeface="Arial" panose="020B0604020202020204" pitchFamily="34" charset="0"/>
              </a:rPr>
              <a:t>lambda-rho / mu-rho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9D59249-5523-EB6E-6731-67A39A1A73DA}"/>
              </a:ext>
            </a:extLst>
          </p:cNvPr>
          <p:cNvSpPr txBox="1"/>
          <p:nvPr/>
        </p:nvSpPr>
        <p:spPr>
          <a:xfrm>
            <a:off x="3093720" y="5334000"/>
            <a:ext cx="230886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lambda_rho = rho*(Vp^2 - 2Vs^2); mu_rho = rho*Vs^2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1656B03-60F0-A753-A230-745D16DCAD94}"/>
              </a:ext>
            </a:extLst>
          </p:cNvPr>
          <p:cNvSpPr txBox="1"/>
          <p:nvPr/>
        </p:nvSpPr>
        <p:spPr>
          <a:xfrm>
            <a:off x="3093720" y="5585460"/>
            <a:ext cx="2308860" cy="143629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600" b="1">
                <a:solidFill>
                  <a:srgbClr val="536770"/>
                </a:solidFill>
                <a:latin typeface="Arial" panose="020B0604020202020204" pitchFamily="34" charset="0"/>
              </a:rPr>
              <a:t>elastic contrast, not label</a:t>
            </a: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7B5E52D6-CC53-B375-1FA4-A30C36779E97}"/>
              </a:ext>
            </a:extLst>
          </p:cNvPr>
          <p:cNvSpPr/>
          <p:nvPr/>
        </p:nvSpPr>
        <p:spPr>
          <a:xfrm>
            <a:off x="5791200" y="5013960"/>
            <a:ext cx="2560320" cy="7848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0A12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0902319-8644-990D-6189-2D3D9DDB5C75}"/>
              </a:ext>
            </a:extLst>
          </p:cNvPr>
          <p:cNvSpPr txBox="1"/>
          <p:nvPr/>
        </p:nvSpPr>
        <p:spPr>
          <a:xfrm>
            <a:off x="5913120" y="5105400"/>
            <a:ext cx="2316480" cy="18979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900" b="1">
                <a:solidFill>
                  <a:srgbClr val="E0A12D"/>
                </a:solidFill>
                <a:latin typeface="Arial" panose="020B0604020202020204" pitchFamily="34" charset="0"/>
              </a:rPr>
              <a:t>NMR-density separation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33FCE10-AF22-DEB9-49EF-5BC819D2833D}"/>
              </a:ext>
            </a:extLst>
          </p:cNvPr>
          <p:cNvSpPr txBox="1"/>
          <p:nvPr/>
        </p:nvSpPr>
        <p:spPr>
          <a:xfrm>
            <a:off x="5913120" y="5334000"/>
            <a:ext cx="231648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sep = phi_D - NMRPHI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DB88852-3748-6A52-1980-9A91B7C46401}"/>
              </a:ext>
            </a:extLst>
          </p:cNvPr>
          <p:cNvSpPr txBox="1"/>
          <p:nvPr/>
        </p:nvSpPr>
        <p:spPr>
          <a:xfrm>
            <a:off x="5913120" y="5585460"/>
            <a:ext cx="2316480" cy="143629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600" b="1">
                <a:solidFill>
                  <a:srgbClr val="536770"/>
                </a:solidFill>
                <a:latin typeface="Arial" panose="020B0604020202020204" pitchFamily="34" charset="0"/>
              </a:rPr>
              <a:t>NMR_SAT/Sgh/Sh remain Y-only</a:t>
            </a: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329D9F08-126F-3EF8-247D-C7E341F746BE}"/>
              </a:ext>
            </a:extLst>
          </p:cNvPr>
          <p:cNvSpPr/>
          <p:nvPr/>
        </p:nvSpPr>
        <p:spPr>
          <a:xfrm>
            <a:off x="8763000" y="1104900"/>
            <a:ext cx="2971800" cy="4914900"/>
          </a:xfrm>
          <a:prstGeom prst="roundRect">
            <a:avLst/>
          </a:prstGeom>
          <a:solidFill>
            <a:srgbClr val="F8FCFD"/>
          </a:solidFill>
          <a:ln w="15240">
            <a:solidFill>
              <a:srgbClr val="E0A12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09A9AA6-2ADD-5C1F-5346-649802AE4789}"/>
              </a:ext>
            </a:extLst>
          </p:cNvPr>
          <p:cNvSpPr txBox="1"/>
          <p:nvPr/>
        </p:nvSpPr>
        <p:spPr>
          <a:xfrm>
            <a:off x="8976360" y="1325880"/>
            <a:ext cx="2286000" cy="266740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1400" b="1">
                <a:solidFill>
                  <a:srgbClr val="E0A12D"/>
                </a:solidFill>
                <a:latin typeface="Arial" panose="020B0604020202020204" pitchFamily="34" charset="0"/>
              </a:rPr>
              <a:t>Stability context chip</a:t>
            </a:r>
          </a:p>
        </p:txBody>
      </p: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AE991C76-1F7D-F5EA-F950-EA45B1B04AD5}"/>
              </a:ext>
            </a:extLst>
          </p:cNvPr>
          <p:cNvSpPr/>
          <p:nvPr/>
        </p:nvSpPr>
        <p:spPr>
          <a:xfrm>
            <a:off x="8976360" y="1760220"/>
            <a:ext cx="2552700" cy="8153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0A12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C80245E-E9FE-33FF-B3E3-B75E79C339AB}"/>
              </a:ext>
            </a:extLst>
          </p:cNvPr>
          <p:cNvSpPr txBox="1"/>
          <p:nvPr/>
        </p:nvSpPr>
        <p:spPr>
          <a:xfrm>
            <a:off x="9098280" y="1851660"/>
            <a:ext cx="2308860" cy="18979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900" b="1">
                <a:solidFill>
                  <a:srgbClr val="E0A12D"/>
                </a:solidFill>
                <a:latin typeface="Arial" panose="020B0604020202020204" pitchFamily="34" charset="0"/>
              </a:rPr>
              <a:t>Hydrostatic pressure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F0A67CF-9C82-D2AF-8B03-0A515E6F269E}"/>
              </a:ext>
            </a:extLst>
          </p:cNvPr>
          <p:cNvSpPr txBox="1"/>
          <p:nvPr/>
        </p:nvSpPr>
        <p:spPr>
          <a:xfrm>
            <a:off x="9098280" y="2080260"/>
            <a:ext cx="230886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pl-PL" sz="800" b="1">
                <a:solidFill>
                  <a:srgbClr val="0F2230"/>
                </a:solidFill>
                <a:latin typeface="Arial" panose="020B0604020202020204" pitchFamily="34" charset="0"/>
              </a:rPr>
              <a:t>P_abs(z) = P_surface + rho_w*g*z_m/1e6</a:t>
            </a:r>
            <a:endParaRPr lang="en-US" sz="800" b="1">
              <a:solidFill>
                <a:srgbClr val="0F2230"/>
              </a:solidFill>
              <a:latin typeface="Arial" panose="020B0604020202020204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B2F765D-EE6E-75EC-38BE-2000B0C653EE}"/>
              </a:ext>
            </a:extLst>
          </p:cNvPr>
          <p:cNvSpPr txBox="1"/>
          <p:nvPr/>
        </p:nvSpPr>
        <p:spPr>
          <a:xfrm>
            <a:off x="9098280" y="2362200"/>
            <a:ext cx="2308860" cy="143629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600" b="1">
                <a:solidFill>
                  <a:srgbClr val="536770"/>
                </a:solidFill>
                <a:latin typeface="Arial" panose="020B0604020202020204" pitchFamily="34" charset="0"/>
              </a:rPr>
              <a:t>assumption, not measured reservoir pressure</a:t>
            </a:r>
          </a:p>
        </p:txBody>
      </p:sp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142C5D20-D61D-50E7-0055-BD609BED645D}"/>
              </a:ext>
            </a:extLst>
          </p:cNvPr>
          <p:cNvSpPr/>
          <p:nvPr/>
        </p:nvSpPr>
        <p:spPr>
          <a:xfrm>
            <a:off x="8976360" y="2834640"/>
            <a:ext cx="2552700" cy="8001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0A12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2D585C5-5ABA-235D-EAA7-C456881B8A62}"/>
              </a:ext>
            </a:extLst>
          </p:cNvPr>
          <p:cNvSpPr txBox="1"/>
          <p:nvPr/>
        </p:nvSpPr>
        <p:spPr>
          <a:xfrm>
            <a:off x="9098280" y="2926080"/>
            <a:ext cx="2308860" cy="18979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900" b="1">
                <a:solidFill>
                  <a:srgbClr val="E0A12D"/>
                </a:solidFill>
                <a:latin typeface="Arial" panose="020B0604020202020204" pitchFamily="34" charset="0"/>
              </a:rPr>
              <a:t>Phase check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87D4CDA-D277-DADE-EAAC-A5E8D1AFF949}"/>
              </a:ext>
            </a:extLst>
          </p:cNvPr>
          <p:cNvSpPr txBox="1"/>
          <p:nvPr/>
        </p:nvSpPr>
        <p:spPr>
          <a:xfrm>
            <a:off x="9098280" y="3154680"/>
            <a:ext cx="230886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fr-FR" sz="800" b="1">
                <a:solidFill>
                  <a:srgbClr val="0F2230"/>
                </a:solidFill>
                <a:latin typeface="Arial" panose="020B0604020202020204" pitchFamily="34" charset="0"/>
              </a:rPr>
              <a:t>admissible = T_model &lt;= T_eq(P, CH4, 5 ppt)</a:t>
            </a:r>
            <a:endParaRPr lang="en-US" sz="800" b="1">
              <a:solidFill>
                <a:srgbClr val="0F2230"/>
              </a:solidFill>
              <a:latin typeface="Arial" panose="020B0604020202020204" pitchFamily="34" charset="0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92E9FB6-F94A-CAD2-019E-FDAB894EE7AC}"/>
              </a:ext>
            </a:extLst>
          </p:cNvPr>
          <p:cNvSpPr txBox="1"/>
          <p:nvPr/>
        </p:nvSpPr>
        <p:spPr>
          <a:xfrm>
            <a:off x="9098280" y="3421380"/>
            <a:ext cx="2308860" cy="143629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600" b="1">
                <a:solidFill>
                  <a:srgbClr val="536770"/>
                </a:solidFill>
                <a:latin typeface="Arial" panose="020B0604020202020204" pitchFamily="34" charset="0"/>
              </a:rPr>
              <a:t>context/mask only; no occurrence claim</a:t>
            </a:r>
          </a:p>
        </p:txBody>
      </p: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35E70B63-0714-3FF2-3558-9397AF856B5C}"/>
              </a:ext>
            </a:extLst>
          </p:cNvPr>
          <p:cNvSpPr/>
          <p:nvPr/>
        </p:nvSpPr>
        <p:spPr>
          <a:xfrm>
            <a:off x="8976360" y="4084320"/>
            <a:ext cx="2552700" cy="1249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937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59A120A-3B27-81BA-BC67-A82943F75897}"/>
              </a:ext>
            </a:extLst>
          </p:cNvPr>
          <p:cNvSpPr txBox="1"/>
          <p:nvPr/>
        </p:nvSpPr>
        <p:spPr>
          <a:xfrm>
            <a:off x="9174480" y="4297680"/>
            <a:ext cx="1905000" cy="266740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1400" b="1">
                <a:solidFill>
                  <a:srgbClr val="D9373A"/>
                </a:solidFill>
                <a:latin typeface="Arial" panose="020B0604020202020204" pitchFamily="34" charset="0"/>
              </a:rPr>
              <a:t>Leakage stop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73AE007-EABE-60C7-D837-0F3FBF24D30B}"/>
              </a:ext>
            </a:extLst>
          </p:cNvPr>
          <p:cNvSpPr txBox="1"/>
          <p:nvPr/>
        </p:nvSpPr>
        <p:spPr>
          <a:xfrm>
            <a:off x="9174480" y="4602480"/>
            <a:ext cx="1981200" cy="666849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1000" b="1">
                <a:solidFill>
                  <a:srgbClr val="0F2230"/>
                </a:solidFill>
                <a:latin typeface="Arial" panose="020B0604020202020204" pitchFamily="34" charset="0"/>
              </a:rPr>
              <a:t>Sgh, S_h, Sh, NMR_SAT, hydrate saturation, Swr/S_wr, and phase labels stay out of X_allowed.</a:t>
            </a:r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222F750D-7173-5FD5-4F63-E659A89A35BF}"/>
              </a:ext>
            </a:extLst>
          </p:cNvPr>
          <p:cNvCxnSpPr/>
          <p:nvPr/>
        </p:nvCxnSpPr>
        <p:spPr>
          <a:xfrm>
            <a:off x="411480" y="6416040"/>
            <a:ext cx="11369040" cy="0"/>
          </a:xfrm>
          <a:prstGeom prst="straightConnector1">
            <a:avLst/>
          </a:prstGeom>
          <a:ln w="12700">
            <a:solidFill>
              <a:srgbClr val="ADCF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FD602D0F-FCD2-DB3B-FAFB-FFDC0DF68EFE}"/>
              </a:ext>
            </a:extLst>
          </p:cNvPr>
          <p:cNvSpPr txBox="1"/>
          <p:nvPr/>
        </p:nvSpPr>
        <p:spPr>
          <a:xfrm>
            <a:off x="441960" y="6477000"/>
            <a:ext cx="10820400" cy="15901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700">
                <a:solidFill>
                  <a:srgbClr val="536770"/>
                </a:solidFill>
                <a:latin typeface="Arial" panose="020B0604020202020204" pitchFamily="34" charset="0"/>
              </a:rPr>
              <a:t>Sources: processing slide 6 direction, WELL_LOG_REQUIREMENTS_MAP, approved intake spec, stability calculation plan, and parameter evidence registry.</a:t>
            </a:r>
          </a:p>
        </p:txBody>
      </p:sp>
    </p:spTree>
    <p:extLst>
      <p:ext uri="{BB962C8B-B14F-4D97-AF65-F5344CB8AC3E}">
        <p14:creationId xmlns:p14="http://schemas.microsoft.com/office/powerpoint/2010/main" val="20906097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4789702-0B6C-2604-1214-D3B31D2A054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43BAC18-45CB-3D0A-49DE-871AAB71C1A9}"/>
              </a:ext>
            </a:extLst>
          </p:cNvPr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0818F"/>
          </a:solidFill>
          <a:ln w="6350">
            <a:solidFill>
              <a:srgbClr val="1081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5643C6-0F8B-264A-D98A-7B4E7B6080C1}"/>
              </a:ext>
            </a:extLst>
          </p:cNvPr>
          <p:cNvSpPr txBox="1"/>
          <p:nvPr/>
        </p:nvSpPr>
        <p:spPr>
          <a:xfrm>
            <a:off x="457200" y="289560"/>
            <a:ext cx="8991600" cy="389850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2200" b="1">
                <a:solidFill>
                  <a:srgbClr val="0F2230"/>
                </a:solidFill>
                <a:latin typeface="Arial" panose="020B0604020202020204" pitchFamily="34" charset="0"/>
              </a:rPr>
              <a:t>Complex ML Runtime Architecture V5.5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08055F5-B69A-0015-EB42-7AC40EC25B64}"/>
              </a:ext>
            </a:extLst>
          </p:cNvPr>
          <p:cNvSpPr txBox="1"/>
          <p:nvPr/>
        </p:nvSpPr>
        <p:spPr>
          <a:xfrm>
            <a:off x="480060" y="693420"/>
            <a:ext cx="10591800" cy="20518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1000">
                <a:solidFill>
                  <a:srgbClr val="536770"/>
                </a:solidFill>
                <a:latin typeface="Arial" panose="020B0604020202020204" pitchFamily="34" charset="0"/>
              </a:rPr>
              <a:t>Feature groups, X_allowed, target-only rail, whole-well split, train-only preprocessing, baselines, ANN/Keras candidate, dual heads, validation, and reviewed outputs remain intact.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CB57CE8-1932-C7A2-41BC-B9A404EF3E15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01040"/>
            <a:ext cx="12192000" cy="57150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C3C12B5-C4F3-4704-969D-957BE66634E4}"/>
              </a:ext>
            </a:extLst>
          </p:cNvPr>
          <p:cNvCxnSpPr/>
          <p:nvPr/>
        </p:nvCxnSpPr>
        <p:spPr>
          <a:xfrm>
            <a:off x="411480" y="6416040"/>
            <a:ext cx="11369040" cy="0"/>
          </a:xfrm>
          <a:prstGeom prst="straightConnector1">
            <a:avLst/>
          </a:prstGeom>
          <a:ln w="12700">
            <a:solidFill>
              <a:srgbClr val="ADCF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FD8BCFC-C622-29BC-7F66-7059D4F21587}"/>
              </a:ext>
            </a:extLst>
          </p:cNvPr>
          <p:cNvSpPr txBox="1"/>
          <p:nvPr/>
        </p:nvSpPr>
        <p:spPr>
          <a:xfrm>
            <a:off x="441960" y="6477000"/>
            <a:ext cx="10820400" cy="15901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700">
                <a:solidFill>
                  <a:srgbClr val="536770"/>
                </a:solidFill>
                <a:latin typeface="Arial" panose="020B0604020202020204" pitchFamily="34" charset="0"/>
              </a:rPr>
              <a:t>ML runtime detail inside the deck: X_allowed, Y-only rail, split controls, output heads, validation, and reviewed outputs.</a:t>
            </a:r>
          </a:p>
        </p:txBody>
      </p:sp>
    </p:spTree>
    <p:extLst>
      <p:ext uri="{BB962C8B-B14F-4D97-AF65-F5344CB8AC3E}">
        <p14:creationId xmlns:p14="http://schemas.microsoft.com/office/powerpoint/2010/main" val="11885027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FAB1776-169C-6A5D-4332-2058D585DA9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7BC7081-8826-4380-A7C2-AEF6DF928F29}"/>
              </a:ext>
            </a:extLst>
          </p:cNvPr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0818F"/>
          </a:solidFill>
          <a:ln w="6350">
            <a:solidFill>
              <a:srgbClr val="1081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5671B4-64E5-033A-4CE1-05EC72E647DC}"/>
              </a:ext>
            </a:extLst>
          </p:cNvPr>
          <p:cNvSpPr txBox="1"/>
          <p:nvPr/>
        </p:nvSpPr>
        <p:spPr>
          <a:xfrm>
            <a:off x="457200" y="289560"/>
            <a:ext cx="8991600" cy="389850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2200" b="1">
                <a:solidFill>
                  <a:srgbClr val="0F2230"/>
                </a:solidFill>
                <a:latin typeface="Arial" panose="020B0604020202020204" pitchFamily="34" charset="0"/>
              </a:rPr>
              <a:t>Stability-To-ML Overlay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32B929-6650-FDC2-8B6E-A218E44E6574}"/>
              </a:ext>
            </a:extLst>
          </p:cNvPr>
          <p:cNvSpPr txBox="1"/>
          <p:nvPr/>
        </p:nvSpPr>
        <p:spPr>
          <a:xfrm>
            <a:off x="480060" y="693420"/>
            <a:ext cx="10591800" cy="20518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1000">
                <a:solidFill>
                  <a:srgbClr val="536770"/>
                </a:solidFill>
                <a:latin typeface="Arial" panose="020B0604020202020204" pitchFamily="34" charset="0"/>
              </a:rPr>
              <a:t>Stability can help review the model as context, mask, confidence, and caveat. It is not occurrence proof or a saturation label.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5DC5122-6D62-5097-CBA9-893F029BA526}"/>
              </a:ext>
            </a:extLst>
          </p:cNvPr>
          <p:cNvSpPr/>
          <p:nvPr/>
        </p:nvSpPr>
        <p:spPr>
          <a:xfrm>
            <a:off x="533400" y="1181100"/>
            <a:ext cx="2743200" cy="4305300"/>
          </a:xfrm>
          <a:prstGeom prst="roundRect">
            <a:avLst/>
          </a:prstGeom>
          <a:solidFill>
            <a:srgbClr val="F8FCFD"/>
          </a:solidFill>
          <a:ln w="15240">
            <a:solidFill>
              <a:srgbClr val="3786C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DE8231-C23C-C300-BC56-A7EFC1094534}"/>
              </a:ext>
            </a:extLst>
          </p:cNvPr>
          <p:cNvSpPr txBox="1"/>
          <p:nvPr/>
        </p:nvSpPr>
        <p:spPr>
          <a:xfrm>
            <a:off x="746760" y="1371600"/>
            <a:ext cx="2286000" cy="251351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1300" b="1">
                <a:solidFill>
                  <a:srgbClr val="3786CF"/>
                </a:solidFill>
                <a:latin typeface="Arial" panose="020B0604020202020204" pitchFamily="34" charset="0"/>
              </a:rPr>
              <a:t>Public stability screen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B9D57FF-F20C-38A8-5EE6-BD0683EE0648}"/>
              </a:ext>
            </a:extLst>
          </p:cNvPr>
          <p:cNvSpPr/>
          <p:nvPr/>
        </p:nvSpPr>
        <p:spPr>
          <a:xfrm>
            <a:off x="762000" y="1828800"/>
            <a:ext cx="2286000" cy="533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DCF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270188-7CDF-8296-8BA1-33C09F9820FF}"/>
              </a:ext>
            </a:extLst>
          </p:cNvPr>
          <p:cNvSpPr txBox="1"/>
          <p:nvPr/>
        </p:nvSpPr>
        <p:spPr>
          <a:xfrm>
            <a:off x="914400" y="1920240"/>
            <a:ext cx="685800" cy="23596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1200" b="1">
                <a:solidFill>
                  <a:srgbClr val="3786CF"/>
                </a:solidFill>
                <a:latin typeface="Arial" panose="020B0604020202020204" pitchFamily="34" charset="0"/>
              </a:rPr>
              <a:t>8,084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52AA68-6869-DBFA-CF2A-98A8520C7BD0}"/>
              </a:ext>
            </a:extLst>
          </p:cNvPr>
          <p:cNvSpPr txBox="1"/>
          <p:nvPr/>
        </p:nvSpPr>
        <p:spPr>
          <a:xfrm>
            <a:off x="1676400" y="1943100"/>
            <a:ext cx="118110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public screen rows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DEEE47A-F885-597F-AC19-F41F6841A01E}"/>
              </a:ext>
            </a:extLst>
          </p:cNvPr>
          <p:cNvSpPr/>
          <p:nvPr/>
        </p:nvSpPr>
        <p:spPr>
          <a:xfrm>
            <a:off x="762000" y="2514600"/>
            <a:ext cx="2286000" cy="533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DCF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B53612B-F688-7137-CB58-493FE65A326A}"/>
              </a:ext>
            </a:extLst>
          </p:cNvPr>
          <p:cNvSpPr txBox="1"/>
          <p:nvPr/>
        </p:nvSpPr>
        <p:spPr>
          <a:xfrm>
            <a:off x="914400" y="2606040"/>
            <a:ext cx="685800" cy="23596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1200" b="1">
                <a:solidFill>
                  <a:srgbClr val="3786CF"/>
                </a:solidFill>
                <a:latin typeface="Arial" panose="020B0604020202020204" pitchFamily="34" charset="0"/>
              </a:rPr>
              <a:t>22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5B9BC8-6281-3459-ED18-F0B3C19E4A3F}"/>
              </a:ext>
            </a:extLst>
          </p:cNvPr>
          <p:cNvSpPr txBox="1"/>
          <p:nvPr/>
        </p:nvSpPr>
        <p:spPr>
          <a:xfrm>
            <a:off x="1676400" y="2628900"/>
            <a:ext cx="1181100" cy="42062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calculated admissibility
intervals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B87634F-E569-D82D-0841-3262CE2CF74F}"/>
              </a:ext>
            </a:extLst>
          </p:cNvPr>
          <p:cNvSpPr/>
          <p:nvPr/>
        </p:nvSpPr>
        <p:spPr>
          <a:xfrm>
            <a:off x="762000" y="3200400"/>
            <a:ext cx="2286000" cy="533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DCF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2502EA-F734-7AF5-D2F3-C60245FB3664}"/>
              </a:ext>
            </a:extLst>
          </p:cNvPr>
          <p:cNvSpPr txBox="1"/>
          <p:nvPr/>
        </p:nvSpPr>
        <p:spPr>
          <a:xfrm>
            <a:off x="914400" y="3291840"/>
            <a:ext cx="685800" cy="23596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1200" b="1">
                <a:solidFill>
                  <a:srgbClr val="3786CF"/>
                </a:solidFill>
                <a:latin typeface="Arial" panose="020B0604020202020204" pitchFamily="34" charset="0"/>
              </a:rPr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80995E3-1C2C-3FFC-543D-12DC58F41E5D}"/>
              </a:ext>
            </a:extLst>
          </p:cNvPr>
          <p:cNvSpPr txBox="1"/>
          <p:nvPr/>
        </p:nvSpPr>
        <p:spPr>
          <a:xfrm>
            <a:off x="1676400" y="3314700"/>
            <a:ext cx="118110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no-stable rows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37C9AB1-B895-6753-8A1E-C656B812F4E0}"/>
              </a:ext>
            </a:extLst>
          </p:cNvPr>
          <p:cNvSpPr/>
          <p:nvPr/>
        </p:nvSpPr>
        <p:spPr>
          <a:xfrm>
            <a:off x="762000" y="3886200"/>
            <a:ext cx="2286000" cy="533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DCF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9D84EB8-245E-A230-ACE2-9A97216EF9A1}"/>
              </a:ext>
            </a:extLst>
          </p:cNvPr>
          <p:cNvSpPr txBox="1"/>
          <p:nvPr/>
        </p:nvSpPr>
        <p:spPr>
          <a:xfrm>
            <a:off x="914400" y="3977640"/>
            <a:ext cx="685800" cy="23596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1200" b="1">
                <a:solidFill>
                  <a:srgbClr val="D9373A"/>
                </a:solidFill>
                <a:latin typeface="Arial" panose="020B0604020202020204" pitchFamily="34" charset="0"/>
              </a:rPr>
              <a:t>8,054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9282F35-C681-540E-B653-7A66FE89D6F9}"/>
              </a:ext>
            </a:extLst>
          </p:cNvPr>
          <p:cNvSpPr txBox="1"/>
          <p:nvPr/>
        </p:nvSpPr>
        <p:spPr>
          <a:xfrm>
            <a:off x="1676400" y="4000500"/>
            <a:ext cx="118110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blocked rows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7BD71CB-EBBF-5E80-855B-EE251C19DF67}"/>
              </a:ext>
            </a:extLst>
          </p:cNvPr>
          <p:cNvSpPr txBox="1"/>
          <p:nvPr/>
        </p:nvSpPr>
        <p:spPr>
          <a:xfrm>
            <a:off x="746760" y="4762500"/>
            <a:ext cx="2286000" cy="42062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536770"/>
                </a:solidFill>
                <a:latin typeface="Arial" panose="020B0604020202020204" pitchFamily="34" charset="0"/>
              </a:rPr>
              <a:t>Methane 5 ppt phase curve + hydrostatic pressure + G10015 temperature model under locked public assumptions.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96F2D1A-3277-6661-5577-3CCB3D39272C}"/>
              </a:ext>
            </a:extLst>
          </p:cNvPr>
          <p:cNvSpPr/>
          <p:nvPr/>
        </p:nvSpPr>
        <p:spPr>
          <a:xfrm>
            <a:off x="3810000" y="1181100"/>
            <a:ext cx="4648200" cy="43053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81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E267AFA-0065-E5F8-F256-0AE9271E0404}"/>
              </a:ext>
            </a:extLst>
          </p:cNvPr>
          <p:cNvSpPr txBox="1"/>
          <p:nvPr/>
        </p:nvSpPr>
        <p:spPr>
          <a:xfrm>
            <a:off x="4038600" y="1371600"/>
            <a:ext cx="3962400" cy="266740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1400" b="1">
                <a:solidFill>
                  <a:srgbClr val="10818F"/>
                </a:solidFill>
                <a:latin typeface="Arial" panose="020B0604020202020204" pitchFamily="34" charset="0"/>
              </a:rPr>
              <a:t>Allowed overlay roles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C640E30B-9394-EDC6-93F6-B9875B3C43B1}"/>
              </a:ext>
            </a:extLst>
          </p:cNvPr>
          <p:cNvSpPr/>
          <p:nvPr/>
        </p:nvSpPr>
        <p:spPr>
          <a:xfrm>
            <a:off x="4076700" y="1866900"/>
            <a:ext cx="1981200" cy="838200"/>
          </a:xfrm>
          <a:prstGeom prst="roundRect">
            <a:avLst/>
          </a:prstGeom>
          <a:solidFill>
            <a:srgbClr val="F8FCFD"/>
          </a:solidFill>
          <a:ln w="15240">
            <a:solidFill>
              <a:srgbClr val="1081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FBBA97E-B40E-74DE-B2B9-68A690C3998B}"/>
              </a:ext>
            </a:extLst>
          </p:cNvPr>
          <p:cNvSpPr txBox="1"/>
          <p:nvPr/>
        </p:nvSpPr>
        <p:spPr>
          <a:xfrm>
            <a:off x="4213860" y="1973580"/>
            <a:ext cx="1706880" cy="23596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1200" b="1">
                <a:solidFill>
                  <a:srgbClr val="10818F"/>
                </a:solidFill>
                <a:latin typeface="Arial" panose="020B0604020202020204" pitchFamily="34" charset="0"/>
              </a:rPr>
              <a:t>Context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DF18AF9-138B-75D8-C92B-8DF766400BF3}"/>
              </a:ext>
            </a:extLst>
          </p:cNvPr>
          <p:cNvSpPr txBox="1"/>
          <p:nvPr/>
        </p:nvSpPr>
        <p:spPr>
          <a:xfrm>
            <a:off x="4213860" y="2232660"/>
            <a:ext cx="170688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Add stability status beside logs and predictions.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78D0BAC2-A75D-DA17-C9FB-2A5FF66BEDBA}"/>
              </a:ext>
            </a:extLst>
          </p:cNvPr>
          <p:cNvSpPr/>
          <p:nvPr/>
        </p:nvSpPr>
        <p:spPr>
          <a:xfrm>
            <a:off x="6286500" y="1866900"/>
            <a:ext cx="1943100" cy="838200"/>
          </a:xfrm>
          <a:prstGeom prst="roundRect">
            <a:avLst/>
          </a:prstGeom>
          <a:solidFill>
            <a:srgbClr val="F8FCFD"/>
          </a:solidFill>
          <a:ln w="15240">
            <a:solidFill>
              <a:srgbClr val="3786C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8CC5FE4-1000-58C0-9988-BF4C6037AD4E}"/>
              </a:ext>
            </a:extLst>
          </p:cNvPr>
          <p:cNvSpPr txBox="1"/>
          <p:nvPr/>
        </p:nvSpPr>
        <p:spPr>
          <a:xfrm>
            <a:off x="6423660" y="1973580"/>
            <a:ext cx="1668780" cy="23596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1200" b="1">
                <a:solidFill>
                  <a:srgbClr val="3786CF"/>
                </a:solidFill>
                <a:latin typeface="Arial" panose="020B0604020202020204" pitchFamily="34" charset="0"/>
              </a:rPr>
              <a:t>Mask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57E3F2D-3545-AB28-562E-40BE706B5DFF}"/>
              </a:ext>
            </a:extLst>
          </p:cNvPr>
          <p:cNvSpPr txBox="1"/>
          <p:nvPr/>
        </p:nvSpPr>
        <p:spPr>
          <a:xfrm>
            <a:off x="6423660" y="2232660"/>
            <a:ext cx="166878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Filter or flag rows outside the current admissible screen.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E15A88DE-F6FD-43FC-00BB-F6C1655A3C1E}"/>
              </a:ext>
            </a:extLst>
          </p:cNvPr>
          <p:cNvSpPr/>
          <p:nvPr/>
        </p:nvSpPr>
        <p:spPr>
          <a:xfrm>
            <a:off x="4076700" y="3009900"/>
            <a:ext cx="1981200" cy="838200"/>
          </a:xfrm>
          <a:prstGeom prst="roundRect">
            <a:avLst/>
          </a:prstGeom>
          <a:solidFill>
            <a:srgbClr val="F8FCFD"/>
          </a:solidFill>
          <a:ln w="15240">
            <a:solidFill>
              <a:srgbClr val="239E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2318D94-2828-F002-C333-71209BE4FF18}"/>
              </a:ext>
            </a:extLst>
          </p:cNvPr>
          <p:cNvSpPr txBox="1"/>
          <p:nvPr/>
        </p:nvSpPr>
        <p:spPr>
          <a:xfrm>
            <a:off x="4213860" y="3116580"/>
            <a:ext cx="1706880" cy="23596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1200" b="1">
                <a:solidFill>
                  <a:srgbClr val="239E70"/>
                </a:solidFill>
                <a:latin typeface="Arial" panose="020B0604020202020204" pitchFamily="34" charset="0"/>
              </a:rPr>
              <a:t>Confidence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F687978-FDB9-CCBC-2F84-22E21C9E9544}"/>
              </a:ext>
            </a:extLst>
          </p:cNvPr>
          <p:cNvSpPr txBox="1"/>
          <p:nvPr/>
        </p:nvSpPr>
        <p:spPr>
          <a:xfrm>
            <a:off x="4213860" y="3375660"/>
            <a:ext cx="170688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Carry source-control labels: high, medium, low, blocked.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1ABFF742-4F0D-5681-FDAC-BC10E8BF5BFA}"/>
              </a:ext>
            </a:extLst>
          </p:cNvPr>
          <p:cNvSpPr/>
          <p:nvPr/>
        </p:nvSpPr>
        <p:spPr>
          <a:xfrm>
            <a:off x="6286500" y="3009900"/>
            <a:ext cx="1943100" cy="838200"/>
          </a:xfrm>
          <a:prstGeom prst="roundRect">
            <a:avLst/>
          </a:prstGeom>
          <a:solidFill>
            <a:srgbClr val="F8FCFD"/>
          </a:solidFill>
          <a:ln w="15240">
            <a:solidFill>
              <a:srgbClr val="E0A12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3ACE21B-3912-B5DB-E8A0-C09EBA1D0B9D}"/>
              </a:ext>
            </a:extLst>
          </p:cNvPr>
          <p:cNvSpPr txBox="1"/>
          <p:nvPr/>
        </p:nvSpPr>
        <p:spPr>
          <a:xfrm>
            <a:off x="6423660" y="3116580"/>
            <a:ext cx="1668780" cy="23596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1200" b="1">
                <a:solidFill>
                  <a:srgbClr val="E0A12D"/>
                </a:solidFill>
                <a:latin typeface="Arial" panose="020B0604020202020204" pitchFamily="34" charset="0"/>
              </a:rPr>
              <a:t>Caveat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A7D0E1E-0DF7-2120-8168-3F7300CEE830}"/>
              </a:ext>
            </a:extLst>
          </p:cNvPr>
          <p:cNvSpPr txBox="1"/>
          <p:nvPr/>
        </p:nvSpPr>
        <p:spPr>
          <a:xfrm>
            <a:off x="6423660" y="3375660"/>
            <a:ext cx="166878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Explain phase, temperature, pressure, and blocked reasons.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29CCE976-56D2-122D-E607-05DC98F75A36}"/>
              </a:ext>
            </a:extLst>
          </p:cNvPr>
          <p:cNvCxnSpPr/>
          <p:nvPr/>
        </p:nvCxnSpPr>
        <p:spPr>
          <a:xfrm flipV="1">
            <a:off x="3276600" y="2286000"/>
            <a:ext cx="800100" cy="1051560"/>
          </a:xfrm>
          <a:prstGeom prst="straightConnector1">
            <a:avLst/>
          </a:prstGeom>
          <a:ln w="30480">
            <a:solidFill>
              <a:srgbClr val="3786CF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BD1B3D9-FDE9-FA4D-7D17-58315E7C4C47}"/>
              </a:ext>
            </a:extLst>
          </p:cNvPr>
          <p:cNvCxnSpPr/>
          <p:nvPr/>
        </p:nvCxnSpPr>
        <p:spPr>
          <a:xfrm>
            <a:off x="3276600" y="3337560"/>
            <a:ext cx="800100" cy="91440"/>
          </a:xfrm>
          <a:prstGeom prst="straightConnector1">
            <a:avLst/>
          </a:prstGeom>
          <a:ln w="30480">
            <a:solidFill>
              <a:srgbClr val="239E7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AF063A86-04EE-1D51-7271-0C183D1CB12B}"/>
              </a:ext>
            </a:extLst>
          </p:cNvPr>
          <p:cNvCxnSpPr/>
          <p:nvPr/>
        </p:nvCxnSpPr>
        <p:spPr>
          <a:xfrm flipV="1">
            <a:off x="3276600" y="2286000"/>
            <a:ext cx="3009900" cy="1051560"/>
          </a:xfrm>
          <a:prstGeom prst="straightConnector1">
            <a:avLst/>
          </a:prstGeom>
          <a:ln w="30480">
            <a:solidFill>
              <a:srgbClr val="10818F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2493D53-18F8-795F-F2FB-3038FC5C9F7B}"/>
              </a:ext>
            </a:extLst>
          </p:cNvPr>
          <p:cNvCxnSpPr/>
          <p:nvPr/>
        </p:nvCxnSpPr>
        <p:spPr>
          <a:xfrm>
            <a:off x="3276600" y="3337560"/>
            <a:ext cx="3009900" cy="91440"/>
          </a:xfrm>
          <a:prstGeom prst="straightConnector1">
            <a:avLst/>
          </a:prstGeom>
          <a:ln w="30480">
            <a:solidFill>
              <a:srgbClr val="E0A12D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6C0FB595-231B-718B-9FDE-3F5FBDE12D99}"/>
              </a:ext>
            </a:extLst>
          </p:cNvPr>
          <p:cNvSpPr/>
          <p:nvPr/>
        </p:nvSpPr>
        <p:spPr>
          <a:xfrm>
            <a:off x="4076700" y="4305300"/>
            <a:ext cx="4152900" cy="876300"/>
          </a:xfrm>
          <a:prstGeom prst="roundRect">
            <a:avLst/>
          </a:prstGeom>
          <a:solidFill>
            <a:srgbClr val="FFEFEF"/>
          </a:solidFill>
          <a:ln w="15240">
            <a:solidFill>
              <a:srgbClr val="D937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B1A7120-6913-F4EC-CDB0-A2B15E6771C3}"/>
              </a:ext>
            </a:extLst>
          </p:cNvPr>
          <p:cNvSpPr txBox="1"/>
          <p:nvPr/>
        </p:nvSpPr>
        <p:spPr>
          <a:xfrm>
            <a:off x="4305300" y="4495800"/>
            <a:ext cx="1219200" cy="23596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1200" b="1">
                <a:solidFill>
                  <a:srgbClr val="D9373A"/>
                </a:solidFill>
                <a:latin typeface="Arial" panose="020B0604020202020204" pitchFamily="34" charset="0"/>
              </a:rPr>
              <a:t>Blocked uses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C4187CC-7EBB-93ED-67CE-4D65B16F5609}"/>
              </a:ext>
            </a:extLst>
          </p:cNvPr>
          <p:cNvSpPr txBox="1"/>
          <p:nvPr/>
        </p:nvSpPr>
        <p:spPr>
          <a:xfrm>
            <a:off x="5676900" y="4457700"/>
            <a:ext cx="2286000" cy="60529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900" b="1">
                <a:solidFill>
                  <a:srgbClr val="0F2230"/>
                </a:solidFill>
                <a:latin typeface="Arial" panose="020B0604020202020204" pitchFamily="34" charset="0"/>
              </a:rPr>
              <a:t>Do not use stability as occurrence, saturation, hydrate-present target, negative label for blocked rows, or proof.</a:t>
            </a: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A09DFA1B-0AE7-0E40-4C08-FDB9C3823B32}"/>
              </a:ext>
            </a:extLst>
          </p:cNvPr>
          <p:cNvSpPr/>
          <p:nvPr/>
        </p:nvSpPr>
        <p:spPr>
          <a:xfrm>
            <a:off x="8991600" y="1181100"/>
            <a:ext cx="2667000" cy="4305300"/>
          </a:xfrm>
          <a:prstGeom prst="roundRect">
            <a:avLst/>
          </a:prstGeom>
          <a:solidFill>
            <a:srgbClr val="F8FCFD"/>
          </a:solidFill>
          <a:ln w="15240">
            <a:solidFill>
              <a:srgbClr val="705FC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7AE384F-4DF2-AE1A-BD56-F1C51EB123D5}"/>
              </a:ext>
            </a:extLst>
          </p:cNvPr>
          <p:cNvSpPr txBox="1"/>
          <p:nvPr/>
        </p:nvSpPr>
        <p:spPr>
          <a:xfrm>
            <a:off x="9204960" y="1371600"/>
            <a:ext cx="2209800" cy="251351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1300" b="1">
                <a:solidFill>
                  <a:srgbClr val="705FC3"/>
                </a:solidFill>
                <a:latin typeface="Arial" panose="020B0604020202020204" pitchFamily="34" charset="0"/>
              </a:rPr>
              <a:t>Model review layer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2CB7583D-86F2-538A-49D2-D27747267C8E}"/>
              </a:ext>
            </a:extLst>
          </p:cNvPr>
          <p:cNvSpPr/>
          <p:nvPr/>
        </p:nvSpPr>
        <p:spPr>
          <a:xfrm>
            <a:off x="9220200" y="1866900"/>
            <a:ext cx="2209800" cy="502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39E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0321F42-12A8-1C86-CF10-7A2B996C4677}"/>
              </a:ext>
            </a:extLst>
          </p:cNvPr>
          <p:cNvSpPr txBox="1"/>
          <p:nvPr/>
        </p:nvSpPr>
        <p:spPr>
          <a:xfrm>
            <a:off x="9372600" y="1943100"/>
            <a:ext cx="914400" cy="328295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900" b="1">
                <a:solidFill>
                  <a:srgbClr val="239E70"/>
                </a:solidFill>
                <a:latin typeface="Arial" panose="020B0604020202020204" pitchFamily="34" charset="0"/>
              </a:rPr>
              <a:t>Approved
logs/targets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172322D-35C0-7558-830D-9BDB05D6255E}"/>
              </a:ext>
            </a:extLst>
          </p:cNvPr>
          <p:cNvSpPr txBox="1"/>
          <p:nvPr/>
        </p:nvSpPr>
        <p:spPr>
          <a:xfrm>
            <a:off x="10363200" y="1950720"/>
            <a:ext cx="83820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drive model fit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0AECD714-C62B-68A8-64DE-EAF518C774D1}"/>
              </a:ext>
            </a:extLst>
          </p:cNvPr>
          <p:cNvCxnSpPr/>
          <p:nvPr/>
        </p:nvCxnSpPr>
        <p:spPr>
          <a:xfrm>
            <a:off x="10325100" y="2400300"/>
            <a:ext cx="0" cy="106680"/>
          </a:xfrm>
          <a:prstGeom prst="straightConnector1">
            <a:avLst/>
          </a:prstGeom>
          <a:ln w="25400">
            <a:solidFill>
              <a:srgbClr val="239E7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0C411242-9863-81D8-40DE-B6519C5F4D4C}"/>
              </a:ext>
            </a:extLst>
          </p:cNvPr>
          <p:cNvSpPr/>
          <p:nvPr/>
        </p:nvSpPr>
        <p:spPr>
          <a:xfrm>
            <a:off x="9220200" y="2522220"/>
            <a:ext cx="2209800" cy="502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81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5252C3C-2934-B9B6-EFF8-17BDF59FC69E}"/>
              </a:ext>
            </a:extLst>
          </p:cNvPr>
          <p:cNvSpPr txBox="1"/>
          <p:nvPr/>
        </p:nvSpPr>
        <p:spPr>
          <a:xfrm>
            <a:off x="9372600" y="2598420"/>
            <a:ext cx="914400" cy="328295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900" b="1">
                <a:solidFill>
                  <a:srgbClr val="10818F"/>
                </a:solidFill>
                <a:latin typeface="Arial" panose="020B0604020202020204" pitchFamily="34" charset="0"/>
              </a:rPr>
              <a:t>Occurrence
classifier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357FE9C-98DC-E8F4-77D1-A32098862D1C}"/>
              </a:ext>
            </a:extLst>
          </p:cNvPr>
          <p:cNvSpPr txBox="1"/>
          <p:nvPr/>
        </p:nvSpPr>
        <p:spPr>
          <a:xfrm>
            <a:off x="10363200" y="2606040"/>
            <a:ext cx="83820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future P(hydrate)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709C69FA-32DA-A43F-F87F-93A49C145145}"/>
              </a:ext>
            </a:extLst>
          </p:cNvPr>
          <p:cNvCxnSpPr/>
          <p:nvPr/>
        </p:nvCxnSpPr>
        <p:spPr>
          <a:xfrm>
            <a:off x="10325100" y="3055620"/>
            <a:ext cx="0" cy="106680"/>
          </a:xfrm>
          <a:prstGeom prst="straightConnector1">
            <a:avLst/>
          </a:prstGeom>
          <a:ln w="25400">
            <a:solidFill>
              <a:srgbClr val="10818F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7BA28F71-FE0A-B692-D0B8-0130436A7BBC}"/>
              </a:ext>
            </a:extLst>
          </p:cNvPr>
          <p:cNvSpPr/>
          <p:nvPr/>
        </p:nvSpPr>
        <p:spPr>
          <a:xfrm>
            <a:off x="9220200" y="3177540"/>
            <a:ext cx="2209800" cy="502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786C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34535AB-E02E-2824-F193-C4A4B9F996BC}"/>
              </a:ext>
            </a:extLst>
          </p:cNvPr>
          <p:cNvSpPr txBox="1"/>
          <p:nvPr/>
        </p:nvSpPr>
        <p:spPr>
          <a:xfrm>
            <a:off x="9372600" y="3253740"/>
            <a:ext cx="914400" cy="328295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900" b="1">
                <a:solidFill>
                  <a:srgbClr val="3786CF"/>
                </a:solidFill>
                <a:latin typeface="Arial" panose="020B0604020202020204" pitchFamily="34" charset="0"/>
              </a:rPr>
              <a:t>Saturation
regressor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A037C30-9C79-0007-6F7B-AE666582A211}"/>
              </a:ext>
            </a:extLst>
          </p:cNvPr>
          <p:cNvSpPr txBox="1"/>
          <p:nvPr/>
        </p:nvSpPr>
        <p:spPr>
          <a:xfrm>
            <a:off x="10363200" y="3261360"/>
            <a:ext cx="83820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future Sh_pred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E5488A21-B87B-8D68-5B07-CFACF214657E}"/>
              </a:ext>
            </a:extLst>
          </p:cNvPr>
          <p:cNvCxnSpPr/>
          <p:nvPr/>
        </p:nvCxnSpPr>
        <p:spPr>
          <a:xfrm>
            <a:off x="10325100" y="3710940"/>
            <a:ext cx="0" cy="106680"/>
          </a:xfrm>
          <a:prstGeom prst="straightConnector1">
            <a:avLst/>
          </a:prstGeom>
          <a:ln w="25400">
            <a:solidFill>
              <a:srgbClr val="3786CF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D4EE3CDC-06D2-9524-E15B-B5FAC6765F26}"/>
              </a:ext>
            </a:extLst>
          </p:cNvPr>
          <p:cNvSpPr/>
          <p:nvPr/>
        </p:nvSpPr>
        <p:spPr>
          <a:xfrm>
            <a:off x="9220200" y="3832860"/>
            <a:ext cx="2209800" cy="502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0A12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9B33EDD-DD2F-B921-89C1-F76A48ED80FC}"/>
              </a:ext>
            </a:extLst>
          </p:cNvPr>
          <p:cNvSpPr txBox="1"/>
          <p:nvPr/>
        </p:nvSpPr>
        <p:spPr>
          <a:xfrm>
            <a:off x="9372600" y="3909060"/>
            <a:ext cx="914400" cy="328295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900" b="1">
                <a:solidFill>
                  <a:srgbClr val="E0A12D"/>
                </a:solidFill>
                <a:latin typeface="Arial" panose="020B0604020202020204" pitchFamily="34" charset="0"/>
              </a:rPr>
              <a:t>Stability overlay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BD462BA-4B37-25BC-AF2B-69EC40E0254E}"/>
              </a:ext>
            </a:extLst>
          </p:cNvPr>
          <p:cNvSpPr txBox="1"/>
          <p:nvPr/>
        </p:nvSpPr>
        <p:spPr>
          <a:xfrm>
            <a:off x="10363200" y="3916680"/>
            <a:ext cx="83820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context only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87562EE-9C28-1365-995E-5FC19A749ECE}"/>
              </a:ext>
            </a:extLst>
          </p:cNvPr>
          <p:cNvCxnSpPr/>
          <p:nvPr/>
        </p:nvCxnSpPr>
        <p:spPr>
          <a:xfrm>
            <a:off x="10325100" y="4366260"/>
            <a:ext cx="0" cy="106680"/>
          </a:xfrm>
          <a:prstGeom prst="straightConnector1">
            <a:avLst/>
          </a:prstGeom>
          <a:ln w="25400">
            <a:solidFill>
              <a:srgbClr val="E0A12D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8F1F1DD9-B8BE-8487-2942-C1FB8C6DB098}"/>
              </a:ext>
            </a:extLst>
          </p:cNvPr>
          <p:cNvSpPr/>
          <p:nvPr/>
        </p:nvSpPr>
        <p:spPr>
          <a:xfrm>
            <a:off x="9220200" y="4488180"/>
            <a:ext cx="2209800" cy="502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937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72B4CB7-862F-CBCE-CD35-CE72DE8BFF69}"/>
              </a:ext>
            </a:extLst>
          </p:cNvPr>
          <p:cNvSpPr txBox="1"/>
          <p:nvPr/>
        </p:nvSpPr>
        <p:spPr>
          <a:xfrm>
            <a:off x="9372600" y="4564380"/>
            <a:ext cx="914400" cy="328295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900" b="1">
                <a:solidFill>
                  <a:srgbClr val="D9373A"/>
                </a:solidFill>
                <a:latin typeface="Arial" panose="020B0604020202020204" pitchFamily="34" charset="0"/>
              </a:rPr>
              <a:t>Public summary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016A44D-A88C-B10B-8FCC-6E23A3050B8E}"/>
              </a:ext>
            </a:extLst>
          </p:cNvPr>
          <p:cNvSpPr txBox="1"/>
          <p:nvPr/>
        </p:nvSpPr>
        <p:spPr>
          <a:xfrm>
            <a:off x="10363200" y="4572000"/>
            <a:ext cx="83820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reviewed later</a:t>
            </a: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67C3E6E0-47FF-763F-0052-6CBADF7601DE}"/>
              </a:ext>
            </a:extLst>
          </p:cNvPr>
          <p:cNvCxnSpPr/>
          <p:nvPr/>
        </p:nvCxnSpPr>
        <p:spPr>
          <a:xfrm>
            <a:off x="411480" y="6416040"/>
            <a:ext cx="11369040" cy="0"/>
          </a:xfrm>
          <a:prstGeom prst="straightConnector1">
            <a:avLst/>
          </a:prstGeom>
          <a:ln w="12700">
            <a:solidFill>
              <a:srgbClr val="ADCF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ED2599CA-803C-DD05-4278-F1AC72416CBE}"/>
              </a:ext>
            </a:extLst>
          </p:cNvPr>
          <p:cNvSpPr txBox="1"/>
          <p:nvPr/>
        </p:nvSpPr>
        <p:spPr>
          <a:xfrm>
            <a:off x="441960" y="6477000"/>
            <a:ext cx="10820400" cy="15901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700">
                <a:solidFill>
                  <a:srgbClr val="536770"/>
                </a:solidFill>
                <a:latin typeface="Arial" panose="020B0604020202020204" pitchFamily="34" charset="0"/>
              </a:rPr>
              <a:t>Sources: STABILITY_CALCULATION_PLAN, public stability screen, DOE runtime tracking plan, and first model experiment plan. Stability remains admissibility context only.</a:t>
            </a:r>
          </a:p>
        </p:txBody>
      </p:sp>
    </p:spTree>
    <p:extLst>
      <p:ext uri="{BB962C8B-B14F-4D97-AF65-F5344CB8AC3E}">
        <p14:creationId xmlns:p14="http://schemas.microsoft.com/office/powerpoint/2010/main" val="11602987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1FD473E-2971-14DD-9859-69B8EA4608E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6E57BBB-F7BB-B8DE-D81F-134FB1865417}"/>
              </a:ext>
            </a:extLst>
          </p:cNvPr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0818F"/>
          </a:solidFill>
          <a:ln w="6350">
            <a:solidFill>
              <a:srgbClr val="1081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16F5A1-2A3C-B6A0-4AEC-55337F8383FB}"/>
              </a:ext>
            </a:extLst>
          </p:cNvPr>
          <p:cNvSpPr txBox="1"/>
          <p:nvPr/>
        </p:nvSpPr>
        <p:spPr>
          <a:xfrm>
            <a:off x="457200" y="289560"/>
            <a:ext cx="8991600" cy="389850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2200" b="1">
                <a:solidFill>
                  <a:srgbClr val="0F2230"/>
                </a:solidFill>
                <a:latin typeface="Arial" panose="020B0604020202020204" pitchFamily="34" charset="0"/>
              </a:rPr>
              <a:t>What We Have Done, What Is Not Claimed, What Is Next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779F74-1CC6-E4C7-8C83-5B0B57590FC1}"/>
              </a:ext>
            </a:extLst>
          </p:cNvPr>
          <p:cNvSpPr txBox="1"/>
          <p:nvPr/>
        </p:nvSpPr>
        <p:spPr>
          <a:xfrm>
            <a:off x="480060" y="693420"/>
            <a:ext cx="10591800" cy="20518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1000">
                <a:solidFill>
                  <a:srgbClr val="536770"/>
                </a:solidFill>
                <a:latin typeface="Arial" panose="020B0604020202020204" pitchFamily="34" charset="0"/>
              </a:rPr>
              <a:t>V5.5 makes the current contribution explicit while keeping every result claim inside the approved-runtime guardrails.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E4A042-D87A-23F3-B524-4BFCF35388B3}"/>
              </a:ext>
            </a:extLst>
          </p:cNvPr>
          <p:cNvSpPr/>
          <p:nvPr/>
        </p:nvSpPr>
        <p:spPr>
          <a:xfrm>
            <a:off x="533400" y="1143000"/>
            <a:ext cx="3314700" cy="4191000"/>
          </a:xfrm>
          <a:prstGeom prst="roundRect">
            <a:avLst/>
          </a:prstGeom>
          <a:solidFill>
            <a:srgbClr val="F8FCFD"/>
          </a:solidFill>
          <a:ln w="15240">
            <a:solidFill>
              <a:srgbClr val="1081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6DA6DC6-69FA-1D1B-F83B-B287AB08D043}"/>
              </a:ext>
            </a:extLst>
          </p:cNvPr>
          <p:cNvSpPr txBox="1"/>
          <p:nvPr/>
        </p:nvSpPr>
        <p:spPr>
          <a:xfrm>
            <a:off x="731520" y="1325880"/>
            <a:ext cx="2918460" cy="266740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1400" b="1">
                <a:solidFill>
                  <a:srgbClr val="10818F"/>
                </a:solidFill>
                <a:latin typeface="Arial" panose="020B0604020202020204" pitchFamily="34" charset="0"/>
              </a:rPr>
              <a:t>What we have done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702214E-7A77-0B7D-A166-72205EB1B994}"/>
              </a:ext>
            </a:extLst>
          </p:cNvPr>
          <p:cNvSpPr/>
          <p:nvPr/>
        </p:nvSpPr>
        <p:spPr>
          <a:xfrm>
            <a:off x="746760" y="1805940"/>
            <a:ext cx="198120" cy="198120"/>
          </a:xfrm>
          <a:prstGeom prst="ellipse">
            <a:avLst/>
          </a:prstGeom>
          <a:solidFill>
            <a:srgbClr val="10818F"/>
          </a:solidFill>
          <a:ln w="12700">
            <a:solidFill>
              <a:srgbClr val="1081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6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F9D5F7-F858-7D0A-4D50-533B7A5C0978}"/>
              </a:ext>
            </a:extLst>
          </p:cNvPr>
          <p:cNvSpPr txBox="1"/>
          <p:nvPr/>
        </p:nvSpPr>
        <p:spPr>
          <a:xfrm>
            <a:off x="1066800" y="1790700"/>
            <a:ext cx="255270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V5.4 deck updated into a V5.5 mentor sequence.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1F52961-8BD4-D070-7BBA-F1D07C18538F}"/>
              </a:ext>
            </a:extLst>
          </p:cNvPr>
          <p:cNvSpPr/>
          <p:nvPr/>
        </p:nvSpPr>
        <p:spPr>
          <a:xfrm>
            <a:off x="746760" y="2415540"/>
            <a:ext cx="198120" cy="198120"/>
          </a:xfrm>
          <a:prstGeom prst="ellipse">
            <a:avLst/>
          </a:prstGeom>
          <a:solidFill>
            <a:srgbClr val="10818F"/>
          </a:solidFill>
          <a:ln w="12700">
            <a:solidFill>
              <a:srgbClr val="1081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6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705D6D7-7114-9708-4C76-D0FA28931668}"/>
              </a:ext>
            </a:extLst>
          </p:cNvPr>
          <p:cNvSpPr txBox="1"/>
          <p:nvPr/>
        </p:nvSpPr>
        <p:spPr>
          <a:xfrm>
            <a:off x="1066800" y="2400300"/>
            <a:ext cx="255270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Personal opener and source-backed hydrate/North Slope visuals preserved.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0810283-7567-4536-FC1A-4AC94B20D3E2}"/>
              </a:ext>
            </a:extLst>
          </p:cNvPr>
          <p:cNvSpPr/>
          <p:nvPr/>
        </p:nvSpPr>
        <p:spPr>
          <a:xfrm>
            <a:off x="746760" y="3025140"/>
            <a:ext cx="198120" cy="198120"/>
          </a:xfrm>
          <a:prstGeom prst="ellipse">
            <a:avLst/>
          </a:prstGeom>
          <a:solidFill>
            <a:srgbClr val="10818F"/>
          </a:solidFill>
          <a:ln w="12700">
            <a:solidFill>
              <a:srgbClr val="1081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6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CE3AFDB-FA32-6D8A-C62D-1710122F7F01}"/>
              </a:ext>
            </a:extLst>
          </p:cNvPr>
          <p:cNvSpPr txBox="1"/>
          <p:nvPr/>
        </p:nvSpPr>
        <p:spPr>
          <a:xfrm>
            <a:off x="1066800" y="3009900"/>
            <a:ext cx="255270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Full complex workflow and ML runtime diagrams kept in the main sequence.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0211958F-404C-F817-D81D-1C0994ADC683}"/>
              </a:ext>
            </a:extLst>
          </p:cNvPr>
          <p:cNvSpPr/>
          <p:nvPr/>
        </p:nvSpPr>
        <p:spPr>
          <a:xfrm>
            <a:off x="746760" y="3634740"/>
            <a:ext cx="198120" cy="198120"/>
          </a:xfrm>
          <a:prstGeom prst="ellipse">
            <a:avLst/>
          </a:prstGeom>
          <a:solidFill>
            <a:srgbClr val="10818F"/>
          </a:solidFill>
          <a:ln w="12700">
            <a:solidFill>
              <a:srgbClr val="1081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600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9BD1937-2097-2B99-49DE-5E3105623150}"/>
              </a:ext>
            </a:extLst>
          </p:cNvPr>
          <p:cNvSpPr txBox="1"/>
          <p:nvPr/>
        </p:nvSpPr>
        <p:spPr>
          <a:xfrm>
            <a:off x="1066800" y="3619500"/>
            <a:ext cx="255270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DOE three-dataset prototype, cleaned feature audit, and Model Run Tracker explained.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58E19FA-FFC9-909A-3795-B9BD2F0F6B83}"/>
              </a:ext>
            </a:extLst>
          </p:cNvPr>
          <p:cNvSpPr/>
          <p:nvPr/>
        </p:nvSpPr>
        <p:spPr>
          <a:xfrm>
            <a:off x="746760" y="4244340"/>
            <a:ext cx="198120" cy="198120"/>
          </a:xfrm>
          <a:prstGeom prst="ellipse">
            <a:avLst/>
          </a:prstGeom>
          <a:solidFill>
            <a:srgbClr val="10818F"/>
          </a:solidFill>
          <a:ln w="12700">
            <a:solidFill>
              <a:srgbClr val="1081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600" b="1">
                <a:solidFill>
                  <a:srgbClr val="FFFFFF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4D56B82-C378-9E51-8C0E-32F53B7CC919}"/>
              </a:ext>
            </a:extLst>
          </p:cNvPr>
          <p:cNvSpPr txBox="1"/>
          <p:nvPr/>
        </p:nvSpPr>
        <p:spPr>
          <a:xfrm>
            <a:off x="1066800" y="4229100"/>
            <a:ext cx="255270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Stability overlay framed as context, mask, confidence, and caveat only.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465AAAC-8102-A1B2-3045-2947EC2B7481}"/>
              </a:ext>
            </a:extLst>
          </p:cNvPr>
          <p:cNvSpPr/>
          <p:nvPr/>
        </p:nvSpPr>
        <p:spPr>
          <a:xfrm>
            <a:off x="4457700" y="1143000"/>
            <a:ext cx="3314700" cy="4191000"/>
          </a:xfrm>
          <a:prstGeom prst="roundRect">
            <a:avLst/>
          </a:prstGeom>
          <a:solidFill>
            <a:srgbClr val="F8FCFD"/>
          </a:solidFill>
          <a:ln w="15240">
            <a:solidFill>
              <a:srgbClr val="D937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0F277A8-B09E-F256-2A74-4C1F8D557B01}"/>
              </a:ext>
            </a:extLst>
          </p:cNvPr>
          <p:cNvSpPr txBox="1"/>
          <p:nvPr/>
        </p:nvSpPr>
        <p:spPr>
          <a:xfrm>
            <a:off x="4655820" y="1325880"/>
            <a:ext cx="2918460" cy="266740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1400" b="1">
                <a:solidFill>
                  <a:srgbClr val="D9373A"/>
                </a:solidFill>
                <a:latin typeface="Arial" panose="020B0604020202020204" pitchFamily="34" charset="0"/>
              </a:rPr>
              <a:t>What is not claimed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7DFC8DF-DBCC-6014-2028-1345B761278C}"/>
              </a:ext>
            </a:extLst>
          </p:cNvPr>
          <p:cNvSpPr/>
          <p:nvPr/>
        </p:nvSpPr>
        <p:spPr>
          <a:xfrm>
            <a:off x="4671060" y="1805940"/>
            <a:ext cx="198120" cy="198120"/>
          </a:xfrm>
          <a:prstGeom prst="ellipse">
            <a:avLst/>
          </a:prstGeom>
          <a:solidFill>
            <a:srgbClr val="D9373A"/>
          </a:solidFill>
          <a:ln w="12700">
            <a:solidFill>
              <a:srgbClr val="D937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6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1C80BAD-BAE8-48A9-5FA3-5919682C181E}"/>
              </a:ext>
            </a:extLst>
          </p:cNvPr>
          <p:cNvSpPr txBox="1"/>
          <p:nvPr/>
        </p:nvSpPr>
        <p:spPr>
          <a:xfrm>
            <a:off x="4991100" y="1790700"/>
            <a:ext cx="255270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No hydrate proof.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FAE5EEB8-D049-E032-397D-D75C38EB3A48}"/>
              </a:ext>
            </a:extLst>
          </p:cNvPr>
          <p:cNvSpPr/>
          <p:nvPr/>
        </p:nvSpPr>
        <p:spPr>
          <a:xfrm>
            <a:off x="4671060" y="2415540"/>
            <a:ext cx="198120" cy="198120"/>
          </a:xfrm>
          <a:prstGeom prst="ellipse">
            <a:avLst/>
          </a:prstGeom>
          <a:solidFill>
            <a:srgbClr val="D9373A"/>
          </a:solidFill>
          <a:ln w="12700">
            <a:solidFill>
              <a:srgbClr val="D937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6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AAC0CEE-C2AE-67DB-5C7A-42434BD63AB6}"/>
              </a:ext>
            </a:extLst>
          </p:cNvPr>
          <p:cNvSpPr txBox="1"/>
          <p:nvPr/>
        </p:nvSpPr>
        <p:spPr>
          <a:xfrm>
            <a:off x="4991100" y="2400300"/>
            <a:ext cx="255270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No final stability top/base/thickness claim.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C9832510-6393-496D-2C15-8AB7727886BE}"/>
              </a:ext>
            </a:extLst>
          </p:cNvPr>
          <p:cNvSpPr/>
          <p:nvPr/>
        </p:nvSpPr>
        <p:spPr>
          <a:xfrm>
            <a:off x="4671060" y="3025140"/>
            <a:ext cx="198120" cy="198120"/>
          </a:xfrm>
          <a:prstGeom prst="ellipse">
            <a:avLst/>
          </a:prstGeom>
          <a:solidFill>
            <a:srgbClr val="D9373A"/>
          </a:solidFill>
          <a:ln w="12700">
            <a:solidFill>
              <a:srgbClr val="D937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6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EBBD1AA-4802-76BD-D50E-F22F9739DE75}"/>
              </a:ext>
            </a:extLst>
          </p:cNvPr>
          <p:cNvSpPr txBox="1"/>
          <p:nvPr/>
        </p:nvSpPr>
        <p:spPr>
          <a:xfrm>
            <a:off x="4991100" y="3009900"/>
            <a:ext cx="255270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No public row-level approved data.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60E7517A-133B-7635-C79E-E6B483DC4E20}"/>
              </a:ext>
            </a:extLst>
          </p:cNvPr>
          <p:cNvSpPr/>
          <p:nvPr/>
        </p:nvSpPr>
        <p:spPr>
          <a:xfrm>
            <a:off x="4671060" y="3634740"/>
            <a:ext cx="198120" cy="198120"/>
          </a:xfrm>
          <a:prstGeom prst="ellipse">
            <a:avLst/>
          </a:prstGeom>
          <a:solidFill>
            <a:srgbClr val="D9373A"/>
          </a:solidFill>
          <a:ln w="12700">
            <a:solidFill>
              <a:srgbClr val="D937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600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7EA86CB-F118-2765-E65A-13121A693CC1}"/>
              </a:ext>
            </a:extLst>
          </p:cNvPr>
          <p:cNvSpPr txBox="1"/>
          <p:nvPr/>
        </p:nvSpPr>
        <p:spPr>
          <a:xfrm>
            <a:off x="4991100" y="3619500"/>
            <a:ext cx="2552700" cy="17440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No occurrence prediction or saturation prediction.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7DE47ADE-B2A0-2A03-88D6-C2BF5948E093}"/>
              </a:ext>
            </a:extLst>
          </p:cNvPr>
          <p:cNvSpPr/>
          <p:nvPr/>
        </p:nvSpPr>
        <p:spPr>
          <a:xfrm>
            <a:off x="4671060" y="4244340"/>
            <a:ext cx="198120" cy="198120"/>
          </a:xfrm>
          <a:prstGeom prst="ellipse">
            <a:avLst/>
          </a:prstGeom>
          <a:solidFill>
            <a:srgbClr val="D9373A"/>
          </a:solidFill>
          <a:ln w="12700">
            <a:solidFill>
              <a:srgbClr val="D9373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600" b="1">
                <a:solidFill>
                  <a:srgbClr val="FFFFFF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BC27EF7-F0F3-A330-265D-2478F611C3B8}"/>
              </a:ext>
            </a:extLst>
          </p:cNvPr>
          <p:cNvSpPr txBox="1"/>
          <p:nvPr/>
        </p:nvSpPr>
        <p:spPr>
          <a:xfrm>
            <a:off x="4991100" y="4229100"/>
            <a:ext cx="255270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No final trained ML metrics, sweet spots, producibility ranking, or target authority.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09B9B7BD-EAAB-FD99-B90A-348A76964F25}"/>
              </a:ext>
            </a:extLst>
          </p:cNvPr>
          <p:cNvSpPr/>
          <p:nvPr/>
        </p:nvSpPr>
        <p:spPr>
          <a:xfrm>
            <a:off x="8343900" y="1143000"/>
            <a:ext cx="3314700" cy="4191000"/>
          </a:xfrm>
          <a:prstGeom prst="roundRect">
            <a:avLst/>
          </a:prstGeom>
          <a:solidFill>
            <a:srgbClr val="F8FCFD"/>
          </a:solidFill>
          <a:ln w="15240">
            <a:solidFill>
              <a:srgbClr val="E0A12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5135109-1FC0-4FC3-B802-45EE5D3CEE25}"/>
              </a:ext>
            </a:extLst>
          </p:cNvPr>
          <p:cNvSpPr txBox="1"/>
          <p:nvPr/>
        </p:nvSpPr>
        <p:spPr>
          <a:xfrm>
            <a:off x="8542020" y="1325880"/>
            <a:ext cx="2918460" cy="266740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1400" b="1">
                <a:solidFill>
                  <a:srgbClr val="E0A12D"/>
                </a:solidFill>
                <a:latin typeface="Arial" panose="020B0604020202020204" pitchFamily="34" charset="0"/>
              </a:rPr>
              <a:t>What is next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60825C2E-21DD-EDE6-E24B-382D0280B750}"/>
              </a:ext>
            </a:extLst>
          </p:cNvPr>
          <p:cNvSpPr/>
          <p:nvPr/>
        </p:nvSpPr>
        <p:spPr>
          <a:xfrm>
            <a:off x="8557260" y="1805940"/>
            <a:ext cx="198120" cy="198120"/>
          </a:xfrm>
          <a:prstGeom prst="ellipse">
            <a:avLst/>
          </a:prstGeom>
          <a:solidFill>
            <a:srgbClr val="E0A12D"/>
          </a:solidFill>
          <a:ln w="12700">
            <a:solidFill>
              <a:srgbClr val="E0A12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6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D2D00A6-B8C5-3720-27F1-C3E31E410D93}"/>
              </a:ext>
            </a:extLst>
          </p:cNvPr>
          <p:cNvSpPr txBox="1"/>
          <p:nvPr/>
        </p:nvSpPr>
        <p:spPr>
          <a:xfrm>
            <a:off x="8877300" y="1790700"/>
            <a:ext cx="255270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Run DOE workflow in the approved runtime and keep outputs ignored until review.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FAC2C8D2-160E-485E-AEE3-233395CC3D56}"/>
              </a:ext>
            </a:extLst>
          </p:cNvPr>
          <p:cNvSpPr/>
          <p:nvPr/>
        </p:nvSpPr>
        <p:spPr>
          <a:xfrm>
            <a:off x="8557260" y="2415540"/>
            <a:ext cx="198120" cy="198120"/>
          </a:xfrm>
          <a:prstGeom prst="ellipse">
            <a:avLst/>
          </a:prstGeom>
          <a:solidFill>
            <a:srgbClr val="E0A12D"/>
          </a:solidFill>
          <a:ln w="12700">
            <a:solidFill>
              <a:srgbClr val="E0A12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6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4C48CA6-2BAC-53FA-5554-2F1647F5C92D}"/>
              </a:ext>
            </a:extLst>
          </p:cNvPr>
          <p:cNvSpPr txBox="1"/>
          <p:nvPr/>
        </p:nvSpPr>
        <p:spPr>
          <a:xfrm>
            <a:off x="8877300" y="2400300"/>
            <a:ext cx="255270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Confirm target priority for S_h, S_wr, Sh, Swr and fraction-vs-percent policy.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2A439324-4C93-93C2-8C2B-A419E30FF3C8}"/>
              </a:ext>
            </a:extLst>
          </p:cNvPr>
          <p:cNvSpPr/>
          <p:nvPr/>
        </p:nvSpPr>
        <p:spPr>
          <a:xfrm>
            <a:off x="8557260" y="3025140"/>
            <a:ext cx="198120" cy="198120"/>
          </a:xfrm>
          <a:prstGeom prst="ellipse">
            <a:avLst/>
          </a:prstGeom>
          <a:solidFill>
            <a:srgbClr val="E0A12D"/>
          </a:solidFill>
          <a:ln w="12700">
            <a:solidFill>
              <a:srgbClr val="E0A12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6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9E0BCC3-7BEB-D04C-FFB6-67B5D1E45BE2}"/>
              </a:ext>
            </a:extLst>
          </p:cNvPr>
          <p:cNvSpPr txBox="1"/>
          <p:nvPr/>
        </p:nvSpPr>
        <p:spPr>
          <a:xfrm>
            <a:off x="8877300" y="3009900"/>
            <a:ext cx="255270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Review feature exclusions and stability overlay settings with mentor.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05CEE351-2BEA-B832-996F-394192183F78}"/>
              </a:ext>
            </a:extLst>
          </p:cNvPr>
          <p:cNvSpPr/>
          <p:nvPr/>
        </p:nvSpPr>
        <p:spPr>
          <a:xfrm>
            <a:off x="8557260" y="3634740"/>
            <a:ext cx="198120" cy="198120"/>
          </a:xfrm>
          <a:prstGeom prst="ellipse">
            <a:avLst/>
          </a:prstGeom>
          <a:solidFill>
            <a:srgbClr val="E0A12D"/>
          </a:solidFill>
          <a:ln w="12700">
            <a:solidFill>
              <a:srgbClr val="E0A12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600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EDD9448-8E0E-7B26-A9A2-48977119FECE}"/>
              </a:ext>
            </a:extLst>
          </p:cNvPr>
          <p:cNvSpPr txBox="1"/>
          <p:nvPr/>
        </p:nvSpPr>
        <p:spPr>
          <a:xfrm>
            <a:off x="8877300" y="3619500"/>
            <a:ext cx="255270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Assign whole-well or compartment validation before final metrics.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757D06E4-8BAC-272B-6D81-130533DBEE8D}"/>
              </a:ext>
            </a:extLst>
          </p:cNvPr>
          <p:cNvSpPr/>
          <p:nvPr/>
        </p:nvSpPr>
        <p:spPr>
          <a:xfrm>
            <a:off x="8557260" y="4244340"/>
            <a:ext cx="198120" cy="198120"/>
          </a:xfrm>
          <a:prstGeom prst="ellipse">
            <a:avLst/>
          </a:prstGeom>
          <a:solidFill>
            <a:srgbClr val="E0A12D"/>
          </a:solidFill>
          <a:ln w="12700">
            <a:solidFill>
              <a:srgbClr val="E0A12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600" b="1">
                <a:solidFill>
                  <a:srgbClr val="FFFFFF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9513C3-4134-DF96-5092-9C4EF5E567D1}"/>
              </a:ext>
            </a:extLst>
          </p:cNvPr>
          <p:cNvSpPr txBox="1"/>
          <p:nvPr/>
        </p:nvSpPr>
        <p:spPr>
          <a:xfrm>
            <a:off x="8877300" y="4229100"/>
            <a:ext cx="255270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800" b="1">
                <a:solidFill>
                  <a:srgbClr val="0F2230"/>
                </a:solidFill>
                <a:latin typeface="Arial" panose="020B0604020202020204" pitchFamily="34" charset="0"/>
              </a:rPr>
              <a:t>Bring back only public-safe summaries after data-owner review.</a:t>
            </a: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E7CF5B9B-85D8-4DA9-0F9F-3A249130BB38}"/>
              </a:ext>
            </a:extLst>
          </p:cNvPr>
          <p:cNvSpPr/>
          <p:nvPr/>
        </p:nvSpPr>
        <p:spPr>
          <a:xfrm>
            <a:off x="533400" y="5600700"/>
            <a:ext cx="11125200" cy="5867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DCF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C497D95-D957-41D0-6CAF-B399E92568CF}"/>
              </a:ext>
            </a:extLst>
          </p:cNvPr>
          <p:cNvSpPr txBox="1"/>
          <p:nvPr/>
        </p:nvSpPr>
        <p:spPr>
          <a:xfrm>
            <a:off x="746760" y="5775960"/>
            <a:ext cx="1600200" cy="20518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1000" b="1">
                <a:solidFill>
                  <a:srgbClr val="10818F"/>
                </a:solidFill>
                <a:latin typeface="Arial" panose="020B0604020202020204" pitchFamily="34" charset="0"/>
              </a:rPr>
              <a:t>Source/provenance trail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6EE83D0-9F4B-D5A9-7AF0-43C7B5FAE1F7}"/>
              </a:ext>
            </a:extLst>
          </p:cNvPr>
          <p:cNvSpPr txBox="1"/>
          <p:nvPr/>
        </p:nvSpPr>
        <p:spPr>
          <a:xfrm>
            <a:off x="2514600" y="5753100"/>
            <a:ext cx="8458200" cy="328295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900" b="1">
                <a:solidFill>
                  <a:srgbClr val="0F2230"/>
                </a:solidFill>
                <a:latin typeface="Arial" panose="020B0604020202020204" pitchFamily="34" charset="0"/>
              </a:rPr>
              <a:t>V5.5 panels are generated by build_full_workflow_diagram_deliverables.py from V5.4 panels, V5.2 authority plates, public stability products, DOE runbook/tracker docs, and source_visual_inventory.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F1D97E7-112D-0A7A-298B-E3373B12E0BE}"/>
              </a:ext>
            </a:extLst>
          </p:cNvPr>
          <p:cNvCxnSpPr/>
          <p:nvPr/>
        </p:nvCxnSpPr>
        <p:spPr>
          <a:xfrm>
            <a:off x="411480" y="6416040"/>
            <a:ext cx="11369040" cy="0"/>
          </a:xfrm>
          <a:prstGeom prst="straightConnector1">
            <a:avLst/>
          </a:prstGeom>
          <a:ln w="12700">
            <a:solidFill>
              <a:srgbClr val="ADCF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248F75B3-D825-5D2B-29F9-7267D59CD19F}"/>
              </a:ext>
            </a:extLst>
          </p:cNvPr>
          <p:cNvSpPr txBox="1"/>
          <p:nvPr/>
        </p:nvSpPr>
        <p:spPr>
          <a:xfrm>
            <a:off x="441960" y="6477000"/>
            <a:ext cx="10820400" cy="15901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n-US" sz="700">
                <a:solidFill>
                  <a:srgbClr val="536770"/>
                </a:solidFill>
                <a:latin typeface="Arial" panose="020B0604020202020204" pitchFamily="34" charset="0"/>
              </a:rPr>
              <a:t>Public scaffold: 8,084 stability rows; 22 calculated admissibility intervals; about 3/71 approved datasets visible for schema/runtime prototyping.</a:t>
            </a:r>
          </a:p>
        </p:txBody>
      </p:sp>
    </p:spTree>
    <p:extLst>
      <p:ext uri="{BB962C8B-B14F-4D97-AF65-F5344CB8AC3E}">
        <p14:creationId xmlns:p14="http://schemas.microsoft.com/office/powerpoint/2010/main" val="41018918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2014</Words>
  <Application>Microsoft Office PowerPoint</Application>
  <PresentationFormat>Custom</PresentationFormat>
  <Paragraphs>340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Writam</dc:creator>
  <cp:lastModifiedBy>Writam</cp:lastModifiedBy>
  <cp:revision>1</cp:revision>
  <dcterms:created xsi:type="dcterms:W3CDTF">2026-06-19T22:48:55Z</dcterms:created>
  <dcterms:modified xsi:type="dcterms:W3CDTF">2026-06-19T22:48:55Z</dcterms:modified>
</cp:coreProperties>
</file>