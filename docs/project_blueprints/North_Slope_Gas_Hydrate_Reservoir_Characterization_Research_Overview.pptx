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north-slope-gas-hydrates-vj67xkke9ksfzveon8ldt2.streamlit.app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Gas Hydrate Occurrence and Saturation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Permafrost sediments on the Alaska North Slope using AI/ML</a:t>
            </a:r>
          </a:p>
        </p:txBody>
      </p:sp>
      <p:pic>
        <p:nvPicPr>
          <p:cNvPr id="4" name="Picture 3" descr="streamlit_3d_contex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987552"/>
            <a:ext cx="5166360" cy="30632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13232" y="1298448"/>
            <a:ext cx="1691640" cy="1691640"/>
          </a:xfrm>
          <a:prstGeom prst="ellipse">
            <a:avLst/>
          </a:prstGeom>
          <a:solidFill>
            <a:srgbClr val="EEF2F4"/>
          </a:solidFill>
          <a:ln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20240"/>
            <a:ext cx="123444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5E6A71"/>
                </a:solidFill>
                <a:latin typeface="Aptos"/>
              </a:rPr>
              <a:t>photo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3246120" cy="10972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1371600"/>
            <a:ext cx="302666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Rohan Nanda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7208" y="1664207"/>
            <a:ext cx="3026663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Lead Geologist
M.S. Geosciences, University of Texas at Dallas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29000"/>
            <a:ext cx="5212080" cy="123444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520440"/>
            <a:ext cx="4992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Project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813048"/>
            <a:ext cx="4992624" cy="7955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Use approved well-log, NMR, and core-analysis data to predict gas hydrate occurrence and saturation, then communicate results as reservoir-characterization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315968"/>
            <a:ext cx="475488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4407407"/>
            <a:ext cx="45354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Website asset embedded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4700016"/>
            <a:ext cx="453542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Public North Slope structural scene and well inventory generated from the project atlas.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Deck structure follows project email instructions received 2026-06-09.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Introduction: What and Why Gas Hydrates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A potential natural-gas resource that requires reservoir-scale characterization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3154680" cy="96012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43000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Gas hydrate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35607"/>
            <a:ext cx="2935224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Methane is held inside crystalline water cages in sediment pore 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3154680" cy="96012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North Slope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24328"/>
            <a:ext cx="2935224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USGS assessed a mean of about 53.8 TCF of technically recoverable gas in North Slope hydrate accumulations.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29000"/>
            <a:ext cx="3154680" cy="96012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520440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Characterization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813048"/>
            <a:ext cx="2935224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Translate resource potential into interval-scale occurrence, saturation, uncertainty, and sweet-spot evidence.</a:t>
            </a:r>
          </a:p>
        </p:txBody>
      </p:sp>
      <p:pic>
        <p:nvPicPr>
          <p:cNvPr id="13" name="Picture 12" descr="subsurface_evidenc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1560"/>
            <a:ext cx="662940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26280" y="4315968"/>
            <a:ext cx="62636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4407407"/>
            <a:ext cx="604418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Core 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4700016"/>
            <a:ext cx="6044183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Stability and maps constrain confidence. Logs, NMR/core labels, and uncertainty determine interval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Parameters: Header-Derived Well-Log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Only Excel header/schema references are available; generated rows are synthetic</a:t>
            </a:r>
          </a:p>
        </p:txBody>
      </p:sp>
      <p:pic>
        <p:nvPicPr>
          <p:cNvPr id="4" name="Picture 3" descr="synthetic_well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987552"/>
            <a:ext cx="68122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" y="1024128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115568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Lithology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08176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GR, core lithology, clean-sand screening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Porosity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21408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Density, neutron, NMR, core porosity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50592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542032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Electrical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834640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Deep resistivity and source mnemonics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163824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255264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Elastic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547872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Vp, Vs, Vp/Vs, impedance, moduli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77056"/>
            <a:ext cx="3886200" cy="566928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261104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Sgh, S_h, NMR_SAT, phase classes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90288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681728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QC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974336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Caliper, outliers, depth match, missing curves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5376672"/>
            <a:ext cx="6309360" cy="5943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3208" y="5468112"/>
            <a:ext cx="608990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Data provenance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5760720"/>
            <a:ext cx="6089904" cy="1554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Header-derived synthetic records only. Values test layout and QA; they are not user-supplied sample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three Excel header references; project Q&amp;A update; Lee and Collett 2011; Haines et al.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ML Methodology: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ANN paper logic adapted into a leakage-controlled well-log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78992"/>
            <a:ext cx="21488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Chong et al.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5 permafrost wells
&gt;10,000 depth points
NMR-derived Sh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078992"/>
            <a:ext cx="214884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64408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Input log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density, porosity, Rt, GR,
Vp and Vs candidates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078992"/>
            <a:ext cx="214884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33288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Project target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NMR/core saturation is a label,
not an input when target-derived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078992"/>
            <a:ext cx="21488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7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Validation upgrade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7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complete-well holdout
instead of random depth 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267712"/>
            <a:ext cx="1417320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approved logs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21408" y="2578608"/>
            <a:ext cx="256031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450592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QC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86200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15384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5112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feature sets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50992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980176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model ladder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15784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44968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54696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held-out wells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80576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09760" y="2267712"/>
            <a:ext cx="1417320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19488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outputs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429000"/>
            <a:ext cx="2697480" cy="10515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3520440"/>
            <a:ext cx="24780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1. QC and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" y="3813048"/>
            <a:ext cx="24780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Caliper washout, depth matching, missing-curve routing, unit standardization, multivariate outlier review.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1880" y="3429000"/>
            <a:ext cx="2697480" cy="10515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1608" y="3520440"/>
            <a:ext cx="24780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2. Physics features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1608" y="3813048"/>
            <a:ext cx="24780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Separate measured logs, derived elastic/geomechanical features, and target-derived saturation fields.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3429000"/>
            <a:ext cx="2697480" cy="10515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3520440"/>
            <a:ext cx="24780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3. Model ladder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3813048"/>
            <a:ext cx="24780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Rules and linear baselines first; tree/GBM for feature behavior; ANN/Keras for nonlinear saturation response.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3429000"/>
            <a:ext cx="2011680" cy="10515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73767" y="3520440"/>
            <a:ext cx="1792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4. Outputs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73767" y="3813048"/>
            <a:ext cx="17922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Occurrence class
Sh regression
uncertainty flags</a:t>
            </a:r>
          </a:p>
        </p:txBody>
      </p:sp>
      <p:pic>
        <p:nvPicPr>
          <p:cNvPr id="45" name="Picture 44" descr="model_validation_placeh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873752"/>
            <a:ext cx="8046720" cy="107899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Chong et al. 2022, DOI: 10.1007/s10596-022-10151-9; project runtime requirements 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Website Integration: Four-Page Visual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Streamlit is a public-source prototype and figure-generation surface</a:t>
            </a:r>
          </a:p>
        </p:txBody>
      </p:sp>
      <p:pic>
        <p:nvPicPr>
          <p:cNvPr id="4" name="Picture 3" descr="website_four_pag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24128"/>
            <a:ext cx="10287000" cy="2971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68680" y="4407408"/>
            <a:ext cx="3154680" cy="8686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4498848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4791456"/>
            <a:ext cx="2935224" cy="429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Project goal, data-to-decision pipeline, and evidence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4407408"/>
            <a:ext cx="3154680" cy="8686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4498848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Analyze Hydrates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5696" y="4791456"/>
            <a:ext cx="2935224" cy="429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Header-derived synthetic log board, target guardrail, runtime readiness.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4407408"/>
            <a:ext cx="3154680" cy="8686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498848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Project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91456"/>
            <a:ext cx="2935224" cy="429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Built now versus approved-data activation, blockers, deliverables.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Public website remains synthetic/public-source only; legacy eight-page links route into the four current pages.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Geomechanical Feature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Rock-physics parameters help evaluate hydrate-consistent stiffness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0744200" cy="4160520"/>
          </a:xfrm>
          <a:prstGeom prst="rect">
            <a:avLst/>
          </a:prstGeom>
          <a:solidFill>
            <a:srgbClr val="FFFFFF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37947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Inputs from the well-log 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19072"/>
            <a:ext cx="3566160" cy="9144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167D8D"/>
                </a:solidFill>
                <a:latin typeface="Aptos"/>
              </a:rPr>
              <a:t>rho, Vp, Vs, GR, porosity, NMR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34747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Derived rock-physics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3474720" cy="1783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F2933"/>
                </a:solidFill>
                <a:latin typeface="Aptos"/>
              </a:rPr>
              <a:t>YM = f(rho, Vp, Vs)
PR = f(Vp, Vs)
MR = (Vs * rho)^2
LR = (Vp * rho)^2 - 2(Vs * rho)^2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269748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Interpretation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755648"/>
            <a:ext cx="2651760" cy="12344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67D8D"/>
                </a:solidFill>
                <a:latin typeface="Aptos"/>
              </a:rPr>
              <a:t>Compare hydrate, gas, water, shale, ice, and stress effects.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51960" y="2331720"/>
            <a:ext cx="320040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83879" y="2331720"/>
            <a:ext cx="137161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" y="3977639"/>
            <a:ext cx="9921240" cy="749808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069079"/>
            <a:ext cx="97017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61688"/>
            <a:ext cx="9701784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Integrate mechanical behavior with log response so high resistivity or high velocity is not treated as a hydrate label by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project geomechanics screenshots and local equation-map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3D Map and Well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Current Streamlit structural explorer view with a live-map link</a:t>
            </a:r>
          </a:p>
        </p:txBody>
      </p:sp>
      <p:pic>
        <p:nvPicPr>
          <p:cNvPr id="4" name="Picture 3" descr="streamlit_3d_contex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60120"/>
            <a:ext cx="672084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26679" y="1234440"/>
            <a:ext cx="3429000" cy="10972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36407" y="132588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Map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36407" y="1618488"/>
            <a:ext cx="3209544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Show well positions, structural context, data coverage, and candidate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743200"/>
            <a:ext cx="3429000" cy="96012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7" y="283464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Live interaction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7" y="3127248"/>
            <a:ext cx="3209544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Google Slides stores a static image; use the linked Streamlit app for rotation, zoom, and layer toggles.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840480"/>
            <a:ext cx="3246120" cy="274320"/>
          </a:xfrm>
          <a:prstGeom prst="rect">
            <a:avLst/>
          </a:prstGeom>
          <a:noFill/>
        </p:spPr>
        <p:txBody>
          <a:bodyPr wrap="none" lIns="54864" rIns="54864">
            <a:spAutoFit/>
          </a:bodyPr>
          <a:lstStyle/>
          <a:p>
            <a:r>
              <a:rPr sz="1150" b="1">
                <a:solidFill>
                  <a:srgbClr val="167D8D"/>
                </a:solidFill>
                <a:latin typeface="Aptos"/>
                <a:hlinkClick r:id="rId3"/>
              </a:rPr>
              <a:t>Open live Streamlit 3D explorer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407408"/>
            <a:ext cx="3429000" cy="74980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4498848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Data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7" y="4791456"/>
            <a:ext cx="3209544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Public map uses regional/public layers; approved well results stay runtime-only.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project GIS atlas and future approved-runtime outputs.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Results and Discussion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Website placeholders now show what approved-data outputs will replace</a:t>
            </a:r>
          </a:p>
        </p:txBody>
      </p:sp>
      <p:pic>
        <p:nvPicPr>
          <p:cNvPr id="4" name="Picture 3" descr="model_validation_placeh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960120"/>
            <a:ext cx="5349240" cy="2560320"/>
          </a:xfrm>
          <a:prstGeom prst="rect">
            <a:avLst/>
          </a:prstGeom>
        </p:spPr>
      </p:pic>
      <p:pic>
        <p:nvPicPr>
          <p:cNvPr id="5" name="Picture 4" descr="sweet_spot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60120"/>
            <a:ext cx="498348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3977639"/>
            <a:ext cx="3200400" cy="9144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Expected figures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Well-log panel, saturation plot, confusion matrix, calibration 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977639"/>
            <a:ext cx="32004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Explain model behavior, false positives, uncertain intervals, and geologic controls.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977639"/>
            <a:ext cx="32004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Occurrence class, saturation estimate, uncertainty, sweet-spot rank, review flags.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Final project message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7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Scientific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Hydrate occurrence, saturation, reservoir quality, and producibility are separated.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5968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ML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Models are trained on physics-backed features and tested by complete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7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Energy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7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Characterization supports future natural-gas resource evaluation and energy security.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86200"/>
            <a:ext cx="978408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123447"/>
                </a:solidFill>
                <a:latin typeface="Aptos"/>
              </a:rPr>
              <a:t>The goal is a defensible, explainable workflow for predicting gas hydrate occurrence and saturation from approved North Slope well-log and core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