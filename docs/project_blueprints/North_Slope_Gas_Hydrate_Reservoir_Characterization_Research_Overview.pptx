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Gas Hydrate Occurrence and Saturation Prediction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Permafrost sediments on the Alaska North Slope using AI/ML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822960" y="1417320"/>
            <a:ext cx="1828800" cy="1828800"/>
          </a:xfrm>
          <a:prstGeom prst="ellipse">
            <a:avLst/>
          </a:prstGeom>
          <a:solidFill>
            <a:srgbClr val="EEF2F4"/>
          </a:solidFill>
          <a:ln cap="flat" cmpd="sng" w="9525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078992" y="20848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photo</a:t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>
            <a:off x="3017520" y="1325880"/>
            <a:ext cx="3657600" cy="1143000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3127248" y="1417320"/>
            <a:ext cx="343814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Rohan Nanda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3127248" y="1709928"/>
            <a:ext cx="3438144" cy="704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Lead Geologist</a:t>
            </a:r>
            <a:b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M.S. Geosciences, University of Texas at Dallas</a:t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6995160" y="1325880"/>
            <a:ext cx="3840480" cy="114300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7104888" y="1417320"/>
            <a:ext cx="36210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About me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7104888" y="1709928"/>
            <a:ext cx="36210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90">
                <a:solidFill>
                  <a:srgbClr val="1F2933"/>
                </a:solidFill>
              </a:rPr>
              <a:t>I like drawing, and physical </a:t>
            </a:r>
            <a:r>
              <a:rPr lang="en-US" sz="890">
                <a:solidFill>
                  <a:srgbClr val="1F2933"/>
                </a:solidFill>
              </a:rPr>
              <a:t>activities</a:t>
            </a:r>
            <a:r>
              <a:rPr lang="en-US" sz="890">
                <a:solidFill>
                  <a:srgbClr val="1F2933"/>
                </a:solidFill>
              </a:rPr>
              <a:t> like swimming or running! </a:t>
            </a:r>
            <a:endParaRPr/>
          </a:p>
        </p:txBody>
      </p:sp>
      <p:sp>
        <p:nvSpPr>
          <p:cNvPr id="94" name="Google Shape;94;p13"/>
          <p:cNvSpPr/>
          <p:nvPr/>
        </p:nvSpPr>
        <p:spPr>
          <a:xfrm>
            <a:off x="3017520" y="3246120"/>
            <a:ext cx="7818120" cy="114300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3127248" y="3337560"/>
            <a:ext cx="759866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Project focus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3127248" y="3630168"/>
            <a:ext cx="7598664" cy="704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Use approved well-log, NMR, and core-analysis data to predict gas hydrate occurrence and saturation, then communicate results as reservoir-characterization evidence.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3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Deck structure follows project email instructions received 2026-06-09.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Introduction: What and Why Gas Hydrates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A potential natural-gas resource that requires reservoir-scale characterization</a:t>
            </a:r>
            <a:endParaRPr/>
          </a:p>
        </p:txBody>
      </p:sp>
      <p:sp>
        <p:nvSpPr>
          <p:cNvPr id="104" name="Google Shape;104;p14"/>
          <p:cNvSpPr/>
          <p:nvPr/>
        </p:nvSpPr>
        <p:spPr>
          <a:xfrm>
            <a:off x="731520" y="1234440"/>
            <a:ext cx="3108960" cy="1234440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841248" y="1325880"/>
            <a:ext cx="288950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What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41248" y="1618488"/>
            <a:ext cx="2889504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Methane held inside crystalline water cages in sediment pore space.</a:t>
            </a:r>
            <a:endParaRPr/>
          </a:p>
        </p:txBody>
      </p:sp>
      <p:sp>
        <p:nvSpPr>
          <p:cNvPr id="107" name="Google Shape;107;p14"/>
          <p:cNvSpPr/>
          <p:nvPr/>
        </p:nvSpPr>
        <p:spPr>
          <a:xfrm>
            <a:off x="4160520" y="1234440"/>
            <a:ext cx="3108960" cy="123444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4270248" y="1325880"/>
            <a:ext cx="288950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Why North Slope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4270248" y="1618488"/>
            <a:ext cx="2889504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Permafrost stability, documented hydrate-bearing sands, and large assessed resource potential.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7589520" y="1234440"/>
            <a:ext cx="3108960" cy="123444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7699248" y="1325880"/>
            <a:ext cx="288950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Why characterize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7699248" y="1618488"/>
            <a:ext cx="2889504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Occurrence, saturation, reservoir quality, uncertainty, and producibility are separate questions.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731520" y="3657600"/>
            <a:ext cx="1325880" cy="621792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841248" y="3749039"/>
            <a:ext cx="11064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stability</a:t>
            </a:r>
            <a:endParaRPr/>
          </a:p>
        </p:txBody>
      </p:sp>
      <p:cxnSp>
        <p:nvCxnSpPr>
          <p:cNvPr id="115" name="Google Shape;115;p14"/>
          <p:cNvCxnSpPr/>
          <p:nvPr/>
        </p:nvCxnSpPr>
        <p:spPr>
          <a:xfrm>
            <a:off x="2075688" y="396849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16" name="Google Shape;116;p14"/>
          <p:cNvSpPr/>
          <p:nvPr/>
        </p:nvSpPr>
        <p:spPr>
          <a:xfrm>
            <a:off x="2404872" y="3657600"/>
            <a:ext cx="132588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2514600" y="3749039"/>
            <a:ext cx="11064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sand</a:t>
            </a:r>
            <a:endParaRPr/>
          </a:p>
        </p:txBody>
      </p:sp>
      <p:cxnSp>
        <p:nvCxnSpPr>
          <p:cNvPr id="118" name="Google Shape;118;p14"/>
          <p:cNvCxnSpPr/>
          <p:nvPr/>
        </p:nvCxnSpPr>
        <p:spPr>
          <a:xfrm>
            <a:off x="3749039" y="3968496"/>
            <a:ext cx="256033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19" name="Google Shape;119;p14"/>
          <p:cNvSpPr/>
          <p:nvPr/>
        </p:nvSpPr>
        <p:spPr>
          <a:xfrm>
            <a:off x="4078224" y="3657600"/>
            <a:ext cx="132588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4187952" y="3749039"/>
            <a:ext cx="11064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gas charge</a:t>
            </a:r>
            <a:endParaRPr/>
          </a:p>
        </p:txBody>
      </p:sp>
      <p:cxnSp>
        <p:nvCxnSpPr>
          <p:cNvPr id="121" name="Google Shape;121;p14"/>
          <p:cNvCxnSpPr/>
          <p:nvPr/>
        </p:nvCxnSpPr>
        <p:spPr>
          <a:xfrm>
            <a:off x="5422392" y="396849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2" name="Google Shape;122;p14"/>
          <p:cNvSpPr/>
          <p:nvPr/>
        </p:nvSpPr>
        <p:spPr>
          <a:xfrm>
            <a:off x="5751576" y="3657600"/>
            <a:ext cx="132588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5861304" y="3749039"/>
            <a:ext cx="11064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log evidence</a:t>
            </a:r>
            <a:endParaRPr/>
          </a:p>
        </p:txBody>
      </p:sp>
      <p:cxnSp>
        <p:nvCxnSpPr>
          <p:cNvPr id="124" name="Google Shape;124;p14"/>
          <p:cNvCxnSpPr/>
          <p:nvPr/>
        </p:nvCxnSpPr>
        <p:spPr>
          <a:xfrm>
            <a:off x="7095744" y="396849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5" name="Google Shape;125;p14"/>
          <p:cNvSpPr/>
          <p:nvPr/>
        </p:nvSpPr>
        <p:spPr>
          <a:xfrm>
            <a:off x="7424928" y="3657600"/>
            <a:ext cx="132588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7534656" y="3749039"/>
            <a:ext cx="11064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saturation</a:t>
            </a:r>
            <a:endParaRPr/>
          </a:p>
        </p:txBody>
      </p:sp>
      <p:cxnSp>
        <p:nvCxnSpPr>
          <p:cNvPr id="127" name="Google Shape;127;p14"/>
          <p:cNvCxnSpPr/>
          <p:nvPr/>
        </p:nvCxnSpPr>
        <p:spPr>
          <a:xfrm>
            <a:off x="8769096" y="396849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8" name="Google Shape;128;p14"/>
          <p:cNvSpPr/>
          <p:nvPr/>
        </p:nvSpPr>
        <p:spPr>
          <a:xfrm>
            <a:off x="9098280" y="3657600"/>
            <a:ext cx="1325880" cy="621792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4"/>
          <p:cNvSpPr txBox="1"/>
          <p:nvPr/>
        </p:nvSpPr>
        <p:spPr>
          <a:xfrm>
            <a:off x="9208008" y="3749039"/>
            <a:ext cx="11064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sweet spot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3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Sources: USGS 2019; DOE/NETL; Chong et al. 2022; Lee and Collett 2011; Haines et al. 2022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5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Parameters: Well-Log Scaffold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Measured curves, derived physics, QC fields, and targets stay separated</a:t>
            </a:r>
            <a:endParaRPr/>
          </a:p>
        </p:txBody>
      </p:sp>
      <p:sp>
        <p:nvSpPr>
          <p:cNvPr id="137" name="Google Shape;137;p15"/>
          <p:cNvSpPr/>
          <p:nvPr/>
        </p:nvSpPr>
        <p:spPr>
          <a:xfrm>
            <a:off x="685800" y="1234440"/>
            <a:ext cx="3154680" cy="105156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5"/>
          <p:cNvSpPr txBox="1"/>
          <p:nvPr/>
        </p:nvSpPr>
        <p:spPr>
          <a:xfrm>
            <a:off x="795528" y="1325880"/>
            <a:ext cx="29352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Lithology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795528" y="1618488"/>
            <a:ext cx="2935224" cy="612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GR, core lithology, clean-sand screening</a:t>
            </a:r>
            <a:endParaRPr/>
          </a:p>
        </p:txBody>
      </p:sp>
      <p:sp>
        <p:nvSpPr>
          <p:cNvPr id="140" name="Google Shape;140;p15"/>
          <p:cNvSpPr/>
          <p:nvPr/>
        </p:nvSpPr>
        <p:spPr>
          <a:xfrm>
            <a:off x="4389120" y="1234440"/>
            <a:ext cx="3154680" cy="105156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5"/>
          <p:cNvSpPr txBox="1"/>
          <p:nvPr/>
        </p:nvSpPr>
        <p:spPr>
          <a:xfrm>
            <a:off x="4498848" y="1325880"/>
            <a:ext cx="29352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Porosity</a:t>
            </a:r>
            <a:endParaRPr/>
          </a:p>
        </p:txBody>
      </p:sp>
      <p:sp>
        <p:nvSpPr>
          <p:cNvPr id="142" name="Google Shape;142;p15"/>
          <p:cNvSpPr txBox="1"/>
          <p:nvPr/>
        </p:nvSpPr>
        <p:spPr>
          <a:xfrm>
            <a:off x="4498848" y="1618488"/>
            <a:ext cx="2935224" cy="612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Density, neutron, NMR, core porosity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8092440" y="1234440"/>
            <a:ext cx="3154680" cy="105156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8202167" y="1325880"/>
            <a:ext cx="29352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Electrical</a:t>
            </a:r>
            <a:endParaRPr/>
          </a:p>
        </p:txBody>
      </p:sp>
      <p:sp>
        <p:nvSpPr>
          <p:cNvPr id="145" name="Google Shape;145;p15"/>
          <p:cNvSpPr txBox="1"/>
          <p:nvPr/>
        </p:nvSpPr>
        <p:spPr>
          <a:xfrm>
            <a:off x="8202167" y="1618488"/>
            <a:ext cx="2935224" cy="612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Deep resistivity and source mnemonics</a:t>
            </a:r>
            <a:endParaRPr/>
          </a:p>
        </p:txBody>
      </p:sp>
      <p:sp>
        <p:nvSpPr>
          <p:cNvPr id="146" name="Google Shape;146;p15"/>
          <p:cNvSpPr/>
          <p:nvPr/>
        </p:nvSpPr>
        <p:spPr>
          <a:xfrm>
            <a:off x="685800" y="2743200"/>
            <a:ext cx="3154680" cy="105156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5"/>
          <p:cNvSpPr txBox="1"/>
          <p:nvPr/>
        </p:nvSpPr>
        <p:spPr>
          <a:xfrm>
            <a:off x="795528" y="2834640"/>
            <a:ext cx="29352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Elastic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795528" y="3127248"/>
            <a:ext cx="2935224" cy="612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Vp, Vs, Vp/Vs, impedance, moduli</a:t>
            </a:r>
            <a:endParaRPr/>
          </a:p>
        </p:txBody>
      </p:sp>
      <p:sp>
        <p:nvSpPr>
          <p:cNvPr id="149" name="Google Shape;149;p15"/>
          <p:cNvSpPr/>
          <p:nvPr/>
        </p:nvSpPr>
        <p:spPr>
          <a:xfrm>
            <a:off x="4389120" y="2743200"/>
            <a:ext cx="3154680" cy="1051560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5"/>
          <p:cNvSpPr txBox="1"/>
          <p:nvPr/>
        </p:nvSpPr>
        <p:spPr>
          <a:xfrm>
            <a:off x="4498848" y="2834640"/>
            <a:ext cx="29352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Targets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4498848" y="3127248"/>
            <a:ext cx="2935224" cy="612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Sgh, S_h, NMR_SAT, phase classes</a:t>
            </a:r>
            <a:endParaRPr/>
          </a:p>
        </p:txBody>
      </p:sp>
      <p:sp>
        <p:nvSpPr>
          <p:cNvPr id="152" name="Google Shape;152;p15"/>
          <p:cNvSpPr/>
          <p:nvPr/>
        </p:nvSpPr>
        <p:spPr>
          <a:xfrm>
            <a:off x="8092440" y="2743200"/>
            <a:ext cx="3154680" cy="105156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 txBox="1"/>
          <p:nvPr/>
        </p:nvSpPr>
        <p:spPr>
          <a:xfrm>
            <a:off x="8202167" y="2834640"/>
            <a:ext cx="29352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QC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8202167" y="3127248"/>
            <a:ext cx="2935224" cy="612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Caliper, outliers, depth match, missing curves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1097280" y="480060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Leakage rule: target or interpretation columns can calibrate labels, but cannot enter the feature table as predictors.</a:t>
            </a:r>
            <a:endParaRPr/>
          </a:p>
        </p:txBody>
      </p:sp>
      <p:sp>
        <p:nvSpPr>
          <p:cNvPr id="156" name="Google Shape;156;p1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3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Sources: recovered header screenshots; project Q&amp;A update; Lee and Collett 2011; Haines et al. 2022</a:t>
            </a:r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502920" y="6236208"/>
            <a:ext cx="11155680" cy="329184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txBody>
          <a:bodyPr wrap="square" lIns="73152" rIns="73152" tIns="36576" bIns="36576">
            <a:spAutoFit/>
          </a:bodyPr>
          <a:lstStyle/>
          <a:p>
            <a:pPr>
              <a:defRPr sz="850" b="0">
                <a:solidFill>
                  <a:srgbClr val="4E5A68"/>
                </a:solidFill>
              </a:defRPr>
            </a:pPr>
            <a:r>
              <a:t>Provenance: three Excel header/schema references only. Public rows are header-derived synthetic records; approved data are mapped later in runtime.</a:t>
            </a:r>
          </a:p>
        </p:txBody>
      </p:sp>
      <p:pic>
        <p:nvPicPr>
          <p:cNvPr id="158" name="Picture 157" descr="synthetic_well_log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508760"/>
            <a:ext cx="3886200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6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ML Methodology: Architecture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Workflow adapted from gas-hydrate ML literature and approved-data constraints</a:t>
            </a:r>
            <a:endParaRPr/>
          </a:p>
        </p:txBody>
      </p:sp>
      <p:sp>
        <p:nvSpPr>
          <p:cNvPr id="163" name="Google Shape;163;p16"/>
          <p:cNvSpPr/>
          <p:nvPr/>
        </p:nvSpPr>
        <p:spPr>
          <a:xfrm>
            <a:off x="685800" y="1417320"/>
            <a:ext cx="1417320" cy="621792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6"/>
          <p:cNvSpPr txBox="1"/>
          <p:nvPr/>
        </p:nvSpPr>
        <p:spPr>
          <a:xfrm>
            <a:off x="795528" y="1508760"/>
            <a:ext cx="119786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raw logs</a:t>
            </a:r>
            <a:endParaRPr/>
          </a:p>
        </p:txBody>
      </p:sp>
      <p:cxnSp>
        <p:nvCxnSpPr>
          <p:cNvPr id="165" name="Google Shape;165;p16"/>
          <p:cNvCxnSpPr/>
          <p:nvPr/>
        </p:nvCxnSpPr>
        <p:spPr>
          <a:xfrm>
            <a:off x="2121408" y="1728216"/>
            <a:ext cx="256031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6" name="Google Shape;166;p16"/>
          <p:cNvSpPr/>
          <p:nvPr/>
        </p:nvSpPr>
        <p:spPr>
          <a:xfrm>
            <a:off x="2450592" y="1417320"/>
            <a:ext cx="141732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6"/>
          <p:cNvSpPr txBox="1"/>
          <p:nvPr/>
        </p:nvSpPr>
        <p:spPr>
          <a:xfrm>
            <a:off x="2560320" y="1508760"/>
            <a:ext cx="119786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QC</a:t>
            </a:r>
            <a:endParaRPr/>
          </a:p>
        </p:txBody>
      </p:sp>
      <p:cxnSp>
        <p:nvCxnSpPr>
          <p:cNvPr id="168" name="Google Shape;168;p16"/>
          <p:cNvCxnSpPr/>
          <p:nvPr/>
        </p:nvCxnSpPr>
        <p:spPr>
          <a:xfrm>
            <a:off x="3886200" y="172821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9" name="Google Shape;169;p16"/>
          <p:cNvSpPr/>
          <p:nvPr/>
        </p:nvSpPr>
        <p:spPr>
          <a:xfrm>
            <a:off x="4215384" y="1417320"/>
            <a:ext cx="141732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6"/>
          <p:cNvSpPr txBox="1"/>
          <p:nvPr/>
        </p:nvSpPr>
        <p:spPr>
          <a:xfrm>
            <a:off x="4325112" y="1508760"/>
            <a:ext cx="119786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features</a:t>
            </a:r>
            <a:endParaRPr/>
          </a:p>
        </p:txBody>
      </p:sp>
      <p:cxnSp>
        <p:nvCxnSpPr>
          <p:cNvPr id="171" name="Google Shape;171;p16"/>
          <p:cNvCxnSpPr/>
          <p:nvPr/>
        </p:nvCxnSpPr>
        <p:spPr>
          <a:xfrm>
            <a:off x="5650992" y="172821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2" name="Google Shape;172;p16"/>
          <p:cNvSpPr/>
          <p:nvPr/>
        </p:nvSpPr>
        <p:spPr>
          <a:xfrm>
            <a:off x="5980176" y="1417320"/>
            <a:ext cx="141732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6"/>
          <p:cNvSpPr txBox="1"/>
          <p:nvPr/>
        </p:nvSpPr>
        <p:spPr>
          <a:xfrm>
            <a:off x="6089904" y="1508760"/>
            <a:ext cx="119786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labels</a:t>
            </a:r>
            <a:endParaRPr/>
          </a:p>
        </p:txBody>
      </p:sp>
      <p:cxnSp>
        <p:nvCxnSpPr>
          <p:cNvPr id="174" name="Google Shape;174;p16"/>
          <p:cNvCxnSpPr/>
          <p:nvPr/>
        </p:nvCxnSpPr>
        <p:spPr>
          <a:xfrm>
            <a:off x="7415784" y="172821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5" name="Google Shape;175;p16"/>
          <p:cNvSpPr/>
          <p:nvPr/>
        </p:nvSpPr>
        <p:spPr>
          <a:xfrm>
            <a:off x="7744968" y="1417320"/>
            <a:ext cx="141732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6"/>
          <p:cNvSpPr txBox="1"/>
          <p:nvPr/>
        </p:nvSpPr>
        <p:spPr>
          <a:xfrm>
            <a:off x="7854696" y="1508760"/>
            <a:ext cx="119786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models</a:t>
            </a:r>
            <a:endParaRPr/>
          </a:p>
        </p:txBody>
      </p:sp>
      <p:cxnSp>
        <p:nvCxnSpPr>
          <p:cNvPr id="177" name="Google Shape;177;p16"/>
          <p:cNvCxnSpPr/>
          <p:nvPr/>
        </p:nvCxnSpPr>
        <p:spPr>
          <a:xfrm>
            <a:off x="9180576" y="172821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8" name="Google Shape;178;p16"/>
          <p:cNvSpPr/>
          <p:nvPr/>
        </p:nvSpPr>
        <p:spPr>
          <a:xfrm>
            <a:off x="9509760" y="1417320"/>
            <a:ext cx="1417320" cy="621792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6"/>
          <p:cNvSpPr txBox="1"/>
          <p:nvPr/>
        </p:nvSpPr>
        <p:spPr>
          <a:xfrm>
            <a:off x="9619488" y="1508760"/>
            <a:ext cx="119786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validation</a:t>
            </a:r>
            <a:endParaRPr/>
          </a:p>
        </p:txBody>
      </p:sp>
      <p:sp>
        <p:nvSpPr>
          <p:cNvPr id="180" name="Google Shape;180;p16"/>
          <p:cNvSpPr/>
          <p:nvPr/>
        </p:nvSpPr>
        <p:spPr>
          <a:xfrm>
            <a:off x="868680" y="2971800"/>
            <a:ext cx="2834640" cy="1234440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6"/>
          <p:cNvSpPr txBox="1"/>
          <p:nvPr/>
        </p:nvSpPr>
        <p:spPr>
          <a:xfrm>
            <a:off x="978407" y="3063240"/>
            <a:ext cx="261518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Data processing</a:t>
            </a:r>
            <a:endParaRPr/>
          </a:p>
        </p:txBody>
      </p:sp>
      <p:sp>
        <p:nvSpPr>
          <p:cNvPr id="182" name="Google Shape;182;p16"/>
          <p:cNvSpPr txBox="1"/>
          <p:nvPr/>
        </p:nvSpPr>
        <p:spPr>
          <a:xfrm>
            <a:off x="978407" y="3355848"/>
            <a:ext cx="2615184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Remove outliers, select depth intervals, align logs and core, and standardize units.</a:t>
            </a:r>
            <a:endParaRPr/>
          </a:p>
        </p:txBody>
      </p:sp>
      <p:sp>
        <p:nvSpPr>
          <p:cNvPr id="183" name="Google Shape;183;p16"/>
          <p:cNvSpPr/>
          <p:nvPr/>
        </p:nvSpPr>
        <p:spPr>
          <a:xfrm>
            <a:off x="3977639" y="2971800"/>
            <a:ext cx="2834640" cy="123444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 txBox="1"/>
          <p:nvPr/>
        </p:nvSpPr>
        <p:spPr>
          <a:xfrm>
            <a:off x="4087368" y="3063240"/>
            <a:ext cx="261518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Modeling</a:t>
            </a:r>
            <a:endParaRPr/>
          </a:p>
        </p:txBody>
      </p:sp>
      <p:sp>
        <p:nvSpPr>
          <p:cNvPr id="185" name="Google Shape;185;p16"/>
          <p:cNvSpPr txBox="1"/>
          <p:nvPr/>
        </p:nvSpPr>
        <p:spPr>
          <a:xfrm>
            <a:off x="4087368" y="3355848"/>
            <a:ext cx="2615184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Compare baselines, tree models, and Keras/ANN saturation models.</a:t>
            </a:r>
            <a:endParaRPr/>
          </a:p>
        </p:txBody>
      </p:sp>
      <p:sp>
        <p:nvSpPr>
          <p:cNvPr id="186" name="Google Shape;186;p16"/>
          <p:cNvSpPr/>
          <p:nvPr/>
        </p:nvSpPr>
        <p:spPr>
          <a:xfrm>
            <a:off x="7086600" y="2971800"/>
            <a:ext cx="2834640" cy="123444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6"/>
          <p:cNvSpPr txBox="1"/>
          <p:nvPr/>
        </p:nvSpPr>
        <p:spPr>
          <a:xfrm>
            <a:off x="7196328" y="3063240"/>
            <a:ext cx="261518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Validation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7196328" y="3355848"/>
            <a:ext cx="2615184" cy="7955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Use complete-well holdouts and compare predictions against core and interpreted measurements.</a:t>
            </a:r>
            <a:endParaRPr/>
          </a:p>
        </p:txBody>
      </p:sp>
      <p:sp>
        <p:nvSpPr>
          <p:cNvPr id="189" name="Google Shape;189;p16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3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Source anchor: Chong et al. 2022; project runtime requirements map.</a:t>
            </a:r>
            <a:endParaRPr/>
          </a:p>
        </p:txBody>
      </p:sp>
      <p:sp>
        <p:nvSpPr>
          <p:cNvPr id="190" name="TextBox 189"/>
          <p:cNvSpPr txBox="1"/>
          <p:nvPr/>
        </p:nvSpPr>
        <p:spPr>
          <a:xfrm>
            <a:off x="502920" y="6236208"/>
            <a:ext cx="11155680" cy="329184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txBody>
          <a:bodyPr wrap="square" lIns="73152" rIns="73152" tIns="36576" bIns="36576">
            <a:spAutoFit/>
          </a:bodyPr>
          <a:lstStyle/>
          <a:p>
            <a:pPr>
              <a:defRPr sz="850" b="0">
                <a:solidFill>
                  <a:srgbClr val="4E5A68"/>
                </a:solidFill>
              </a:defRPr>
            </a:pPr>
            <a:r>
              <a:t>Validation guardrail: split by complete wells, not neighboring depth rows, so performance reflects unseen-well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7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ML Methodology: Why These Parameters</a:t>
            </a:r>
            <a:endParaRPr/>
          </a:p>
        </p:txBody>
      </p:sp>
      <p:sp>
        <p:nvSpPr>
          <p:cNvPr id="195" name="Google Shape;195;p17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Classification and regression need different evidence</a:t>
            </a:r>
            <a:endParaRPr/>
          </a:p>
        </p:txBody>
      </p:sp>
      <p:sp>
        <p:nvSpPr>
          <p:cNvPr id="196" name="Google Shape;196;p17"/>
          <p:cNvSpPr/>
          <p:nvPr/>
        </p:nvSpPr>
        <p:spPr>
          <a:xfrm>
            <a:off x="731520" y="1188720"/>
            <a:ext cx="2971800" cy="1371600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7"/>
          <p:cNvSpPr txBox="1"/>
          <p:nvPr/>
        </p:nvSpPr>
        <p:spPr>
          <a:xfrm>
            <a:off x="841248" y="1280160"/>
            <a:ext cx="275234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Classification</a:t>
            </a:r>
            <a:endParaRPr/>
          </a:p>
        </p:txBody>
      </p:sp>
      <p:sp>
        <p:nvSpPr>
          <p:cNvPr id="198" name="Google Shape;198;p17"/>
          <p:cNvSpPr txBox="1"/>
          <p:nvPr/>
        </p:nvSpPr>
        <p:spPr>
          <a:xfrm>
            <a:off x="841248" y="1572768"/>
            <a:ext cx="2752344" cy="9326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Predict hydrate occurrence or phase class using lithology, resistivity, elastic, NMR, and QC context.</a:t>
            </a:r>
            <a:endParaRPr/>
          </a:p>
        </p:txBody>
      </p:sp>
      <p:sp>
        <p:nvSpPr>
          <p:cNvPr id="199" name="Google Shape;199;p17"/>
          <p:cNvSpPr/>
          <p:nvPr/>
        </p:nvSpPr>
        <p:spPr>
          <a:xfrm>
            <a:off x="4160520" y="1188720"/>
            <a:ext cx="2971800" cy="137160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7"/>
          <p:cNvSpPr txBox="1"/>
          <p:nvPr/>
        </p:nvSpPr>
        <p:spPr>
          <a:xfrm>
            <a:off x="4270248" y="1280160"/>
            <a:ext cx="275234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Regression</a:t>
            </a:r>
            <a:endParaRPr/>
          </a:p>
        </p:txBody>
      </p:sp>
      <p:sp>
        <p:nvSpPr>
          <p:cNvPr id="201" name="Google Shape;201;p17"/>
          <p:cNvSpPr txBox="1"/>
          <p:nvPr/>
        </p:nvSpPr>
        <p:spPr>
          <a:xfrm>
            <a:off x="4270248" y="1572768"/>
            <a:ext cx="2752344" cy="9326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Predict continuous hydrate saturation from calibrated logs, NMR-derived or core-calibrated targets, and physics features.</a:t>
            </a:r>
            <a:endParaRPr/>
          </a:p>
        </p:txBody>
      </p:sp>
      <p:sp>
        <p:nvSpPr>
          <p:cNvPr id="202" name="Google Shape;202;p17"/>
          <p:cNvSpPr/>
          <p:nvPr/>
        </p:nvSpPr>
        <p:spPr>
          <a:xfrm>
            <a:off x="7589520" y="1188720"/>
            <a:ext cx="2971800" cy="137160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7"/>
          <p:cNvSpPr txBox="1"/>
          <p:nvPr/>
        </p:nvSpPr>
        <p:spPr>
          <a:xfrm>
            <a:off x="7699248" y="1280160"/>
            <a:ext cx="275234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Linear vs nonlinear</a:t>
            </a:r>
            <a:endParaRPr/>
          </a:p>
        </p:txBody>
      </p:sp>
      <p:sp>
        <p:nvSpPr>
          <p:cNvPr id="204" name="Google Shape;204;p17"/>
          <p:cNvSpPr txBox="1"/>
          <p:nvPr/>
        </p:nvSpPr>
        <p:spPr>
          <a:xfrm>
            <a:off x="7699248" y="1572768"/>
            <a:ext cx="2752344" cy="9326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Linear baselines show traceable relationships; nonlinear models test interactions among reservoir, electrical, elastic, and NMR evidence.</a:t>
            </a:r>
            <a:endParaRPr/>
          </a:p>
        </p:txBody>
      </p:sp>
      <p:sp>
        <p:nvSpPr>
          <p:cNvPr id="205" name="Google Shape;205;p17"/>
          <p:cNvSpPr txBox="1"/>
          <p:nvPr/>
        </p:nvSpPr>
        <p:spPr>
          <a:xfrm>
            <a:off x="960120" y="3657600"/>
            <a:ext cx="102412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Selected features: density, porosity, gamma ray, resistivity, Vp, Vs, NMR, Vp/Vs, impedance, lambda-rho, mu-rho, brittleness, and QC flags.</a:t>
            </a:r>
            <a:endParaRPr/>
          </a:p>
        </p:txBody>
      </p:sp>
      <p:sp>
        <p:nvSpPr>
          <p:cNvPr id="206" name="Google Shape;206;p17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3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Sources: USGS 2019; DOE/NETL; Chong et al. 2022; Lee and Collett 2011; Haines et al. 2022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8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Geomechanical Feature Sketch</a:t>
            </a:r>
            <a:endParaRPr/>
          </a:p>
        </p:txBody>
      </p:sp>
      <p:sp>
        <p:nvSpPr>
          <p:cNvPr id="212" name="Google Shape;212;p18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Rock-physics parameters help evaluate hydrate-consistent stiffness</a:t>
            </a:r>
            <a:endParaRPr/>
          </a:p>
        </p:txBody>
      </p:sp>
      <p:sp>
        <p:nvSpPr>
          <p:cNvPr id="213" name="Google Shape;213;p18"/>
          <p:cNvSpPr/>
          <p:nvPr/>
        </p:nvSpPr>
        <p:spPr>
          <a:xfrm>
            <a:off x="731520" y="1143000"/>
            <a:ext cx="2743200" cy="1097280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8"/>
          <p:cNvSpPr txBox="1"/>
          <p:nvPr/>
        </p:nvSpPr>
        <p:spPr>
          <a:xfrm>
            <a:off x="841248" y="1234440"/>
            <a:ext cx="252374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Inputs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841248" y="1527048"/>
            <a:ext cx="2523744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Density, Vp, Vs, gamma ray, porosity, NMR</a:t>
            </a:r>
            <a:endParaRPr/>
          </a:p>
        </p:txBody>
      </p:sp>
      <p:sp>
        <p:nvSpPr>
          <p:cNvPr id="216" name="Google Shape;216;p18"/>
          <p:cNvSpPr/>
          <p:nvPr/>
        </p:nvSpPr>
        <p:spPr>
          <a:xfrm>
            <a:off x="3657600" y="1143000"/>
            <a:ext cx="4389120" cy="150876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8"/>
          <p:cNvSpPr txBox="1"/>
          <p:nvPr/>
        </p:nvSpPr>
        <p:spPr>
          <a:xfrm>
            <a:off x="3767328" y="1234440"/>
            <a:ext cx="4169663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Calculated properties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3767328" y="1527048"/>
            <a:ext cx="4169663" cy="10698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Young's modulus</a:t>
            </a:r>
            <a:b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Poisson's ratio</a:t>
            </a:r>
            <a:b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Brittleness</a:t>
            </a:r>
            <a:b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Mu-rho = (Vs * rho)^2</a:t>
            </a:r>
            <a:b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Lambda-rho = (Vp * rho)^2 - 2(Vs * rho)^2</a:t>
            </a:r>
            <a:endParaRPr/>
          </a:p>
        </p:txBody>
      </p:sp>
      <p:sp>
        <p:nvSpPr>
          <p:cNvPr id="219" name="Google Shape;219;p18"/>
          <p:cNvSpPr/>
          <p:nvPr/>
        </p:nvSpPr>
        <p:spPr>
          <a:xfrm>
            <a:off x="8321040" y="1143000"/>
            <a:ext cx="2743200" cy="1097280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8"/>
          <p:cNvSpPr txBox="1"/>
          <p:nvPr/>
        </p:nvSpPr>
        <p:spPr>
          <a:xfrm>
            <a:off x="8430767" y="1234440"/>
            <a:ext cx="252374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Interpretation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8430767" y="1527048"/>
            <a:ext cx="2523744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Compare hydrate, gas, water, shale, ice, and stress effects.</a:t>
            </a:r>
            <a:endParaRPr/>
          </a:p>
        </p:txBody>
      </p:sp>
      <p:cxnSp>
        <p:nvCxnSpPr>
          <p:cNvPr id="222" name="Google Shape;222;p18"/>
          <p:cNvCxnSpPr/>
          <p:nvPr/>
        </p:nvCxnSpPr>
        <p:spPr>
          <a:xfrm>
            <a:off x="3474720" y="169164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23" name="Google Shape;223;p18"/>
          <p:cNvCxnSpPr/>
          <p:nvPr/>
        </p:nvCxnSpPr>
        <p:spPr>
          <a:xfrm>
            <a:off x="8092440" y="1691640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24" name="Google Shape;224;p18"/>
          <p:cNvSpPr txBox="1"/>
          <p:nvPr/>
        </p:nvSpPr>
        <p:spPr>
          <a:xfrm>
            <a:off x="868680" y="4069080"/>
            <a:ext cx="10424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Purpose: integrate mechanical behavior with log response so high resistivity or high velocity is not treated as a hydrate label by itself.</a:t>
            </a:r>
            <a:endParaRPr/>
          </a:p>
        </p:txBody>
      </p:sp>
      <p:sp>
        <p:nvSpPr>
          <p:cNvPr id="225" name="Google Shape;225;p18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3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Source anchor: project geomechanics screenshots and local equation-map documents.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9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3D Map and Well Context</a:t>
            </a:r>
            <a:endParaRPr/>
          </a:p>
        </p:txBody>
      </p:sp>
      <p:sp>
        <p:nvSpPr>
          <p:cNvPr id="231" name="Google Shape;231;p19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Regional context constrains interpretation but does not replace log evidence</a:t>
            </a:r>
            <a:endParaRPr/>
          </a:p>
        </p:txBody>
      </p:sp>
      <p:sp>
        <p:nvSpPr>
          <p:cNvPr id="232" name="Google Shape;232;p19"/>
          <p:cNvSpPr/>
          <p:nvPr/>
        </p:nvSpPr>
        <p:spPr>
          <a:xfrm>
            <a:off x="777240" y="1143000"/>
            <a:ext cx="5486400" cy="4251960"/>
          </a:xfrm>
          <a:prstGeom prst="roundRect">
            <a:avLst>
              <a:gd fmla="val 16667" name="adj"/>
            </a:avLst>
          </a:prstGeom>
          <a:solidFill>
            <a:srgbClr val="EEF2F4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/>
          <p:nvPr/>
        </p:nvSpPr>
        <p:spPr>
          <a:xfrm>
            <a:off x="1371600" y="4389120"/>
            <a:ext cx="109728" cy="109728"/>
          </a:xfrm>
          <a:prstGeom prst="ellipse">
            <a:avLst/>
          </a:prstGeom>
          <a:solidFill>
            <a:srgbClr val="167D8D"/>
          </a:solidFill>
          <a:ln cap="flat" cmpd="sng" w="9525">
            <a:solidFill>
              <a:srgbClr val="12344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2103120" y="3566160"/>
            <a:ext cx="109728" cy="109728"/>
          </a:xfrm>
          <a:prstGeom prst="ellipse">
            <a:avLst/>
          </a:prstGeom>
          <a:solidFill>
            <a:srgbClr val="167D8D"/>
          </a:solidFill>
          <a:ln cap="flat" cmpd="sng" w="9525">
            <a:solidFill>
              <a:srgbClr val="12344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3108960" y="3977639"/>
            <a:ext cx="109728" cy="109728"/>
          </a:xfrm>
          <a:prstGeom prst="ellipse">
            <a:avLst/>
          </a:prstGeom>
          <a:solidFill>
            <a:srgbClr val="167D8D"/>
          </a:solidFill>
          <a:ln cap="flat" cmpd="sng" w="9525">
            <a:solidFill>
              <a:srgbClr val="12344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/>
          <p:nvPr/>
        </p:nvSpPr>
        <p:spPr>
          <a:xfrm>
            <a:off x="3886200" y="2926080"/>
            <a:ext cx="109728" cy="109728"/>
          </a:xfrm>
          <a:prstGeom prst="ellipse">
            <a:avLst/>
          </a:prstGeom>
          <a:solidFill>
            <a:srgbClr val="167D8D"/>
          </a:solidFill>
          <a:ln cap="flat" cmpd="sng" w="9525">
            <a:solidFill>
              <a:srgbClr val="12344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/>
          <p:nvPr/>
        </p:nvSpPr>
        <p:spPr>
          <a:xfrm>
            <a:off x="4892040" y="3657600"/>
            <a:ext cx="109728" cy="109728"/>
          </a:xfrm>
          <a:prstGeom prst="ellipse">
            <a:avLst/>
          </a:prstGeom>
          <a:solidFill>
            <a:srgbClr val="167D8D"/>
          </a:solidFill>
          <a:ln cap="flat" cmpd="sng" w="9525">
            <a:solidFill>
              <a:srgbClr val="12344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5394960" y="2560320"/>
            <a:ext cx="109728" cy="109728"/>
          </a:xfrm>
          <a:prstGeom prst="ellipse">
            <a:avLst/>
          </a:prstGeom>
          <a:solidFill>
            <a:srgbClr val="167D8D"/>
          </a:solidFill>
          <a:ln cap="flat" cmpd="sng" w="9525">
            <a:solidFill>
              <a:srgbClr val="12344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9"/>
          <p:cNvSpPr/>
          <p:nvPr/>
        </p:nvSpPr>
        <p:spPr>
          <a:xfrm>
            <a:off x="6629400" y="1234440"/>
            <a:ext cx="4023360" cy="109728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6739128" y="1325880"/>
            <a:ext cx="380390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Map use</a:t>
            </a: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6739128" y="1618488"/>
            <a:ext cx="3803904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Show well positions, structural context, data coverage, and candidate intervals.</a:t>
            </a:r>
            <a:endParaRPr/>
          </a:p>
        </p:txBody>
      </p:sp>
      <p:sp>
        <p:nvSpPr>
          <p:cNvPr id="243" name="Google Shape;243;p19"/>
          <p:cNvSpPr/>
          <p:nvPr/>
        </p:nvSpPr>
        <p:spPr>
          <a:xfrm>
            <a:off x="6629400" y="2788920"/>
            <a:ext cx="4023360" cy="109728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9"/>
          <p:cNvSpPr txBox="1"/>
          <p:nvPr/>
        </p:nvSpPr>
        <p:spPr>
          <a:xfrm>
            <a:off x="6739128" y="2880360"/>
            <a:ext cx="380390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Boundary</a:t>
            </a: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6739128" y="3172968"/>
            <a:ext cx="3803904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Public deck can show synthetic/public context; approved well identifiers and results stay in the authorized runtime.</a:t>
            </a:r>
            <a:endParaRPr/>
          </a:p>
        </p:txBody>
      </p:sp>
      <p:sp>
        <p:nvSpPr>
          <p:cNvPr id="246" name="Google Shape;246;p19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3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Source anchor: project GIS atlas and future approved-runtime outputs.</a:t>
            </a:r>
            <a:endParaRPr/>
          </a:p>
        </p:txBody>
      </p:sp>
      <p:pic>
        <p:nvPicPr>
          <p:cNvPr id="247" name="Picture 246" descr="streamlit_3d_context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25880"/>
            <a:ext cx="6537960" cy="4343400"/>
          </a:xfrm>
          <a:prstGeom prst="rect">
            <a:avLst/>
          </a:prstGeom>
        </p:spPr>
      </p:pic>
      <p:sp>
        <p:nvSpPr>
          <p:cNvPr id="248" name="TextBox 247"/>
          <p:cNvSpPr txBox="1"/>
          <p:nvPr/>
        </p:nvSpPr>
        <p:spPr>
          <a:xfrm>
            <a:off x="7360920" y="4343400"/>
            <a:ext cx="4251960" cy="868680"/>
          </a:xfrm>
          <a:prstGeom prst="rect">
            <a:avLst/>
          </a:prstGeom>
          <a:solidFill>
            <a:srgbClr val="E8F4F7"/>
          </a:solidFill>
          <a:ln>
            <a:solidFill>
              <a:srgbClr val="7CB4BE"/>
            </a:solidFill>
          </a:ln>
        </p:spPr>
        <p:txBody>
          <a:bodyPr wrap="square" lIns="73152" rIns="73152" tIns="36576" bIns="36576">
            <a:spAutoFit/>
          </a:bodyPr>
          <a:lstStyle/>
          <a:p>
            <a:pPr>
              <a:defRPr sz="1200" b="1">
                <a:solidFill>
                  <a:srgbClr val="184E5A"/>
                </a:solidFill>
              </a:defRPr>
            </a:pPr>
            <a:r>
              <a:t>Current website workflow</a:t>
            </a:r>
            <a:br/>
            <a:r>
              <a:t>Overview -&gt; Explore North Slope -&gt; Analyze Hydrates -&gt; Project Plan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502920" y="6236208"/>
            <a:ext cx="11155680" cy="329184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txBody>
          <a:bodyPr wrap="square" lIns="73152" rIns="73152" tIns="36576" bIns="36576">
            <a:spAutoFit/>
          </a:bodyPr>
          <a:lstStyle/>
          <a:p>
            <a:pPr>
              <a:defRPr sz="850" b="0">
                <a:solidFill>
                  <a:srgbClr val="4E5A68"/>
                </a:solidFill>
              </a:defRPr>
            </a:pPr>
            <a:r>
              <a:t>Public map context constrains interpretation; approved well identifiers, labels, and results stay in the runtime-only environment.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0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Results and Discussion Plan</a:t>
            </a:r>
            <a:endParaRPr/>
          </a:p>
        </p:txBody>
      </p:sp>
      <p:sp>
        <p:nvSpPr>
          <p:cNvPr id="252" name="Google Shape;252;p20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Slides will be populated after approved-data execution</a:t>
            </a:r>
            <a:endParaRPr/>
          </a:p>
        </p:txBody>
      </p:sp>
      <p:sp>
        <p:nvSpPr>
          <p:cNvPr id="253" name="Google Shape;253;p20"/>
          <p:cNvSpPr/>
          <p:nvPr/>
        </p:nvSpPr>
        <p:spPr>
          <a:xfrm>
            <a:off x="777240" y="1234440"/>
            <a:ext cx="2971800" cy="1280160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 txBox="1"/>
          <p:nvPr/>
        </p:nvSpPr>
        <p:spPr>
          <a:xfrm>
            <a:off x="886968" y="1325880"/>
            <a:ext cx="275234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Expected figures</a:t>
            </a:r>
            <a:endParaRPr/>
          </a:p>
        </p:txBody>
      </p:sp>
      <p:sp>
        <p:nvSpPr>
          <p:cNvPr id="255" name="Google Shape;255;p20"/>
          <p:cNvSpPr txBox="1"/>
          <p:nvPr/>
        </p:nvSpPr>
        <p:spPr>
          <a:xfrm>
            <a:off x="886968" y="1618488"/>
            <a:ext cx="2752344" cy="8412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Well-log panel, saturation plot, confusion matrix, calibration plot.</a:t>
            </a:r>
            <a:endParaRPr/>
          </a:p>
        </p:txBody>
      </p:sp>
      <p:sp>
        <p:nvSpPr>
          <p:cNvPr id="256" name="Google Shape;256;p20"/>
          <p:cNvSpPr/>
          <p:nvPr/>
        </p:nvSpPr>
        <p:spPr>
          <a:xfrm>
            <a:off x="4160520" y="1234440"/>
            <a:ext cx="2971800" cy="128016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0"/>
          <p:cNvSpPr txBox="1"/>
          <p:nvPr/>
        </p:nvSpPr>
        <p:spPr>
          <a:xfrm>
            <a:off x="4270248" y="1325880"/>
            <a:ext cx="275234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Discussion</a:t>
            </a:r>
            <a:endParaRPr/>
          </a:p>
        </p:txBody>
      </p:sp>
      <p:sp>
        <p:nvSpPr>
          <p:cNvPr id="258" name="Google Shape;258;p20"/>
          <p:cNvSpPr txBox="1"/>
          <p:nvPr/>
        </p:nvSpPr>
        <p:spPr>
          <a:xfrm>
            <a:off x="4270248" y="1618488"/>
            <a:ext cx="2752344" cy="8412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Explain model behavior, false positives, uncertain intervals, and geologic controls.</a:t>
            </a:r>
            <a:endParaRPr/>
          </a:p>
        </p:txBody>
      </p:sp>
      <p:sp>
        <p:nvSpPr>
          <p:cNvPr id="259" name="Google Shape;259;p20"/>
          <p:cNvSpPr/>
          <p:nvPr/>
        </p:nvSpPr>
        <p:spPr>
          <a:xfrm>
            <a:off x="7543800" y="1234440"/>
            <a:ext cx="2971800" cy="128016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0"/>
          <p:cNvSpPr txBox="1"/>
          <p:nvPr/>
        </p:nvSpPr>
        <p:spPr>
          <a:xfrm>
            <a:off x="7653527" y="1325880"/>
            <a:ext cx="275234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Outputs</a:t>
            </a:r>
            <a:endParaRPr/>
          </a:p>
        </p:txBody>
      </p:sp>
      <p:sp>
        <p:nvSpPr>
          <p:cNvPr id="261" name="Google Shape;261;p20"/>
          <p:cNvSpPr txBox="1"/>
          <p:nvPr/>
        </p:nvSpPr>
        <p:spPr>
          <a:xfrm>
            <a:off x="7653527" y="1618488"/>
            <a:ext cx="2752344" cy="8412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Occurrence class, saturation estimate, uncertainty, sweet-spot rank, review flags.</a:t>
            </a:r>
            <a:endParaRPr/>
          </a:p>
        </p:txBody>
      </p:sp>
      <p:sp>
        <p:nvSpPr>
          <p:cNvPr id="262" name="Google Shape;262;p20"/>
          <p:cNvSpPr/>
          <p:nvPr/>
        </p:nvSpPr>
        <p:spPr>
          <a:xfrm>
            <a:off x="1143000" y="3657600"/>
            <a:ext cx="1554480" cy="621792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0"/>
          <p:cNvSpPr txBox="1"/>
          <p:nvPr/>
        </p:nvSpPr>
        <p:spPr>
          <a:xfrm>
            <a:off x="1252728" y="3749039"/>
            <a:ext cx="13350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prediction</a:t>
            </a:r>
            <a:endParaRPr/>
          </a:p>
        </p:txBody>
      </p:sp>
      <p:cxnSp>
        <p:nvCxnSpPr>
          <p:cNvPr id="264" name="Google Shape;264;p20"/>
          <p:cNvCxnSpPr/>
          <p:nvPr/>
        </p:nvCxnSpPr>
        <p:spPr>
          <a:xfrm>
            <a:off x="2715768" y="396849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5" name="Google Shape;265;p20"/>
          <p:cNvSpPr/>
          <p:nvPr/>
        </p:nvSpPr>
        <p:spPr>
          <a:xfrm>
            <a:off x="3044952" y="3657600"/>
            <a:ext cx="155448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3154680" y="3749039"/>
            <a:ext cx="13350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core check</a:t>
            </a:r>
            <a:endParaRPr/>
          </a:p>
        </p:txBody>
      </p:sp>
      <p:cxnSp>
        <p:nvCxnSpPr>
          <p:cNvPr id="267" name="Google Shape;267;p20"/>
          <p:cNvCxnSpPr/>
          <p:nvPr/>
        </p:nvCxnSpPr>
        <p:spPr>
          <a:xfrm>
            <a:off x="4617720" y="396849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8" name="Google Shape;268;p20"/>
          <p:cNvSpPr/>
          <p:nvPr/>
        </p:nvSpPr>
        <p:spPr>
          <a:xfrm>
            <a:off x="4946904" y="3657600"/>
            <a:ext cx="155448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 txBox="1"/>
          <p:nvPr/>
        </p:nvSpPr>
        <p:spPr>
          <a:xfrm>
            <a:off x="5056632" y="3749039"/>
            <a:ext cx="13350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error</a:t>
            </a:r>
            <a:endParaRPr/>
          </a:p>
        </p:txBody>
      </p:sp>
      <p:cxnSp>
        <p:nvCxnSpPr>
          <p:cNvPr id="270" name="Google Shape;270;p20"/>
          <p:cNvCxnSpPr/>
          <p:nvPr/>
        </p:nvCxnSpPr>
        <p:spPr>
          <a:xfrm>
            <a:off x="6519672" y="396849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71" name="Google Shape;271;p20"/>
          <p:cNvSpPr/>
          <p:nvPr/>
        </p:nvSpPr>
        <p:spPr>
          <a:xfrm>
            <a:off x="6848856" y="3657600"/>
            <a:ext cx="1554480" cy="621792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0"/>
          <p:cNvSpPr txBox="1"/>
          <p:nvPr/>
        </p:nvSpPr>
        <p:spPr>
          <a:xfrm>
            <a:off x="6958584" y="3749039"/>
            <a:ext cx="13350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interpretation</a:t>
            </a:r>
            <a:endParaRPr/>
          </a:p>
        </p:txBody>
      </p:sp>
      <p:cxnSp>
        <p:nvCxnSpPr>
          <p:cNvPr id="273" name="Google Shape;273;p20"/>
          <p:cNvCxnSpPr/>
          <p:nvPr/>
        </p:nvCxnSpPr>
        <p:spPr>
          <a:xfrm>
            <a:off x="8421624" y="3968496"/>
            <a:ext cx="256032" cy="0"/>
          </a:xfrm>
          <a:prstGeom prst="straightConnector1">
            <a:avLst/>
          </a:prstGeom>
          <a:noFill/>
          <a:ln cap="flat" cmpd="sng" w="2540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74" name="Google Shape;274;p20"/>
          <p:cNvSpPr/>
          <p:nvPr/>
        </p:nvSpPr>
        <p:spPr>
          <a:xfrm>
            <a:off x="8750808" y="3657600"/>
            <a:ext cx="1554480" cy="621792"/>
          </a:xfrm>
          <a:prstGeom prst="roundRect">
            <a:avLst>
              <a:gd fmla="val 16667" name="adj"/>
            </a:avLst>
          </a:prstGeom>
          <a:solidFill>
            <a:srgbClr val="F4EFE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 txBox="1"/>
          <p:nvPr/>
        </p:nvSpPr>
        <p:spPr>
          <a:xfrm>
            <a:off x="8860536" y="3749039"/>
            <a:ext cx="13350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recommendation</a:t>
            </a:r>
            <a:endParaRPr/>
          </a:p>
        </p:txBody>
      </p:sp>
      <p:sp>
        <p:nvSpPr>
          <p:cNvPr id="276" name="Google Shape;276;p20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3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Sources: USGS 2019; DOE/NETL; Chong et al. 2022; Lee and Collett 2011; Haines et al. 2022</a:t>
            </a:r>
            <a:endParaRPr/>
          </a:p>
        </p:txBody>
      </p:sp>
      <p:pic>
        <p:nvPicPr>
          <p:cNvPr id="277" name="Picture 276" descr="subsurface_evidence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417320"/>
            <a:ext cx="4526280" cy="3337560"/>
          </a:xfrm>
          <a:prstGeom prst="rect">
            <a:avLst/>
          </a:prstGeom>
        </p:spPr>
      </p:pic>
      <p:sp>
        <p:nvSpPr>
          <p:cNvPr id="278" name="TextBox 277"/>
          <p:cNvSpPr txBox="1"/>
          <p:nvPr/>
        </p:nvSpPr>
        <p:spPr>
          <a:xfrm>
            <a:off x="502920" y="6236208"/>
            <a:ext cx="11155680" cy="329184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txBody>
          <a:bodyPr wrap="square" lIns="73152" rIns="73152" tIns="36576" bIns="36576">
            <a:spAutoFit/>
          </a:bodyPr>
          <a:lstStyle/>
          <a:p>
            <a:pPr>
              <a:defRPr sz="850" b="0">
                <a:solidFill>
                  <a:srgbClr val="4E5A68"/>
                </a:solidFill>
              </a:defRPr>
            </a:pPr>
            <a:r>
              <a:t>Results slides stay planned until approved-data execution; current graphics are public/synthetic planning visuals.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282" name="Google Shape;282;p21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Final project message</a:t>
            </a:r>
            <a:endParaRPr/>
          </a:p>
        </p:txBody>
      </p:sp>
      <p:sp>
        <p:nvSpPr>
          <p:cNvPr id="283" name="Google Shape;283;p21"/>
          <p:cNvSpPr/>
          <p:nvPr/>
        </p:nvSpPr>
        <p:spPr>
          <a:xfrm>
            <a:off x="868680" y="1234440"/>
            <a:ext cx="2926080" cy="132588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1"/>
          <p:cNvSpPr txBox="1"/>
          <p:nvPr/>
        </p:nvSpPr>
        <p:spPr>
          <a:xfrm>
            <a:off x="978407" y="1325880"/>
            <a:ext cx="27066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Scientific value</a:t>
            </a:r>
            <a:endParaRPr/>
          </a:p>
        </p:txBody>
      </p:sp>
      <p:sp>
        <p:nvSpPr>
          <p:cNvPr id="285" name="Google Shape;285;p21"/>
          <p:cNvSpPr txBox="1"/>
          <p:nvPr/>
        </p:nvSpPr>
        <p:spPr>
          <a:xfrm>
            <a:off x="978407" y="1618488"/>
            <a:ext cx="2706624" cy="8869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Hydrate occurrence, saturation, reservoir quality, and producibility are separated.</a:t>
            </a:r>
            <a:endParaRPr/>
          </a:p>
        </p:txBody>
      </p:sp>
      <p:sp>
        <p:nvSpPr>
          <p:cNvPr id="286" name="Google Shape;286;p21"/>
          <p:cNvSpPr/>
          <p:nvPr/>
        </p:nvSpPr>
        <p:spPr>
          <a:xfrm>
            <a:off x="4206240" y="1234440"/>
            <a:ext cx="2926080" cy="132588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1"/>
          <p:cNvSpPr txBox="1"/>
          <p:nvPr/>
        </p:nvSpPr>
        <p:spPr>
          <a:xfrm>
            <a:off x="4315968" y="1325880"/>
            <a:ext cx="27066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ML value</a:t>
            </a:r>
            <a:endParaRPr/>
          </a:p>
        </p:txBody>
      </p:sp>
      <p:sp>
        <p:nvSpPr>
          <p:cNvPr id="288" name="Google Shape;288;p21"/>
          <p:cNvSpPr txBox="1"/>
          <p:nvPr/>
        </p:nvSpPr>
        <p:spPr>
          <a:xfrm>
            <a:off x="4315968" y="1618488"/>
            <a:ext cx="2706624" cy="8869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Models are trained on physics-backed features and tested by complete well.</a:t>
            </a:r>
            <a:endParaRPr/>
          </a:p>
        </p:txBody>
      </p:sp>
      <p:sp>
        <p:nvSpPr>
          <p:cNvPr id="289" name="Google Shape;289;p21"/>
          <p:cNvSpPr/>
          <p:nvPr/>
        </p:nvSpPr>
        <p:spPr>
          <a:xfrm>
            <a:off x="7543800" y="1234440"/>
            <a:ext cx="2926080" cy="1325880"/>
          </a:xfrm>
          <a:prstGeom prst="roundRect">
            <a:avLst>
              <a:gd fmla="val 16667" name="adj"/>
            </a:avLst>
          </a:prstGeom>
          <a:solidFill>
            <a:srgbClr val="EAF5F6"/>
          </a:solidFill>
          <a:ln cap="flat" cmpd="sng" w="13950">
            <a:solidFill>
              <a:srgbClr val="167D8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1"/>
          <p:cNvSpPr txBox="1"/>
          <p:nvPr/>
        </p:nvSpPr>
        <p:spPr>
          <a:xfrm>
            <a:off x="7653527" y="1325880"/>
            <a:ext cx="2706624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2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Energy value</a:t>
            </a:r>
            <a:endParaRPr/>
          </a:p>
        </p:txBody>
      </p:sp>
      <p:sp>
        <p:nvSpPr>
          <p:cNvPr id="291" name="Google Shape;291;p21"/>
          <p:cNvSpPr txBox="1"/>
          <p:nvPr/>
        </p:nvSpPr>
        <p:spPr>
          <a:xfrm>
            <a:off x="7653527" y="1618488"/>
            <a:ext cx="2706624" cy="8869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90" u="none" cap="none" strike="noStrike">
                <a:solidFill>
                  <a:srgbClr val="1F2933"/>
                </a:solidFill>
                <a:latin typeface="Arial"/>
                <a:ea typeface="Arial"/>
                <a:cs typeface="Arial"/>
                <a:sym typeface="Arial"/>
              </a:rPr>
              <a:t>Characterization supports future natural-gas resource evaluation and energy security.</a:t>
            </a:r>
            <a:endParaRPr/>
          </a:p>
        </p:txBody>
      </p:sp>
      <p:sp>
        <p:nvSpPr>
          <p:cNvPr id="292" name="Google Shape;292;p21"/>
          <p:cNvSpPr txBox="1"/>
          <p:nvPr/>
        </p:nvSpPr>
        <p:spPr>
          <a:xfrm>
            <a:off x="1097280" y="3886200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23447"/>
                </a:solidFill>
                <a:latin typeface="Arial"/>
                <a:ea typeface="Arial"/>
                <a:cs typeface="Arial"/>
                <a:sym typeface="Arial"/>
              </a:rPr>
              <a:t>The goal is a defensible, explainable workflow for predicting gas hydrate occurrence and saturation from approved North Slope well-log and core data.</a:t>
            </a:r>
            <a:endParaRPr/>
          </a:p>
        </p:txBody>
      </p:sp>
      <p:sp>
        <p:nvSpPr>
          <p:cNvPr id="293" name="Google Shape;293;p21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30" u="none" cap="none" strike="noStrike">
                <a:solidFill>
                  <a:srgbClr val="5E6A71"/>
                </a:solidFill>
                <a:latin typeface="Arial"/>
                <a:ea typeface="Arial"/>
                <a:cs typeface="Arial"/>
                <a:sym typeface="Arial"/>
              </a:rPr>
              <a:t>Sources: USGS 2019; DOE/NETL; Chong et al. 2022; Lee and Collett 2011; Haines et al. 2022</a:t>
            </a:r>
            <a:endParaRPr/>
          </a:p>
        </p:txBody>
      </p:sp>
      <p:sp>
        <p:nvSpPr>
          <p:cNvPr id="294" name="TextBox 293"/>
          <p:cNvSpPr txBox="1"/>
          <p:nvPr/>
        </p:nvSpPr>
        <p:spPr>
          <a:xfrm>
            <a:off x="502920" y="6236208"/>
            <a:ext cx="11155680" cy="329184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txBody>
          <a:bodyPr wrap="square" lIns="73152" rIns="73152" tIns="36576" bIns="36576">
            <a:spAutoFit/>
          </a:bodyPr>
          <a:lstStyle/>
          <a:p>
            <a:pPr>
              <a:defRPr sz="850" b="0">
                <a:solidFill>
                  <a:srgbClr val="4E5A68"/>
                </a:solidFill>
              </a:defRPr>
            </a:pPr>
            <a:r>
              <a:t>Final deliverables separate public source-backed design from future approved-data outputs and trained models.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