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Gas Hydrate Occurrence and Saturation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Permafrost sediments on the Alaska North Slope using AI/ML</a:t>
            </a:r>
          </a:p>
        </p:txBody>
      </p:sp>
      <p:pic>
        <p:nvPicPr>
          <p:cNvPr id="4" name="Picture 3" descr="regional_3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987552"/>
            <a:ext cx="5166360" cy="30632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13232" y="1298448"/>
            <a:ext cx="1691640" cy="1691640"/>
          </a:xfrm>
          <a:prstGeom prst="ellipse">
            <a:avLst/>
          </a:prstGeom>
          <a:solidFill>
            <a:srgbClr val="EEF2F4"/>
          </a:solidFill>
          <a:ln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920240"/>
            <a:ext cx="123444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5E6A71"/>
                </a:solidFill>
                <a:latin typeface="Aptos"/>
              </a:rPr>
              <a:t>photo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3246120" cy="109728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1371600"/>
            <a:ext cx="3026663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Rohan Nanda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7208" y="1664207"/>
            <a:ext cx="3026663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Lead Geologist
M.S. Geosciences, University of Texas at Dallas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29000"/>
            <a:ext cx="5212080" cy="123444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520440"/>
            <a:ext cx="4992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Project focus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813048"/>
            <a:ext cx="4992624" cy="7955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Use approved well-log, NMR, and core-analysis data to predict gas hydrate occurrence and saturation, then communicate results as reservoir-characterization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315968"/>
            <a:ext cx="4754880" cy="8229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9128" y="4407407"/>
            <a:ext cx="45354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Website asset embedded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4700016"/>
            <a:ext cx="453542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Public North Slope structural scene and well inventory generated from the project atlas.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Deck structure follows project email instructions received 2026-06-09.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Introduction: What and Why Gas Hydrates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A potential natural-gas resource that requires reservoir-scale characterization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70432"/>
            <a:ext cx="3154680" cy="114300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Gas hydrate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2935224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Methane is held inside crystalline water cages in sediment pore space.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3154680" cy="11430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43200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North Slope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35808"/>
            <a:ext cx="2935224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USGS assessed a mean of about 53.8 TCF of technically recoverable gas in North Slope hydrate accumulations.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33087"/>
            <a:ext cx="3154680" cy="11430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24527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Characterization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517136"/>
            <a:ext cx="2935224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Translate resource potential into interval-scale occurrence, saturation, uncertainty, and sweet-spot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234440"/>
            <a:ext cx="1225296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stability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24144" y="154533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53328" y="1234440"/>
            <a:ext cx="1225296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3056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reservoir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96912" y="154533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626096" y="1234440"/>
            <a:ext cx="1225296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35823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gas charge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154533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98864" y="1234440"/>
            <a:ext cx="1225296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logs/core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442448" y="154533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771632" y="1234440"/>
            <a:ext cx="1225296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0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saturation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2788920"/>
            <a:ext cx="6263640" cy="12801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0288" y="2880360"/>
            <a:ext cx="6044183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Core message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3172968"/>
            <a:ext cx="6044183" cy="8412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Stability is necessary but not proof. The project asks whether well logs, NMR, and core evidence jointly support hydrate occurrence and saturation.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60" y="4498848"/>
            <a:ext cx="6263640" cy="82296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90288" y="4590288"/>
            <a:ext cx="6044183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Energy-security framing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0288" y="4882896"/>
            <a:ext cx="6044183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The presentation stays focused on natural-gas resource characterization, not environmental-impact discussion.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Parameters: Well-Log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Measured curves, derived physics, QC fields, and targets stay separated</a:t>
            </a:r>
          </a:p>
        </p:txBody>
      </p:sp>
      <p:pic>
        <p:nvPicPr>
          <p:cNvPr id="4" name="Picture 3" descr="synthetic_well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987552"/>
            <a:ext cx="6812280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4360" y="1024128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115568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Lithology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08176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GR, core lithology, clean-sand screening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Porosity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21408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Density, neutron, NMR, core porosity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50592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542032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Electrical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834640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Deep resistivity and source mnemonics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163824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255264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Elastic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547872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Vp, Vs, Vp/Vs, impedance, moduli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877056"/>
            <a:ext cx="3886200" cy="566928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Targets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261104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Sgh, S_h, NMR_SAT, phase classes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590288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681728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QC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4974336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Caliper, outliers, depth match, missing curves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5376672"/>
            <a:ext cx="6309360" cy="5943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93208" y="5468112"/>
            <a:ext cx="608990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Embedded website scaffold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5760720"/>
            <a:ext cx="6089904" cy="1554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Synthetic well-log panel with interpretation callouts from the Future Well-Log Engine.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recovered header screenshots; project Q&amp;A update; Lee and Collett 2011; Haines et al.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ML Methodology: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Workflow adapted from gas-hydrate ML literature and approved-data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143000"/>
            <a:ext cx="1417320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34440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raw logs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12848" y="1453896"/>
            <a:ext cx="256031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42032" y="1143000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234440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QC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77639" y="1453896"/>
            <a:ext cx="256033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06824" y="1143000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6552" y="1234440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features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42431" y="1453896"/>
            <a:ext cx="256033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071616" y="1143000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1234440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labels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07224" y="145389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836408" y="1143000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6136" y="1234440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models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72016" y="145389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01200" y="1143000"/>
            <a:ext cx="1417320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0928" y="1234440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validation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2468880"/>
            <a:ext cx="2834640" cy="123444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7" y="2560320"/>
            <a:ext cx="26151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Data processing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7" y="2852928"/>
            <a:ext cx="2615184" cy="7955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Remove outliers, select depth intervals, align logs and core, and standardize units.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77639" y="2468880"/>
            <a:ext cx="2834640" cy="123444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87368" y="2560320"/>
            <a:ext cx="26151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Modeling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87368" y="2852928"/>
            <a:ext cx="2615184" cy="7955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Compare rules, linear baselines, tree models, and Keras/ANN saturation models.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2468880"/>
            <a:ext cx="2834640" cy="123444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96328" y="2560320"/>
            <a:ext cx="26151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2852928"/>
            <a:ext cx="2615184" cy="7955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Use complete-well holdouts and compare predictions against core and interpreted measurements.</a:t>
            </a:r>
          </a:p>
        </p:txBody>
      </p:sp>
      <p:pic>
        <p:nvPicPr>
          <p:cNvPr id="30" name="Picture 29" descr="model_validation_placehol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69080"/>
            <a:ext cx="8641080" cy="1508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 anchor: Chong et al. 2022; project runtime requirements map.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ML Methodology: Why These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Classification and regression need different evidence</a:t>
            </a:r>
          </a:p>
        </p:txBody>
      </p:sp>
      <p:pic>
        <p:nvPicPr>
          <p:cNvPr id="4" name="Picture 3" descr="sweet_spot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051560"/>
            <a:ext cx="5440680" cy="2743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170432"/>
            <a:ext cx="4572000" cy="91440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261872"/>
            <a:ext cx="4352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54480"/>
            <a:ext cx="43525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Predict hydrate occurrence or phase class using lithology, resistivity, elastic, NMR, and QC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95728"/>
            <a:ext cx="45720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487168"/>
            <a:ext cx="4352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79776"/>
            <a:ext cx="43525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Predict continuous hydrate saturation from calibrated logs, NMR-derived or core-calibrated targets, and physics features.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21024"/>
            <a:ext cx="45720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712463"/>
            <a:ext cx="4352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Linear vs nonlinear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05072"/>
            <a:ext cx="43525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Linear baselines show traceable relationships; nonlinear models test interactions among reservoir, electrical, elastic, and NMR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4224528"/>
            <a:ext cx="5074920" cy="84124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0488" y="4315968"/>
            <a:ext cx="48554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Website ranking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608576"/>
            <a:ext cx="4855464" cy="40233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The sweet-spot ranking is an explainable scaffold, not a final result until approved data are run.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Geomechanical Feature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Rock-physics parameters help evaluate hydrate-consistent stiffness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0744200" cy="4160520"/>
          </a:xfrm>
          <a:prstGeom prst="rect">
            <a:avLst/>
          </a:prstGeom>
          <a:solidFill>
            <a:srgbClr val="FFFFFF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37947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23447"/>
                </a:solidFill>
                <a:latin typeface="Aptos"/>
              </a:rPr>
              <a:t>Inputs from the well-log 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19072"/>
            <a:ext cx="3566160" cy="9144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167D8D"/>
                </a:solidFill>
                <a:latin typeface="Aptos"/>
              </a:rPr>
              <a:t>rho, Vp, Vs, GR, porosity, NMR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234440"/>
            <a:ext cx="34747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23447"/>
                </a:solidFill>
                <a:latin typeface="Aptos"/>
              </a:rPr>
              <a:t>Derived rock-physics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737360"/>
            <a:ext cx="3474720" cy="1783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1F2933"/>
                </a:solidFill>
                <a:latin typeface="Aptos"/>
              </a:rPr>
              <a:t>YM = f(rho, Vp, Vs)
PR = f(Vp, Vs)
MR = (Vs * rho)^2
LR = (Vp * rho)^2 - 2(Vs * rho)^2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234440"/>
            <a:ext cx="269748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23447"/>
                </a:solidFill>
                <a:latin typeface="Aptos"/>
              </a:rPr>
              <a:t>Interpretation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755648"/>
            <a:ext cx="2651760" cy="12344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67D8D"/>
                </a:solidFill>
                <a:latin typeface="Aptos"/>
              </a:rPr>
              <a:t>Compare hydrate, gas, water, shale, ice, and stress effects.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51960" y="2331720"/>
            <a:ext cx="320040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83879" y="2331720"/>
            <a:ext cx="137161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" y="3977639"/>
            <a:ext cx="9921240" cy="749808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069079"/>
            <a:ext cx="97017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361688"/>
            <a:ext cx="9701784" cy="31089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Integrate mechanical behavior with log response so high resistivity or high velocity is not treated as a hydrate label by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 anchor: project geomechanics screenshots and local equation-map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3D Map and Well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Regional context constrains interpretation but does not replace log evidence</a:t>
            </a:r>
          </a:p>
        </p:txBody>
      </p:sp>
      <p:pic>
        <p:nvPicPr>
          <p:cNvPr id="4" name="Picture 3" descr="regional_3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60120"/>
            <a:ext cx="672084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26679" y="1234440"/>
            <a:ext cx="3429000" cy="109728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36407" y="1325880"/>
            <a:ext cx="3209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Map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36407" y="1618488"/>
            <a:ext cx="3209544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Show well positions, structural context, data coverage, and candidate intervals.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788920"/>
            <a:ext cx="3429000" cy="10972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7" y="2880360"/>
            <a:ext cx="3209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7" y="3172968"/>
            <a:ext cx="3209544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Public deck can show synthetic/public context; approved well identifiers and results stay in the authorized runtime.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4343400"/>
            <a:ext cx="3429000" cy="73152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7" y="4434840"/>
            <a:ext cx="3209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OpenScienceLab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7" y="4727448"/>
            <a:ext cx="3209544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Ready to replace this with approved-environment map output when you push/run there.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 anchor: project GIS atlas and future approved-runtime outputs.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Results and Discussion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Website placeholders now show what approved-data outputs will replace</a:t>
            </a:r>
          </a:p>
        </p:txBody>
      </p:sp>
      <p:pic>
        <p:nvPicPr>
          <p:cNvPr id="4" name="Picture 3" descr="model_validation_placehol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960120"/>
            <a:ext cx="5349240" cy="2560320"/>
          </a:xfrm>
          <a:prstGeom prst="rect">
            <a:avLst/>
          </a:prstGeom>
        </p:spPr>
      </p:pic>
      <p:pic>
        <p:nvPicPr>
          <p:cNvPr id="5" name="Picture 4" descr="sweet_spot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960120"/>
            <a:ext cx="4983480" cy="2560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3977639"/>
            <a:ext cx="3200400" cy="91440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069079"/>
            <a:ext cx="29809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Expected figures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4361688"/>
            <a:ext cx="29809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Well-log panel, saturation plot, confusion matrix, calibration 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977639"/>
            <a:ext cx="32004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4069079"/>
            <a:ext cx="29809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361688"/>
            <a:ext cx="29809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Explain model behavior, false positives, uncertain intervals, and geologic controls.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977639"/>
            <a:ext cx="32004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4069079"/>
            <a:ext cx="29809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4361688"/>
            <a:ext cx="29809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Occurrence class, saturation estimate, uncertainty, sweet-spot rank, review flags.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Final project message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234440"/>
            <a:ext cx="2926080" cy="13258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7" y="1325880"/>
            <a:ext cx="2706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Scientific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7" y="1618488"/>
            <a:ext cx="2706624" cy="8869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Hydrate occurrence, saturation, reservoir quality, and producibility are separated.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234440"/>
            <a:ext cx="2926080" cy="13258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5968" y="1325880"/>
            <a:ext cx="2706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ML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618488"/>
            <a:ext cx="2706624" cy="8869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Models are trained on physics-backed features and tested by complete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234440"/>
            <a:ext cx="2926080" cy="13258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7" y="1325880"/>
            <a:ext cx="2706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Energy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527" y="1618488"/>
            <a:ext cx="2706624" cy="8869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Characterization supports future natural-gas resource evaluation and energy security.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86200"/>
            <a:ext cx="9784080" cy="640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123447"/>
                </a:solidFill>
                <a:latin typeface="Aptos"/>
              </a:rPr>
              <a:t>The goal is a defensible, explainable workflow for predicting gas hydrate occurrence and saturation from approved North Slope well-log and core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