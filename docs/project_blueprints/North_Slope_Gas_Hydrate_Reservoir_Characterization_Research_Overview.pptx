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north-slope-gas-hydrates-vj67xkke9ksfzveon8ldt2.streamlit.app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Gas Hydrate Occurrence and Saturation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Permafrost sediments on the Alaska North Slope using AI/ML</a:t>
            </a:r>
          </a:p>
        </p:txBody>
      </p:sp>
      <p:pic>
        <p:nvPicPr>
          <p:cNvPr id="4" name="Picture 3" descr="streamlit_3d_contex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987552"/>
            <a:ext cx="5166360" cy="306324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713232" y="1298448"/>
            <a:ext cx="1691640" cy="1691640"/>
          </a:xfrm>
          <a:prstGeom prst="ellipse">
            <a:avLst/>
          </a:prstGeom>
          <a:solidFill>
            <a:srgbClr val="EEF2F4"/>
          </a:solidFill>
          <a:ln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920240"/>
            <a:ext cx="1234440" cy="27432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600" b="1">
                <a:solidFill>
                  <a:srgbClr val="5E6A71"/>
                </a:solidFill>
                <a:latin typeface="Aptos"/>
              </a:rPr>
              <a:t>photo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80160"/>
            <a:ext cx="3246120" cy="109728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7208" y="1371600"/>
            <a:ext cx="3026663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Rohan Nanda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07208" y="1664207"/>
            <a:ext cx="3026663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Lead Geologist
M.S. Geosciences, University of Texas at Dallas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429000"/>
            <a:ext cx="5212080" cy="123444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520440"/>
            <a:ext cx="49926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Project focus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813048"/>
            <a:ext cx="4992624" cy="79552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Use approved well-log, NMR, and core-analysis data to predict gas hydrate occurrence and saturation, then communicate results as reservoir-characterization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29400" y="4315968"/>
            <a:ext cx="4754880" cy="8229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39128" y="4407407"/>
            <a:ext cx="45354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Website asset embedded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39128" y="4700016"/>
            <a:ext cx="4535424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Public North Slope structural scene and well inventory generated from the project atlas.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Deck structure follows project email instructions received 2026-06-09.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Introduction: What and Why Gas Hydrates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A potential natural-gas resource that requires reservoir-scale characterization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170432"/>
            <a:ext cx="3154680" cy="114300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261872"/>
            <a:ext cx="2935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Gas hydrate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2935224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Methane is held inside crystalline water cages in sediment pore space.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51760"/>
            <a:ext cx="3154680" cy="11430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743200"/>
            <a:ext cx="2935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North Slope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035808"/>
            <a:ext cx="2935224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USGS assessed a mean of about 53.8 TCF of technically recoverable gas in North Slope hydrate accumulations.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33087"/>
            <a:ext cx="3154680" cy="11430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4224527"/>
            <a:ext cx="2935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Characterization 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517136"/>
            <a:ext cx="2935224" cy="7040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Translate resource potential into interval-scale occurrence, saturation, uncertainty, and sweet-spot evidence.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234440"/>
            <a:ext cx="1225296" cy="621792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325880"/>
            <a:ext cx="1005840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stability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24144" y="1545336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53328" y="1234440"/>
            <a:ext cx="1225296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3056" y="1325880"/>
            <a:ext cx="1005840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reservoir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296912" y="1545336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626096" y="1234440"/>
            <a:ext cx="1225296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35823" y="1325880"/>
            <a:ext cx="1005840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gas charge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1545336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98864" y="1234440"/>
            <a:ext cx="1225296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08592" y="1325880"/>
            <a:ext cx="1005840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logs/core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442448" y="1545336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10771632" y="1234440"/>
            <a:ext cx="1225296" cy="621792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881360" y="1325880"/>
            <a:ext cx="1005840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saturation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60" y="2788920"/>
            <a:ext cx="6263640" cy="12801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90288" y="2880360"/>
            <a:ext cx="6044183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Core message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90288" y="3172968"/>
            <a:ext cx="6044183" cy="84124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Stability is necessary but not proof. The project asks whether well logs, NMR, and core evidence jointly support hydrate occurrence and saturation.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80560" y="4498848"/>
            <a:ext cx="6263640" cy="82296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90288" y="4590288"/>
            <a:ext cx="6044183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Energy-security framing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90288" y="4882896"/>
            <a:ext cx="6044183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The presentation stays focused on natural-gas resource characterization, not environmental-impact discussion.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USGS 2019; DOE/NETL; Chong et al. 2022; Lee and Collett 2011; Haines et al. 2022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Parameters: Well-Log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Measured curves, derived physics, QC fields, and targets stay separated</a:t>
            </a:r>
          </a:p>
        </p:txBody>
      </p:sp>
      <p:pic>
        <p:nvPicPr>
          <p:cNvPr id="4" name="Picture 3" descr="synthetic_well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987552"/>
            <a:ext cx="6812280" cy="4251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4360" y="1024128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115568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Lithology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408176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GR, core lithology, clean-sand screening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737360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828800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Porosity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121408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Density, neutron, NMR, core porosity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450592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542032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Electrical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2834640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Deep resistivity and source mnemonics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163824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3255264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Elastic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547872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Vp, Vs, Vp/Vs, impedance, moduli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877056"/>
            <a:ext cx="3886200" cy="566928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3968496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Targets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4261104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Sgh, S_h, NMR_SAT, phase classes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590288"/>
            <a:ext cx="3886200" cy="56692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088" y="4681728"/>
            <a:ext cx="36667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QC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4974336"/>
            <a:ext cx="3666744" cy="12801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Caliper, outliers, depth match, missing curves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3480" y="5376672"/>
            <a:ext cx="6309360" cy="5943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93208" y="5468112"/>
            <a:ext cx="608990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Embedded website scaffold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93208" y="5760720"/>
            <a:ext cx="6089904" cy="1554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Synthetic well-log panel with interpretation callouts from the Future Well-Log Engine.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recovered header screenshots; project Q&amp;A update; Lee and Collett 2011; Haines et al. 2022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ML Methodology: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ANN paper logic adapted into a leakage-controlled well-log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078992"/>
            <a:ext cx="2148840" cy="82296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1170432"/>
            <a:ext cx="19293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Chong et al. anchor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1463039"/>
            <a:ext cx="1929384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5 permafrost wells
&gt;10,000 depth points
NMR-derived Sh target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078992"/>
            <a:ext cx="2148840" cy="8229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64408" y="1170432"/>
            <a:ext cx="19293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Input log families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4408" y="1463039"/>
            <a:ext cx="1929384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density, porosity, Rt, GR,
Vp and Vs candidates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1078992"/>
            <a:ext cx="2148840" cy="8229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33288" y="1170432"/>
            <a:ext cx="19293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Project target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3288" y="1463039"/>
            <a:ext cx="1929384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NMR/core saturation is a label,
not an input when target-derived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078992"/>
            <a:ext cx="2148840" cy="82296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02167" y="1170432"/>
            <a:ext cx="19293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Validation upgrade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2167" y="1463039"/>
            <a:ext cx="1929384" cy="38404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complete-well holdout
instead of random depth rows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2267712"/>
            <a:ext cx="1417320" cy="621792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8" y="2359152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approved logs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121408" y="2578608"/>
            <a:ext cx="256031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450592" y="2267712"/>
            <a:ext cx="1417320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60320" y="2359152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QC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86200" y="2578608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15384" y="2267712"/>
            <a:ext cx="1417320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5112" y="2359152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feature sets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50992" y="2578608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980176" y="2267712"/>
            <a:ext cx="1417320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89904" y="2359152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model ladder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15784" y="2578608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44968" y="2267712"/>
            <a:ext cx="1417320" cy="621792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54696" y="2359152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held-out wells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80576" y="2578608"/>
            <a:ext cx="256032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509760" y="2267712"/>
            <a:ext cx="1417320" cy="621792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19488" y="2359152"/>
            <a:ext cx="1197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outputs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" y="3429000"/>
            <a:ext cx="2697480" cy="105156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3520440"/>
            <a:ext cx="24780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1. QC and alignment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8" y="3813048"/>
            <a:ext cx="2478024" cy="61264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Caliper washout, depth matching, missing-curve routing, unit standardization, multivariate outlier review.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11880" y="3429000"/>
            <a:ext cx="2697480" cy="10515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21608" y="3520440"/>
            <a:ext cx="24780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2. Physics features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21608" y="3813048"/>
            <a:ext cx="2478024" cy="61264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Separate measured logs, derived elastic/geomechanical features, and target-derived saturation fields.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7960" y="3429000"/>
            <a:ext cx="2697480" cy="10515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47688" y="3520440"/>
            <a:ext cx="24780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3. Model ladder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47688" y="3813048"/>
            <a:ext cx="2478024" cy="61264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Rules and linear baselines first; tree/GBM for feature behavior; ANN/Keras for nonlinear saturation response.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64040" y="3429000"/>
            <a:ext cx="2011680" cy="105156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73767" y="3520440"/>
            <a:ext cx="17922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4. Outputs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73767" y="3813048"/>
            <a:ext cx="1792224" cy="612647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Occurrence class
Sh regression
uncertainty flags</a:t>
            </a:r>
          </a:p>
        </p:txBody>
      </p:sp>
      <p:pic>
        <p:nvPicPr>
          <p:cNvPr id="45" name="Picture 44" descr="model_validation_placehol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4873752"/>
            <a:ext cx="8046720" cy="107899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 anchor: Chong et al. 2022, DOI: 10.1007/s10596-022-10151-9; project runtime requirements map.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ML Methodology: Why This Architecture Fits Well Logs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Depth-indexed curves need both explainable baselines and nonlinear models</a:t>
            </a:r>
          </a:p>
        </p:txBody>
      </p:sp>
      <p:pic>
        <p:nvPicPr>
          <p:cNvPr id="4" name="Picture 3" descr="sweet_spot_ra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078992"/>
            <a:ext cx="4892040" cy="2423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5800" y="1143000"/>
            <a:ext cx="2514600" cy="91440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234440"/>
            <a:ext cx="22951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Classification branch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1527048"/>
            <a:ext cx="22951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Detect hydrate-supportive intervals or phase classes from multi-log agreement, lithology, and QC context.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143000"/>
            <a:ext cx="2514600" cy="9144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234440"/>
            <a:ext cx="22951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Regression branch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1527048"/>
            <a:ext cx="22951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Estimate continuous hydrate saturation only from allowed predictors and calibrated targets.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50592"/>
            <a:ext cx="2514600" cy="9144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" y="2542032"/>
            <a:ext cx="22951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Linear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2834640"/>
            <a:ext cx="22951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Shows defensible directionality and exposes whether a simple relation is already sufficient.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2450592"/>
            <a:ext cx="2514600" cy="9144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8728" y="2542032"/>
            <a:ext cx="22951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Tree/GBM 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8728" y="2834640"/>
            <a:ext cx="22951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Handles missingness and ranks feature importance without forcing a single curve relationship.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749039"/>
            <a:ext cx="2514600" cy="9144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840479"/>
            <a:ext cx="22951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ANN/Keras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4133087"/>
            <a:ext cx="22951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Best fit for nonlinear interactions among Rt, porosity, density, Vp, Vs, GR, and NMR-supported targets.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3749039"/>
            <a:ext cx="2514600" cy="91440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8728" y="3840479"/>
            <a:ext cx="22951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Guardrail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4133087"/>
            <a:ext cx="22951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Do not train on Sgh, phase labels, rankings, or NMR-derived target columns as inputs.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46520" y="3977639"/>
            <a:ext cx="4846320" cy="9144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56248" y="4069079"/>
            <a:ext cx="462686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Decision logic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6248" y="4361688"/>
            <a:ext cx="462686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Use the ANN only if it improves held-out-well performance beyond explainable baselines and stays geologically reasonable.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Chong et al. 2022; USGS/NETL hydrate well-log studies; project target-leakage rules.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Geomechanical Feature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Rock-physics parameters help evaluate hydrate-consistent stiffness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05840"/>
            <a:ext cx="10744200" cy="4160520"/>
          </a:xfrm>
          <a:prstGeom prst="rect">
            <a:avLst/>
          </a:prstGeom>
          <a:solidFill>
            <a:srgbClr val="FFFFFF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379476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23447"/>
                </a:solidFill>
                <a:latin typeface="Aptos"/>
              </a:rPr>
              <a:t>Inputs from the well-log scaffold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719072"/>
            <a:ext cx="3566160" cy="91440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167D8D"/>
                </a:solidFill>
                <a:latin typeface="Aptos"/>
              </a:rPr>
              <a:t>rho, Vp, Vs, GR, porosity, NMR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234440"/>
            <a:ext cx="34747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23447"/>
                </a:solidFill>
                <a:latin typeface="Aptos"/>
              </a:rPr>
              <a:t>Derived rock-physics 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737360"/>
            <a:ext cx="3474720" cy="17830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700" b="1">
                <a:solidFill>
                  <a:srgbClr val="1F2933"/>
                </a:solidFill>
                <a:latin typeface="Aptos"/>
              </a:rPr>
              <a:t>YM = f(rho, Vp, Vs)
PR = f(Vp, Vs)
MR = (Vs * rho)^2
LR = (Vp * rho)^2 - 2(Vs * rho)^2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1234440"/>
            <a:ext cx="269748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23447"/>
                </a:solidFill>
                <a:latin typeface="Aptos"/>
              </a:rPr>
              <a:t>Interpretation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755648"/>
            <a:ext cx="2651760" cy="12344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1500" b="1">
                <a:solidFill>
                  <a:srgbClr val="167D8D"/>
                </a:solidFill>
                <a:latin typeface="Aptos"/>
              </a:rPr>
              <a:t>Compare hydrate, gas, water, shale, ice, and stress effects.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251960" y="2331720"/>
            <a:ext cx="320040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83879" y="2331720"/>
            <a:ext cx="137161" cy="0"/>
          </a:xfrm>
          <a:prstGeom prst="line">
            <a:avLst/>
          </a:prstGeom>
          <a:ln w="25400">
            <a:solidFill>
              <a:srgbClr val="167D8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05840" y="3977639"/>
            <a:ext cx="9921240" cy="749808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4069079"/>
            <a:ext cx="970178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Purpose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4361688"/>
            <a:ext cx="9701784" cy="31089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Integrate mechanical behavior with log response so high resistivity or high velocity is not treated as a hydrate label by itself.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 anchor: project geomechanics screenshots and local equation-map documents.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3D Map and Well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Current Streamlit structural explorer view with a live-map link</a:t>
            </a:r>
          </a:p>
        </p:txBody>
      </p:sp>
      <p:pic>
        <p:nvPicPr>
          <p:cNvPr id="4" name="Picture 3" descr="streamlit_3d_context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960120"/>
            <a:ext cx="6720840" cy="42976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26679" y="1234440"/>
            <a:ext cx="3429000" cy="109728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36407" y="1325880"/>
            <a:ext cx="32095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Map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36407" y="1618488"/>
            <a:ext cx="3209544" cy="6583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Show well positions, structural context, data coverage, and candidate intervals.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2743200"/>
            <a:ext cx="3429000" cy="96012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36407" y="2834640"/>
            <a:ext cx="32095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Live interaction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7" y="3127248"/>
            <a:ext cx="3209544" cy="52120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Google Slides stores a static image; use the linked Streamlit app for rotation, zoom, and layer toggles.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3840480"/>
            <a:ext cx="3246120" cy="274320"/>
          </a:xfrm>
          <a:prstGeom prst="rect">
            <a:avLst/>
          </a:prstGeom>
          <a:noFill/>
        </p:spPr>
        <p:txBody>
          <a:bodyPr wrap="none" lIns="54864" rIns="54864">
            <a:spAutoFit/>
          </a:bodyPr>
          <a:lstStyle/>
          <a:p>
            <a:r>
              <a:rPr sz="1150" b="1">
                <a:solidFill>
                  <a:srgbClr val="167D8D"/>
                </a:solidFill>
                <a:latin typeface="Aptos"/>
                <a:hlinkClick r:id="rId3"/>
              </a:rPr>
              <a:t>Open live Streamlit 3D explorer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26679" y="4407408"/>
            <a:ext cx="3429000" cy="749808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36407" y="4498848"/>
            <a:ext cx="32095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Data boundary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36407" y="4791456"/>
            <a:ext cx="3209544" cy="310896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Public map uses regional/public layers; approved well results stay runtime-only.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 anchor: project GIS atlas and future approved-runtime outputs.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Results and Discussion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Website placeholders now show what approved-data outputs will replace</a:t>
            </a:r>
          </a:p>
        </p:txBody>
      </p:sp>
      <p:pic>
        <p:nvPicPr>
          <p:cNvPr id="4" name="Picture 3" descr="model_validation_placehol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960120"/>
            <a:ext cx="5349240" cy="2560320"/>
          </a:xfrm>
          <a:prstGeom prst="rect">
            <a:avLst/>
          </a:prstGeom>
        </p:spPr>
      </p:pic>
      <p:pic>
        <p:nvPicPr>
          <p:cNvPr id="5" name="Picture 4" descr="sweet_spot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960120"/>
            <a:ext cx="4983480" cy="2560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" y="3977639"/>
            <a:ext cx="3200400" cy="914400"/>
          </a:xfrm>
          <a:prstGeom prst="roundRect">
            <a:avLst/>
          </a:prstGeom>
          <a:solidFill>
            <a:srgbClr val="F4EFE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4069079"/>
            <a:ext cx="29809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Expected figures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4361688"/>
            <a:ext cx="29809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Well-log panel, saturation plot, confusion matrix, calibration plot.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3977639"/>
            <a:ext cx="3200400" cy="9144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4069079"/>
            <a:ext cx="29809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Discussion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4361688"/>
            <a:ext cx="29809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Explain model behavior, false positives, uncertain intervals, and geologic controls.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3977639"/>
            <a:ext cx="3200400" cy="91440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6448" y="4069079"/>
            <a:ext cx="298094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Outputs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4361688"/>
            <a:ext cx="2980944" cy="4754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Occurrence class, saturation estimate, uncertainty, sweet-spot rank, review flags.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USGS 2019; DOE/NETL; Chong et al. 2022; Lee and Collett 2011; Haines et al. 2022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064240" cy="4114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2400" b="1">
                <a:solidFill>
                  <a:srgbClr val="123447"/>
                </a:solidFill>
                <a:latin typeface="Aptos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694944"/>
            <a:ext cx="10789920" cy="32004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150" b="0">
                <a:solidFill>
                  <a:srgbClr val="5E6A71"/>
                </a:solidFill>
                <a:latin typeface="Aptos"/>
              </a:rPr>
              <a:t>Final project message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234440"/>
            <a:ext cx="2926080" cy="132588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7" y="1325880"/>
            <a:ext cx="27066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Scientific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7" y="1618488"/>
            <a:ext cx="2706624" cy="8869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Hydrate occurrence, saturation, reservoir quality, and producibility are separated.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234440"/>
            <a:ext cx="2926080" cy="132588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5968" y="1325880"/>
            <a:ext cx="27066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ML 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1618488"/>
            <a:ext cx="2706624" cy="8869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Models are trained on physics-backed features and tested by complete well.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1234440"/>
            <a:ext cx="2926080" cy="1325880"/>
          </a:xfrm>
          <a:prstGeom prst="roundRect">
            <a:avLst/>
          </a:prstGeom>
          <a:solidFill>
            <a:srgbClr val="EAF5F6"/>
          </a:solidFill>
          <a:ln w="13970">
            <a:solidFill>
              <a:srgbClr val="167D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53527" y="1325880"/>
            <a:ext cx="2706624" cy="24688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1220" b="1">
                <a:solidFill>
                  <a:srgbClr val="123447"/>
                </a:solidFill>
                <a:latin typeface="Aptos"/>
              </a:rPr>
              <a:t>Energy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3527" y="1618488"/>
            <a:ext cx="2706624" cy="8869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890" b="0">
                <a:solidFill>
                  <a:srgbClr val="1F2933"/>
                </a:solidFill>
                <a:latin typeface="Aptos"/>
              </a:rPr>
              <a:t>Characterization supports future natural-gas resource evaluation and energy security.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86200"/>
            <a:ext cx="9784080" cy="640080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ctr"/>
            <a:r>
              <a:rPr sz="2000" b="1">
                <a:solidFill>
                  <a:srgbClr val="123447"/>
                </a:solidFill>
                <a:latin typeface="Aptos"/>
              </a:rPr>
              <a:t>The goal is a defensible, explainable workflow for predicting gas hydrate occurrence and saturation from approved North Slope well-log and core data.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65392"/>
            <a:ext cx="11064240" cy="201168"/>
          </a:xfrm>
          <a:prstGeom prst="rect">
            <a:avLst/>
          </a:prstGeom>
          <a:noFill/>
        </p:spPr>
        <p:txBody>
          <a:bodyPr wrap="none" lIns="45720" rIns="45720" anchor="t">
            <a:spAutoFit/>
          </a:bodyPr>
          <a:lstStyle/>
          <a:p>
            <a:pPr algn="l"/>
            <a:r>
              <a:rPr sz="730" b="0">
                <a:solidFill>
                  <a:srgbClr val="5E6A71"/>
                </a:solidFill>
                <a:latin typeface="Aptos"/>
              </a:rPr>
              <a:t>Sources: USGS 2019; DOE/NETL; Chong et al. 2022; Lee and Collett 2011; Haines et al. 2022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