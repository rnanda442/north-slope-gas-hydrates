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6858000" cx="12191999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2500" b="1">
                <a:solidFill>
                  <a:srgbClr val="123447"/>
                </a:solidFill>
                <a:latin typeface="Aptos"/>
              </a:defRPr>
            </a:pPr>
            <a:r>
              <a:t>Gas Hydrate Occurrence and Saturation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13232"/>
            <a:ext cx="10698480" cy="29260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0">
                <a:solidFill>
                  <a:srgbClr val="566973"/>
                </a:solidFill>
                <a:latin typeface="Aptos"/>
              </a:defRPr>
            </a:pPr>
            <a:r>
              <a:t>North Slope well-log and core evidence with physics-constrained ML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325880"/>
            <a:ext cx="3108960" cy="1234440"/>
          </a:xfrm>
          <a:prstGeom prst="roundRect">
            <a:avLst/>
          </a:prstGeom>
          <a:solidFill>
            <a:srgbClr val="F6EFE2"/>
          </a:solidFill>
          <a:ln w="13970">
            <a:solidFill>
              <a:srgbClr val="D8A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417320"/>
            <a:ext cx="2889504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Rohan Nanda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673352"/>
            <a:ext cx="2889504" cy="83210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Lead Geologist</a:t>
            </a:r>
            <a:br/>
            <a:r>
              <a:t>M.S. Geosciences, University of Texas at Dallas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834640"/>
            <a:ext cx="3108960" cy="1051560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926080"/>
            <a:ext cx="2889504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About 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182112"/>
            <a:ext cx="2889504" cy="64922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I like drawing, swimming, and running.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1207008"/>
            <a:ext cx="7223760" cy="3566160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508760"/>
            <a:ext cx="6583680" cy="41148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800" b="1">
                <a:solidFill>
                  <a:srgbClr val="123447"/>
                </a:solidFill>
                <a:latin typeface="Aptos"/>
              </a:defRPr>
            </a:pPr>
            <a:r>
              <a:t>Revamp focus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993392"/>
            <a:ext cx="6400800" cy="128016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700" b="1">
                <a:solidFill>
                  <a:srgbClr val="123447"/>
                </a:solidFill>
                <a:latin typeface="Aptos"/>
              </a:defRPr>
            </a:pPr>
            <a:r>
              <a:t>Explain each well-log parameter visually, show what can mask hydrate signals, then map the ML architecture from inputs to predicted sweet spots.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3703320"/>
            <a:ext cx="1828800" cy="411480"/>
          </a:xfrm>
          <a:prstGeom prst="roundRect">
            <a:avLst/>
          </a:prstGeom>
          <a:solidFill>
            <a:srgbClr val="167D8D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parameters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3703320"/>
            <a:ext cx="1828800" cy="411480"/>
          </a:xfrm>
          <a:prstGeom prst="roundRect">
            <a:avLst/>
          </a:prstGeom>
          <a:solidFill>
            <a:srgbClr val="D8A24A"/>
          </a:solidFill>
          <a:ln w="13970">
            <a:solidFill>
              <a:srgbClr val="D8A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masking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703320"/>
            <a:ext cx="1828800" cy="411480"/>
          </a:xfrm>
          <a:prstGeom prst="roundRect">
            <a:avLst/>
          </a:prstGeom>
          <a:solidFill>
            <a:srgbClr val="8EA7FF"/>
          </a:solidFill>
          <a:ln w="13970">
            <a:solidFill>
              <a:srgbClr val="8E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ML branches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257800"/>
            <a:ext cx="10515600" cy="41148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1400" b="1">
                <a:solidFill>
                  <a:srgbClr val="CF5353"/>
                </a:solidFill>
                <a:latin typeface="Aptos"/>
              </a:defRPr>
            </a:pPr>
            <a:r>
              <a:t>Public-safe deck: no classified well data, no real approved rows, no trained models.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720" b="0">
                <a:solidFill>
                  <a:srgbClr val="566973"/>
                </a:solidFill>
                <a:latin typeface="Aptos"/>
              </a:defRPr>
            </a:pPr>
            <a:r>
              <a:t>Source base: Drive deck exported 2026-06-10; Chong et al. 2022; Excel header map; local equation documents.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2500" b="1">
                <a:solidFill>
                  <a:srgbClr val="123447"/>
                </a:solidFill>
                <a:latin typeface="Aptos"/>
              </a:defRPr>
            </a:pPr>
            <a:r>
              <a:t>What This Deck Must Explain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13232"/>
            <a:ext cx="10698480" cy="29260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0">
                <a:solidFill>
                  <a:srgbClr val="566973"/>
                </a:solidFill>
                <a:latin typeface="Aptos"/>
              </a:defRPr>
            </a:pPr>
            <a:r>
              <a:t>The audience needs to understand why a parameter matters before seeing an ML architecture.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2331720" cy="1097280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508760"/>
            <a:ext cx="2112263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Parameter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1764792"/>
            <a:ext cx="2112263" cy="69494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What property does it measure?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44952" y="1965960"/>
            <a:ext cx="320039" cy="0"/>
          </a:xfrm>
          <a:prstGeom prst="line">
            <a:avLst/>
          </a:prstGeom>
          <a:ln w="1905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474720" y="1417320"/>
            <a:ext cx="2331720" cy="1097280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25B9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1508760"/>
            <a:ext cx="2112263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Signal 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4448" y="1764792"/>
            <a:ext cx="2112263" cy="69494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Which side is hydrate-supportive?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33872" y="1965960"/>
            <a:ext cx="320040" cy="0"/>
          </a:xfrm>
          <a:prstGeom prst="line">
            <a:avLst/>
          </a:prstGeom>
          <a:ln w="1905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263640" y="1417320"/>
            <a:ext cx="2331720" cy="1097280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D8A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508760"/>
            <a:ext cx="2112263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Masking effect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1764792"/>
            <a:ext cx="2112263" cy="69494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What else can create the same response?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22792" y="1965960"/>
            <a:ext cx="320040" cy="0"/>
          </a:xfrm>
          <a:prstGeom prst="line">
            <a:avLst/>
          </a:prstGeom>
          <a:ln w="1905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052559" y="1417320"/>
            <a:ext cx="2331720" cy="1097280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8E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62287" y="1508760"/>
            <a:ext cx="2112263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ML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62287" y="1764792"/>
            <a:ext cx="2112263" cy="69494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How is it used without target leakage?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246120"/>
            <a:ext cx="10195560" cy="41148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1700" b="1">
                <a:solidFill>
                  <a:srgbClr val="123447"/>
                </a:solidFill>
                <a:latin typeface="Aptos"/>
              </a:defRPr>
            </a:pPr>
            <a:r>
              <a:t>The deck should be visual first: icons, signal bars, branch logic, and architecture maps instead of lists of variables.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4160520"/>
            <a:ext cx="3063240" cy="1143000"/>
          </a:xfrm>
          <a:prstGeom prst="roundRect">
            <a:avLst/>
          </a:prstGeom>
          <a:solidFill>
            <a:srgbClr val="F6EFE2"/>
          </a:solidFill>
          <a:ln w="13970">
            <a:solidFill>
              <a:srgbClr val="D8A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4251959"/>
            <a:ext cx="2843784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Depth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4507992"/>
            <a:ext cx="2843784" cy="74066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Retain as depth/alignment context; do not normalize like other values.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26280" y="4160520"/>
            <a:ext cx="3063240" cy="1143000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36008" y="4251959"/>
            <a:ext cx="2843784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Other curves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4507992"/>
            <a:ext cx="2843784" cy="74066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Normalize or standardize values for privacy and ML training.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160520"/>
            <a:ext cx="3063240" cy="1143000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CF53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56448" y="4251959"/>
            <a:ext cx="2843784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Targets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56448" y="4507992"/>
            <a:ext cx="2843784" cy="74066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Use for labels/calibration only; never as predictors.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720" b="0">
                <a:solidFill>
                  <a:srgbClr val="566973"/>
                </a:solidFill>
                <a:latin typeface="Aptos"/>
              </a:defRPr>
            </a:pPr>
            <a:r>
              <a:t>Planning weights and graphics are conceptual until approved well data and targets are available.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2500" b="1">
                <a:solidFill>
                  <a:srgbClr val="123447"/>
                </a:solidFill>
                <a:latin typeface="Aptos"/>
              </a:defRPr>
            </a:pPr>
            <a:r>
              <a:t>Parameter Signal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13232"/>
            <a:ext cx="10698480" cy="29260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0">
                <a:solidFill>
                  <a:srgbClr val="566973"/>
                </a:solidFill>
                <a:latin typeface="Aptos"/>
              </a:defRPr>
            </a:pPr>
            <a:r>
              <a:t>Each curve has a hydrate-supportive direction, but every strong signal has masks.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960120"/>
            <a:ext cx="1920240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30" b="1">
                <a:solidFill>
                  <a:srgbClr val="CF5353"/>
                </a:solidFill>
                <a:latin typeface="Aptos"/>
              </a:defRPr>
            </a:pPr>
            <a:r>
              <a:t>ambiguous / masked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81160" y="960120"/>
            <a:ext cx="1920240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r">
              <a:defRPr sz="830" b="1">
                <a:solidFill>
                  <a:srgbClr val="167D8D"/>
                </a:solidFill>
                <a:latin typeface="Aptos"/>
              </a:defRPr>
            </a:pPr>
            <a:r>
              <a:t>hydrate-supportive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261872"/>
            <a:ext cx="5230368" cy="749808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D6E1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1426463"/>
            <a:ext cx="347472" cy="347472"/>
          </a:xfrm>
          <a:prstGeom prst="ellipse">
            <a:avLst/>
          </a:prstGeom>
          <a:solidFill>
            <a:srgbClr val="167D8D"/>
          </a:solidFill>
          <a:ln w="1270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499616"/>
            <a:ext cx="420624" cy="16459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Aptos"/>
              </a:defRPr>
            </a:pPr>
            <a:r>
              <a:t>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362456"/>
            <a:ext cx="2514600" cy="18288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19" b="1">
                <a:solidFill>
                  <a:srgbClr val="123447"/>
                </a:solidFill>
                <a:latin typeface="Aptos"/>
              </a:defRPr>
            </a:pPr>
            <a:r>
              <a:t>Deep resistivity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362456"/>
            <a:ext cx="502920" cy="18288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r">
              <a:defRPr sz="850" b="1">
                <a:solidFill>
                  <a:srgbClr val="D8A24A"/>
                </a:solidFill>
                <a:latin typeface="Aptos"/>
              </a:defRPr>
            </a:pPr>
            <a:r>
              <a:t>18%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88720" y="1700784"/>
            <a:ext cx="3931920" cy="0"/>
          </a:xfrm>
          <a:prstGeom prst="line">
            <a:avLst/>
          </a:prstGeom>
          <a:ln w="17780">
            <a:solidFill>
              <a:srgbClr val="B1B8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063240" y="1700784"/>
            <a:ext cx="2057400" cy="0"/>
          </a:xfrm>
          <a:prstGeom prst="line">
            <a:avLst/>
          </a:prstGeom>
          <a:ln w="381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02352" y="1609343"/>
            <a:ext cx="219456" cy="182880"/>
          </a:xfrm>
          <a:prstGeom prst="roundRect">
            <a:avLst/>
          </a:prstGeom>
          <a:solidFill>
            <a:srgbClr val="167D8D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1143000" y="1792224"/>
            <a:ext cx="4480560" cy="14630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650" b="0">
                <a:solidFill>
                  <a:srgbClr val="566973"/>
                </a:solidFill>
                <a:latin typeface="Aptos"/>
              </a:defRPr>
            </a:pPr>
            <a:r>
              <a:t>mask: Free gas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2194560"/>
            <a:ext cx="5230368" cy="749808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D6E1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4088" y="2359152"/>
            <a:ext cx="347472" cy="347472"/>
          </a:xfrm>
          <a:prstGeom prst="ellipse">
            <a:avLst/>
          </a:prstGeom>
          <a:solidFill>
            <a:srgbClr val="167D8D"/>
          </a:solidFill>
          <a:ln w="1270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2432304"/>
            <a:ext cx="420624" cy="16459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Aptos"/>
              </a:defRPr>
            </a:pPr>
            <a:r>
              <a:t>NMR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2295144"/>
            <a:ext cx="2514600" cy="18288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19" b="1">
                <a:solidFill>
                  <a:srgbClr val="123447"/>
                </a:solidFill>
                <a:latin typeface="Aptos"/>
              </a:defRPr>
            </a:pPr>
            <a:r>
              <a:t>NMR porosity / NMR saturation support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2295144"/>
            <a:ext cx="502920" cy="18288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r">
              <a:defRPr sz="850" b="1">
                <a:solidFill>
                  <a:srgbClr val="D8A24A"/>
                </a:solidFill>
                <a:latin typeface="Aptos"/>
              </a:defRPr>
            </a:pPr>
            <a:r>
              <a:t>16%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88720" y="2633472"/>
            <a:ext cx="3931920" cy="0"/>
          </a:xfrm>
          <a:prstGeom prst="line">
            <a:avLst/>
          </a:prstGeom>
          <a:ln w="17780">
            <a:solidFill>
              <a:srgbClr val="B1B8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063240" y="2633472"/>
            <a:ext cx="2057400" cy="0"/>
          </a:xfrm>
          <a:prstGeom prst="line">
            <a:avLst/>
          </a:prstGeom>
          <a:ln w="381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102352" y="2542032"/>
            <a:ext cx="219456" cy="182880"/>
          </a:xfrm>
          <a:prstGeom prst="roundRect">
            <a:avLst/>
          </a:prstGeom>
          <a:solidFill>
            <a:srgbClr val="167D8D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1143000" y="2724912"/>
            <a:ext cx="4480560" cy="14630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650" b="0">
                <a:solidFill>
                  <a:srgbClr val="566973"/>
                </a:solidFill>
                <a:latin typeface="Aptos"/>
              </a:defRPr>
            </a:pPr>
            <a:r>
              <a:t>mask: Shale/clay bound water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3127248"/>
            <a:ext cx="5230368" cy="749808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D6E1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04088" y="3291840"/>
            <a:ext cx="347472" cy="347472"/>
          </a:xfrm>
          <a:prstGeom prst="ellipse">
            <a:avLst/>
          </a:prstGeom>
          <a:solidFill>
            <a:srgbClr val="167D8D"/>
          </a:solidFill>
          <a:ln w="1270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" y="3364992"/>
            <a:ext cx="420624" cy="16459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Aptos"/>
              </a:defRPr>
            </a:pPr>
            <a:r>
              <a:t>Vp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3227832"/>
            <a:ext cx="2514600" cy="18288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19" b="1">
                <a:solidFill>
                  <a:srgbClr val="123447"/>
                </a:solidFill>
                <a:latin typeface="Aptos"/>
              </a:defRPr>
            </a:pPr>
            <a:r>
              <a:t>Vp / compressional velocity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3227832"/>
            <a:ext cx="502920" cy="18288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r">
              <a:defRPr sz="850" b="1">
                <a:solidFill>
                  <a:srgbClr val="D8A24A"/>
                </a:solidFill>
                <a:latin typeface="Aptos"/>
              </a:defRPr>
            </a:pPr>
            <a:r>
              <a:t>13%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88720" y="3566160"/>
            <a:ext cx="3931920" cy="0"/>
          </a:xfrm>
          <a:prstGeom prst="line">
            <a:avLst/>
          </a:prstGeom>
          <a:ln w="17780">
            <a:solidFill>
              <a:srgbClr val="B1B8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063240" y="3566160"/>
            <a:ext cx="2057400" cy="0"/>
          </a:xfrm>
          <a:prstGeom prst="line">
            <a:avLst/>
          </a:prstGeom>
          <a:ln w="381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102352" y="3474720"/>
            <a:ext cx="219456" cy="182880"/>
          </a:xfrm>
          <a:prstGeom prst="roundRect">
            <a:avLst/>
          </a:prstGeom>
          <a:solidFill>
            <a:srgbClr val="167D8D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1143000" y="3657600"/>
            <a:ext cx="4480560" cy="14630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650" b="0">
                <a:solidFill>
                  <a:srgbClr val="566973"/>
                </a:solidFill>
                <a:latin typeface="Aptos"/>
              </a:defRPr>
            </a:pPr>
            <a:r>
              <a:t>mask: Overburden compaction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059935"/>
            <a:ext cx="5230368" cy="749808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D6E1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4088" y="4224527"/>
            <a:ext cx="347472" cy="347472"/>
          </a:xfrm>
          <a:prstGeom prst="ellipse">
            <a:avLst/>
          </a:prstGeom>
          <a:solidFill>
            <a:srgbClr val="167D8D"/>
          </a:solidFill>
          <a:ln w="1270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4297679"/>
            <a:ext cx="420624" cy="16459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Aptos"/>
              </a:defRPr>
            </a:pPr>
            <a:r>
              <a:t>Vs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4160520"/>
            <a:ext cx="2514600" cy="18288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19" b="1">
                <a:solidFill>
                  <a:srgbClr val="123447"/>
                </a:solidFill>
                <a:latin typeface="Aptos"/>
              </a:defRPr>
            </a:pPr>
            <a:r>
              <a:t>Vs / shear velocity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4160520"/>
            <a:ext cx="502920" cy="18288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r">
              <a:defRPr sz="850" b="1">
                <a:solidFill>
                  <a:srgbClr val="D8A24A"/>
                </a:solidFill>
                <a:latin typeface="Aptos"/>
              </a:defRPr>
            </a:pPr>
            <a:r>
              <a:t>11%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188720" y="4498848"/>
            <a:ext cx="3931920" cy="0"/>
          </a:xfrm>
          <a:prstGeom prst="line">
            <a:avLst/>
          </a:prstGeom>
          <a:ln w="17780">
            <a:solidFill>
              <a:srgbClr val="B1B8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063240" y="4498848"/>
            <a:ext cx="2057400" cy="0"/>
          </a:xfrm>
          <a:prstGeom prst="line">
            <a:avLst/>
          </a:prstGeom>
          <a:ln w="381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5102352" y="4407407"/>
            <a:ext cx="219456" cy="182880"/>
          </a:xfrm>
          <a:prstGeom prst="roundRect">
            <a:avLst/>
          </a:prstGeom>
          <a:solidFill>
            <a:srgbClr val="167D8D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</a:p>
        </p:txBody>
      </p:sp>
      <p:sp>
        <p:nvSpPr>
          <p:cNvPr id="42" name="TextBox 41"/>
          <p:cNvSpPr txBox="1"/>
          <p:nvPr/>
        </p:nvSpPr>
        <p:spPr>
          <a:xfrm>
            <a:off x="1143000" y="4590288"/>
            <a:ext cx="4480560" cy="14630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650" b="0">
                <a:solidFill>
                  <a:srgbClr val="566973"/>
                </a:solidFill>
                <a:latin typeface="Aptos"/>
              </a:defRPr>
            </a:pPr>
            <a:r>
              <a:t>mask: Overburden compaction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4360" y="4992624"/>
            <a:ext cx="5230368" cy="749808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D6E1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04088" y="5157216"/>
            <a:ext cx="347472" cy="347472"/>
          </a:xfrm>
          <a:prstGeom prst="ellipse">
            <a:avLst/>
          </a:prstGeom>
          <a:solidFill>
            <a:srgbClr val="167D8D"/>
          </a:solidFill>
          <a:ln w="1270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512" y="5230368"/>
            <a:ext cx="420624" cy="16459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Aptos"/>
              </a:defRPr>
            </a:pPr>
            <a:r>
              <a:t>rho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" y="5093208"/>
            <a:ext cx="2514600" cy="18288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19" b="1">
                <a:solidFill>
                  <a:srgbClr val="123447"/>
                </a:solidFill>
                <a:latin typeface="Aptos"/>
              </a:defRPr>
            </a:pPr>
            <a:r>
              <a:t>Density and density porosity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40480" y="5093208"/>
            <a:ext cx="502920" cy="18288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r">
              <a:defRPr sz="850" b="1">
                <a:solidFill>
                  <a:srgbClr val="D8A24A"/>
                </a:solidFill>
                <a:latin typeface="Aptos"/>
              </a:defRPr>
            </a:pPr>
            <a:r>
              <a:t>11%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188720" y="5431536"/>
            <a:ext cx="3931920" cy="0"/>
          </a:xfrm>
          <a:prstGeom prst="line">
            <a:avLst/>
          </a:prstGeom>
          <a:ln w="17780">
            <a:solidFill>
              <a:srgbClr val="B1B8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063240" y="5431536"/>
            <a:ext cx="2057400" cy="0"/>
          </a:xfrm>
          <a:prstGeom prst="line">
            <a:avLst/>
          </a:prstGeom>
          <a:ln w="381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5102352" y="5340096"/>
            <a:ext cx="219456" cy="182880"/>
          </a:xfrm>
          <a:prstGeom prst="roundRect">
            <a:avLst/>
          </a:prstGeom>
          <a:solidFill>
            <a:srgbClr val="167D8D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</a:p>
        </p:txBody>
      </p:sp>
      <p:sp>
        <p:nvSpPr>
          <p:cNvPr id="51" name="TextBox 50"/>
          <p:cNvSpPr txBox="1"/>
          <p:nvPr/>
        </p:nvSpPr>
        <p:spPr>
          <a:xfrm>
            <a:off x="1143000" y="5522976"/>
            <a:ext cx="4480560" cy="14630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650" b="0">
                <a:solidFill>
                  <a:srgbClr val="566973"/>
                </a:solidFill>
                <a:latin typeface="Aptos"/>
              </a:defRPr>
            </a:pPr>
            <a:r>
              <a:t>mask: Overburden compaction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17920" y="1261872"/>
            <a:ext cx="5230368" cy="749808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D6E1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27648" y="1426463"/>
            <a:ext cx="347472" cy="347472"/>
          </a:xfrm>
          <a:prstGeom prst="ellipse">
            <a:avLst/>
          </a:prstGeom>
          <a:solidFill>
            <a:srgbClr val="167D8D"/>
          </a:solidFill>
          <a:ln w="1270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91072" y="1499616"/>
            <a:ext cx="420624" cy="16459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Aptos"/>
              </a:defRPr>
            </a:pPr>
            <a:r>
              <a:t>GR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1362456"/>
            <a:ext cx="2514600" cy="18288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19" b="1">
                <a:solidFill>
                  <a:srgbClr val="123447"/>
                </a:solidFill>
                <a:latin typeface="Aptos"/>
              </a:defRPr>
            </a:pPr>
            <a:r>
              <a:t>Gamma ray / lithology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464040" y="1362456"/>
            <a:ext cx="502920" cy="18288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r">
              <a:defRPr sz="850" b="1">
                <a:solidFill>
                  <a:srgbClr val="D8A24A"/>
                </a:solidFill>
                <a:latin typeface="Aptos"/>
              </a:defRPr>
            </a:pPr>
            <a:r>
              <a:t>10%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812280" y="1700784"/>
            <a:ext cx="3931920" cy="0"/>
          </a:xfrm>
          <a:prstGeom prst="line">
            <a:avLst/>
          </a:prstGeom>
          <a:ln w="17780">
            <a:solidFill>
              <a:srgbClr val="B1B8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8686800" y="1700784"/>
            <a:ext cx="2057400" cy="0"/>
          </a:xfrm>
          <a:prstGeom prst="line">
            <a:avLst/>
          </a:prstGeom>
          <a:ln w="381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10725912" y="1609343"/>
            <a:ext cx="219456" cy="182880"/>
          </a:xfrm>
          <a:prstGeom prst="roundRect">
            <a:avLst/>
          </a:prstGeom>
          <a:solidFill>
            <a:srgbClr val="167D8D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</a:p>
        </p:txBody>
      </p:sp>
      <p:sp>
        <p:nvSpPr>
          <p:cNvPr id="60" name="TextBox 59"/>
          <p:cNvSpPr txBox="1"/>
          <p:nvPr/>
        </p:nvSpPr>
        <p:spPr>
          <a:xfrm>
            <a:off x="6766560" y="1792224"/>
            <a:ext cx="4480560" cy="14630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650" b="0">
                <a:solidFill>
                  <a:srgbClr val="566973"/>
                </a:solidFill>
                <a:latin typeface="Aptos"/>
              </a:defRPr>
            </a:pPr>
            <a:r>
              <a:t>mask: Radioactive minerals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217920" y="2194560"/>
            <a:ext cx="5230368" cy="749808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D6E1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327648" y="2359152"/>
            <a:ext cx="347472" cy="347472"/>
          </a:xfrm>
          <a:prstGeom prst="ellipse">
            <a:avLst/>
          </a:prstGeom>
          <a:solidFill>
            <a:srgbClr val="167D8D"/>
          </a:solidFill>
          <a:ln w="1270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91072" y="2432304"/>
            <a:ext cx="420624" cy="16459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Aptos"/>
              </a:defRPr>
            </a:pPr>
            <a:r>
              <a:t>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66560" y="2295144"/>
            <a:ext cx="2514600" cy="18288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19" b="1">
                <a:solidFill>
                  <a:srgbClr val="123447"/>
                </a:solidFill>
                <a:latin typeface="Aptos"/>
              </a:defRPr>
            </a:pPr>
            <a:r>
              <a:t>Caliper / differential caliper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464040" y="2295144"/>
            <a:ext cx="502920" cy="18288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r">
              <a:defRPr sz="850" b="1">
                <a:solidFill>
                  <a:srgbClr val="D8A24A"/>
                </a:solidFill>
                <a:latin typeface="Aptos"/>
              </a:defRPr>
            </a:pPr>
            <a:r>
              <a:t>8%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812280" y="2633472"/>
            <a:ext cx="3931920" cy="0"/>
          </a:xfrm>
          <a:prstGeom prst="line">
            <a:avLst/>
          </a:prstGeom>
          <a:ln w="17780">
            <a:solidFill>
              <a:srgbClr val="B1B8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8686800" y="2633472"/>
            <a:ext cx="2057400" cy="0"/>
          </a:xfrm>
          <a:prstGeom prst="line">
            <a:avLst/>
          </a:prstGeom>
          <a:ln w="381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10725912" y="2542032"/>
            <a:ext cx="219456" cy="182880"/>
          </a:xfrm>
          <a:prstGeom prst="roundRect">
            <a:avLst/>
          </a:prstGeom>
          <a:solidFill>
            <a:srgbClr val="167D8D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</a:p>
        </p:txBody>
      </p:sp>
      <p:sp>
        <p:nvSpPr>
          <p:cNvPr id="69" name="TextBox 68"/>
          <p:cNvSpPr txBox="1"/>
          <p:nvPr/>
        </p:nvSpPr>
        <p:spPr>
          <a:xfrm>
            <a:off x="6766560" y="2724912"/>
            <a:ext cx="4480560" cy="14630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650" b="0">
                <a:solidFill>
                  <a:srgbClr val="566973"/>
                </a:solidFill>
                <a:latin typeface="Aptos"/>
              </a:defRPr>
            </a:pPr>
            <a:r>
              <a:t>mask: Washout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217920" y="3127248"/>
            <a:ext cx="5230368" cy="749808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D6E1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327648" y="3291840"/>
            <a:ext cx="347472" cy="347472"/>
          </a:xfrm>
          <a:prstGeom prst="ellipse">
            <a:avLst/>
          </a:prstGeom>
          <a:solidFill>
            <a:srgbClr val="167D8D"/>
          </a:solidFill>
          <a:ln w="1270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91072" y="3364992"/>
            <a:ext cx="420624" cy="16459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Aptos"/>
              </a:defRPr>
            </a:pPr>
            <a:r>
              <a:t>AI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66560" y="3227832"/>
            <a:ext cx="2514600" cy="18288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19" b="1">
                <a:solidFill>
                  <a:srgbClr val="123447"/>
                </a:solidFill>
                <a:latin typeface="Aptos"/>
              </a:defRPr>
            </a:pPr>
            <a:r>
              <a:t>Vp/Vs ratio and acoustic impedance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464040" y="3227832"/>
            <a:ext cx="502920" cy="18288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r">
              <a:defRPr sz="850" b="1">
                <a:solidFill>
                  <a:srgbClr val="D8A24A"/>
                </a:solidFill>
                <a:latin typeface="Aptos"/>
              </a:defRPr>
            </a:pPr>
            <a:r>
              <a:t>5%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6812280" y="3566160"/>
            <a:ext cx="3931920" cy="0"/>
          </a:xfrm>
          <a:prstGeom prst="line">
            <a:avLst/>
          </a:prstGeom>
          <a:ln w="17780">
            <a:solidFill>
              <a:srgbClr val="B1B8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8686800" y="3566160"/>
            <a:ext cx="2057400" cy="0"/>
          </a:xfrm>
          <a:prstGeom prst="line">
            <a:avLst/>
          </a:prstGeom>
          <a:ln w="381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10725912" y="3474720"/>
            <a:ext cx="219456" cy="182880"/>
          </a:xfrm>
          <a:prstGeom prst="roundRect">
            <a:avLst/>
          </a:prstGeom>
          <a:solidFill>
            <a:srgbClr val="167D8D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</a:p>
        </p:txBody>
      </p:sp>
      <p:sp>
        <p:nvSpPr>
          <p:cNvPr id="78" name="TextBox 77"/>
          <p:cNvSpPr txBox="1"/>
          <p:nvPr/>
        </p:nvSpPr>
        <p:spPr>
          <a:xfrm>
            <a:off x="6766560" y="3657600"/>
            <a:ext cx="4480560" cy="14630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650" b="0">
                <a:solidFill>
                  <a:srgbClr val="566973"/>
                </a:solidFill>
                <a:latin typeface="Aptos"/>
              </a:defRPr>
            </a:pPr>
            <a:r>
              <a:t>mask: Input dependency errors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217920" y="4059935"/>
            <a:ext cx="5230368" cy="749808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D6E1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6327648" y="4224527"/>
            <a:ext cx="347472" cy="347472"/>
          </a:xfrm>
          <a:prstGeom prst="ellipse">
            <a:avLst/>
          </a:prstGeom>
          <a:solidFill>
            <a:srgbClr val="167D8D"/>
          </a:solidFill>
          <a:ln w="1270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91072" y="4297679"/>
            <a:ext cx="420624" cy="16459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Aptos"/>
              </a:defRPr>
            </a:pPr>
            <a:r>
              <a:t>Core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66560" y="4160520"/>
            <a:ext cx="2514600" cy="18288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19" b="1">
                <a:solidFill>
                  <a:srgbClr val="123447"/>
                </a:solidFill>
                <a:latin typeface="Aptos"/>
              </a:defRPr>
            </a:pPr>
            <a:r>
              <a:t>Core porosity / permeability / lithology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464040" y="4160520"/>
            <a:ext cx="502920" cy="18288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r">
              <a:defRPr sz="850" b="1">
                <a:solidFill>
                  <a:srgbClr val="D8A24A"/>
                </a:solidFill>
                <a:latin typeface="Aptos"/>
              </a:defRPr>
            </a:pPr>
            <a:r>
              <a:t>4%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6812280" y="4498848"/>
            <a:ext cx="3931920" cy="0"/>
          </a:xfrm>
          <a:prstGeom prst="line">
            <a:avLst/>
          </a:prstGeom>
          <a:ln w="17780">
            <a:solidFill>
              <a:srgbClr val="B1B8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8686800" y="4498848"/>
            <a:ext cx="2057400" cy="0"/>
          </a:xfrm>
          <a:prstGeom prst="line">
            <a:avLst/>
          </a:prstGeom>
          <a:ln w="381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10725912" y="4407407"/>
            <a:ext cx="219456" cy="182880"/>
          </a:xfrm>
          <a:prstGeom prst="roundRect">
            <a:avLst/>
          </a:prstGeom>
          <a:solidFill>
            <a:srgbClr val="167D8D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</a:p>
        </p:txBody>
      </p:sp>
      <p:sp>
        <p:nvSpPr>
          <p:cNvPr id="87" name="TextBox 86"/>
          <p:cNvSpPr txBox="1"/>
          <p:nvPr/>
        </p:nvSpPr>
        <p:spPr>
          <a:xfrm>
            <a:off x="6766560" y="4590288"/>
            <a:ext cx="4480560" cy="14630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650" b="0">
                <a:solidFill>
                  <a:srgbClr val="566973"/>
                </a:solidFill>
                <a:latin typeface="Aptos"/>
              </a:defRPr>
            </a:pPr>
            <a:r>
              <a:t>mask: Depth mismatch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217920" y="4992624"/>
            <a:ext cx="5230368" cy="749808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D6E1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27648" y="5157216"/>
            <a:ext cx="347472" cy="347472"/>
          </a:xfrm>
          <a:prstGeom prst="ellipse">
            <a:avLst/>
          </a:prstGeom>
          <a:solidFill>
            <a:srgbClr val="167D8D"/>
          </a:solidFill>
          <a:ln w="1270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291072" y="5230368"/>
            <a:ext cx="420624" cy="16459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Aptos"/>
              </a:defRPr>
            </a:pPr>
            <a:r>
              <a:t>Depth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766560" y="5093208"/>
            <a:ext cx="2514600" cy="18288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19" b="1">
                <a:solidFill>
                  <a:srgbClr val="123447"/>
                </a:solidFill>
                <a:latin typeface="Aptos"/>
              </a:defRPr>
            </a:pPr>
            <a:r>
              <a:t>Depth / pressure-temperature / overburden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64040" y="5093208"/>
            <a:ext cx="502920" cy="18288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r">
              <a:defRPr sz="850" b="1">
                <a:solidFill>
                  <a:srgbClr val="D8A24A"/>
                </a:solidFill>
                <a:latin typeface="Aptos"/>
              </a:defRPr>
            </a:pPr>
            <a:r>
              <a:t>4%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6812280" y="5431536"/>
            <a:ext cx="3931920" cy="0"/>
          </a:xfrm>
          <a:prstGeom prst="line">
            <a:avLst/>
          </a:prstGeom>
          <a:ln w="17780">
            <a:solidFill>
              <a:srgbClr val="B1B8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8686800" y="5431536"/>
            <a:ext cx="2057400" cy="0"/>
          </a:xfrm>
          <a:prstGeom prst="line">
            <a:avLst/>
          </a:prstGeom>
          <a:ln w="381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10725912" y="5340096"/>
            <a:ext cx="219456" cy="182880"/>
          </a:xfrm>
          <a:prstGeom prst="roundRect">
            <a:avLst/>
          </a:prstGeom>
          <a:solidFill>
            <a:srgbClr val="167D8D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</a:p>
        </p:txBody>
      </p:sp>
      <p:sp>
        <p:nvSpPr>
          <p:cNvPr id="96" name="TextBox 95"/>
          <p:cNvSpPr txBox="1"/>
          <p:nvPr/>
        </p:nvSpPr>
        <p:spPr>
          <a:xfrm>
            <a:off x="6766560" y="5522976"/>
            <a:ext cx="4480560" cy="14630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650" b="0">
                <a:solidFill>
                  <a:srgbClr val="566973"/>
                </a:solidFill>
                <a:latin typeface="Aptos"/>
              </a:defRPr>
            </a:pPr>
            <a:r>
              <a:t>mask: Stability alone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720" b="0">
                <a:solidFill>
                  <a:srgbClr val="566973"/>
                </a:solidFill>
                <a:latin typeface="Aptos"/>
              </a:defRPr>
            </a:pPr>
            <a:r>
              <a:t>Weights are planning priors for visual emphasis, not trained feature importance.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2500" b="1">
                <a:solidFill>
                  <a:srgbClr val="123447"/>
                </a:solidFill>
                <a:latin typeface="Aptos"/>
              </a:defRPr>
            </a:pPr>
            <a:r>
              <a:t>Parameter Effect Trees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13232"/>
            <a:ext cx="10698480" cy="29260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0">
                <a:solidFill>
                  <a:srgbClr val="566973"/>
                </a:solidFill>
                <a:latin typeface="Aptos"/>
              </a:defRPr>
            </a:pPr>
            <a:r>
              <a:t>Read each parameter as evidence plus masking conditions, not as a one-step hydrate label.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07008"/>
            <a:ext cx="2331720" cy="4526280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371600"/>
            <a:ext cx="2011680" cy="36576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1100" b="1">
                <a:solidFill>
                  <a:srgbClr val="123447"/>
                </a:solidFill>
                <a:latin typeface="Aptos"/>
              </a:defRPr>
            </a:pPr>
            <a:r>
              <a:t>Deep resistivity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938528"/>
            <a:ext cx="1234440" cy="292608"/>
          </a:xfrm>
          <a:prstGeom prst="roundRect">
            <a:avLst/>
          </a:prstGeom>
          <a:solidFill>
            <a:srgbClr val="167D8D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measure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340864"/>
            <a:ext cx="1938528" cy="38404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740" b="0">
                <a:solidFill>
                  <a:srgbClr val="123447"/>
                </a:solidFill>
                <a:latin typeface="Aptos"/>
              </a:defRPr>
            </a:pPr>
            <a:r>
              <a:t>Hydrate replaces conductive pore water and raises formation resistivity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73352" y="2816352"/>
            <a:ext cx="0" cy="429768"/>
          </a:xfrm>
          <a:prstGeom prst="line">
            <a:avLst/>
          </a:prstGeom>
          <a:ln w="1905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78408" y="3273552"/>
            <a:ext cx="1371600" cy="292608"/>
          </a:xfrm>
          <a:prstGeom prst="roundRect">
            <a:avLst/>
          </a:prstGeom>
          <a:solidFill>
            <a:srgbClr val="CF5353"/>
          </a:solidFill>
          <a:ln w="13970">
            <a:solidFill>
              <a:srgbClr val="CF53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can mask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657600"/>
            <a:ext cx="1920240" cy="43891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720" b="0">
                <a:solidFill>
                  <a:srgbClr val="566973"/>
                </a:solidFill>
                <a:latin typeface="Aptos"/>
              </a:defRPr>
            </a:pPr>
            <a:r>
              <a:t>Free gas;  ice;  carbonate/cement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673352" y="4187952"/>
            <a:ext cx="0" cy="384048"/>
          </a:xfrm>
          <a:prstGeom prst="line">
            <a:avLst/>
          </a:prstGeom>
          <a:ln w="1905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86968" y="4599432"/>
            <a:ext cx="1554480" cy="292608"/>
          </a:xfrm>
          <a:prstGeom prst="roundRect">
            <a:avLst/>
          </a:prstGeom>
          <a:solidFill>
            <a:srgbClr val="092231"/>
          </a:solidFill>
          <a:ln w="13970">
            <a:solidFill>
              <a:srgbClr val="09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ML 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956048"/>
            <a:ext cx="1938528" cy="42062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700" b="0">
                <a:solidFill>
                  <a:srgbClr val="123447"/>
                </a:solidFill>
                <a:latin typeface="Aptos"/>
              </a:defRPr>
            </a:pPr>
            <a:r>
              <a:t>Strong input feature, not a standalone label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56432" y="1207008"/>
            <a:ext cx="2331720" cy="4526280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25B9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4448" y="1371600"/>
            <a:ext cx="2011680" cy="36576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1100" b="1">
                <a:solidFill>
                  <a:srgbClr val="123447"/>
                </a:solidFill>
                <a:latin typeface="Aptos"/>
              </a:defRPr>
            </a:pPr>
            <a:r>
              <a:t>NMR porosity / NMR saturation support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05072" y="1938528"/>
            <a:ext cx="1234440" cy="292608"/>
          </a:xfrm>
          <a:prstGeom prst="roundRect">
            <a:avLst/>
          </a:prstGeom>
          <a:solidFill>
            <a:srgbClr val="25B99A"/>
          </a:solidFill>
          <a:ln w="13970">
            <a:solidFill>
              <a:srgbClr val="25B9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measure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340864"/>
            <a:ext cx="1938528" cy="38404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740" b="0">
                <a:solidFill>
                  <a:srgbClr val="123447"/>
                </a:solidFill>
                <a:latin typeface="Aptos"/>
              </a:defRPr>
            </a:pPr>
            <a:r>
              <a:t>Hydrate occupies pore space and reduces mobile water signal relative to density/core porosity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626864" y="2816352"/>
            <a:ext cx="0" cy="429768"/>
          </a:xfrm>
          <a:prstGeom prst="line">
            <a:avLst/>
          </a:prstGeom>
          <a:ln w="19050">
            <a:solidFill>
              <a:srgbClr val="25B9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931920" y="3273552"/>
            <a:ext cx="1371600" cy="292608"/>
          </a:xfrm>
          <a:prstGeom prst="roundRect">
            <a:avLst/>
          </a:prstGeom>
          <a:solidFill>
            <a:srgbClr val="CF5353"/>
          </a:solidFill>
          <a:ln w="13970">
            <a:solidFill>
              <a:srgbClr val="CF53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can mask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3657600"/>
            <a:ext cx="1920240" cy="43891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720" b="0">
                <a:solidFill>
                  <a:srgbClr val="566973"/>
                </a:solidFill>
                <a:latin typeface="Aptos"/>
              </a:defRPr>
            </a:pPr>
            <a:r>
              <a:t>Shale/clay bound water;  poor depth match;  missing NMR coverage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626864" y="4187952"/>
            <a:ext cx="0" cy="384048"/>
          </a:xfrm>
          <a:prstGeom prst="line">
            <a:avLst/>
          </a:prstGeom>
          <a:ln w="19050">
            <a:solidFill>
              <a:srgbClr val="25B9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840480" y="4599432"/>
            <a:ext cx="1554480" cy="292608"/>
          </a:xfrm>
          <a:prstGeom prst="roundRect">
            <a:avLst/>
          </a:prstGeom>
          <a:solidFill>
            <a:srgbClr val="092231"/>
          </a:solidFill>
          <a:ln w="13970">
            <a:solidFill>
              <a:srgbClr val="09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ML 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956048"/>
            <a:ext cx="1938528" cy="42062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700" b="0">
                <a:solidFill>
                  <a:srgbClr val="123447"/>
                </a:solidFill>
                <a:latin typeface="Aptos"/>
              </a:defRPr>
            </a:pPr>
            <a:r>
              <a:t>Input when NMRPHI is measured; target/calibration when NMR_SAT is derived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9944" y="1207008"/>
            <a:ext cx="2331720" cy="4526280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8E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59" y="1371600"/>
            <a:ext cx="2011680" cy="36576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1100" b="1">
                <a:solidFill>
                  <a:srgbClr val="123447"/>
                </a:solidFill>
                <a:latin typeface="Aptos"/>
              </a:defRPr>
            </a:pPr>
            <a:r>
              <a:t>Vp / compressional velocity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58583" y="1938528"/>
            <a:ext cx="1234440" cy="292608"/>
          </a:xfrm>
          <a:prstGeom prst="roundRect">
            <a:avLst/>
          </a:prstGeom>
          <a:solidFill>
            <a:srgbClr val="8EA7FF"/>
          </a:solidFill>
          <a:ln w="13970">
            <a:solidFill>
              <a:srgbClr val="8E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measure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11112" y="2340864"/>
            <a:ext cx="1938528" cy="38404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740" b="0">
                <a:solidFill>
                  <a:srgbClr val="123447"/>
                </a:solidFill>
                <a:latin typeface="Aptos"/>
              </a:defRPr>
            </a:pPr>
            <a:r>
              <a:t>Hydrate stiffens the sediment frame and raises compressional velocity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580375" y="2816352"/>
            <a:ext cx="0" cy="429768"/>
          </a:xfrm>
          <a:prstGeom prst="line">
            <a:avLst/>
          </a:prstGeom>
          <a:ln w="19050">
            <a:solidFill>
              <a:srgbClr val="8EA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885431" y="3273552"/>
            <a:ext cx="1371600" cy="292608"/>
          </a:xfrm>
          <a:prstGeom prst="roundRect">
            <a:avLst/>
          </a:prstGeom>
          <a:solidFill>
            <a:srgbClr val="CF5353"/>
          </a:solidFill>
          <a:ln w="13970">
            <a:solidFill>
              <a:srgbClr val="CF53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can mask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11112" y="3657600"/>
            <a:ext cx="1920240" cy="43891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720" b="0">
                <a:solidFill>
                  <a:srgbClr val="566973"/>
                </a:solidFill>
                <a:latin typeface="Aptos"/>
              </a:defRPr>
            </a:pPr>
            <a:r>
              <a:t>Overburden compaction;  carbonate/cement;  ice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580375" y="4187952"/>
            <a:ext cx="0" cy="384048"/>
          </a:xfrm>
          <a:prstGeom prst="line">
            <a:avLst/>
          </a:prstGeom>
          <a:ln w="19050">
            <a:solidFill>
              <a:srgbClr val="8EA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793992" y="4599432"/>
            <a:ext cx="1554480" cy="292608"/>
          </a:xfrm>
          <a:prstGeom prst="roundRect">
            <a:avLst/>
          </a:prstGeom>
          <a:solidFill>
            <a:srgbClr val="092231"/>
          </a:solidFill>
          <a:ln w="13970">
            <a:solidFill>
              <a:srgbClr val="09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ML use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11112" y="4956048"/>
            <a:ext cx="1938528" cy="42062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700" b="0">
                <a:solidFill>
                  <a:srgbClr val="123447"/>
                </a:solidFill>
                <a:latin typeface="Aptos"/>
              </a:defRPr>
            </a:pPr>
            <a:r>
              <a:t>Input feature and source for acoustic impedance and elastic moduli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63456" y="1207008"/>
            <a:ext cx="2331720" cy="4526280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D8A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91472" y="1371600"/>
            <a:ext cx="2011680" cy="36576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1100" b="1">
                <a:solidFill>
                  <a:srgbClr val="123447"/>
                </a:solidFill>
                <a:latin typeface="Aptos"/>
              </a:defRPr>
            </a:pPr>
            <a:r>
              <a:t>Density and density porosity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912096" y="1938528"/>
            <a:ext cx="1234440" cy="292608"/>
          </a:xfrm>
          <a:prstGeom prst="roundRect">
            <a:avLst/>
          </a:prstGeom>
          <a:solidFill>
            <a:srgbClr val="D8A24A"/>
          </a:solidFill>
          <a:ln w="13970">
            <a:solidFill>
              <a:srgbClr val="D8A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measure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64624" y="2340864"/>
            <a:ext cx="1938528" cy="38404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740" b="0">
                <a:solidFill>
                  <a:srgbClr val="123447"/>
                </a:solidFill>
                <a:latin typeface="Aptos"/>
              </a:defRPr>
            </a:pPr>
            <a:r>
              <a:t>Density constrains porosity and elastic calculations more than direct hydrate presence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533888" y="2816352"/>
            <a:ext cx="0" cy="429768"/>
          </a:xfrm>
          <a:prstGeom prst="line">
            <a:avLst/>
          </a:prstGeom>
          <a:ln w="19050">
            <a:solidFill>
              <a:srgbClr val="D8A2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838944" y="3273552"/>
            <a:ext cx="1371600" cy="292608"/>
          </a:xfrm>
          <a:prstGeom prst="roundRect">
            <a:avLst/>
          </a:prstGeom>
          <a:solidFill>
            <a:srgbClr val="CF5353"/>
          </a:solidFill>
          <a:ln w="13970">
            <a:solidFill>
              <a:srgbClr val="CF53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can mask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64624" y="3657600"/>
            <a:ext cx="1920240" cy="43891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720" b="0">
                <a:solidFill>
                  <a:srgbClr val="566973"/>
                </a:solidFill>
                <a:latin typeface="Aptos"/>
              </a:defRPr>
            </a:pPr>
            <a:r>
              <a:t>Overburden compaction;  mineralogy;  shale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533888" y="4187952"/>
            <a:ext cx="0" cy="384048"/>
          </a:xfrm>
          <a:prstGeom prst="line">
            <a:avLst/>
          </a:prstGeom>
          <a:ln w="19050">
            <a:solidFill>
              <a:srgbClr val="D8A2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747504" y="4599432"/>
            <a:ext cx="1554480" cy="292608"/>
          </a:xfrm>
          <a:prstGeom prst="roundRect">
            <a:avLst/>
          </a:prstGeom>
          <a:solidFill>
            <a:srgbClr val="092231"/>
          </a:solidFill>
          <a:ln w="13970">
            <a:solidFill>
              <a:srgbClr val="0922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ML use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64624" y="4956048"/>
            <a:ext cx="1938528" cy="42062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700" b="0">
                <a:solidFill>
                  <a:srgbClr val="123447"/>
                </a:solidFill>
                <a:latin typeface="Aptos"/>
              </a:defRPr>
            </a:pPr>
            <a:r>
              <a:t>Input feature and equation input; derived porosity needs provenance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720" b="0">
                <a:solidFill>
                  <a:srgbClr val="566973"/>
                </a:solidFill>
                <a:latin typeface="Aptos"/>
              </a:defRPr>
            </a:pPr>
            <a:r>
              <a:t>The detailed matrix is stored in docs/project_blueprints/ml_parameter_effect_tree.csv.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5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ML Architecture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13232"/>
            <a:ext cx="10698480" cy="29260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0">
                <a:solidFill>
                  <a:srgbClr val="BEDCE2"/>
                </a:solidFill>
                <a:latin typeface="Aptos"/>
              </a:defRPr>
            </a:pPr>
            <a:r>
              <a:t>Hybrid architecture: MLOps flow plus hydrate-specific evidence logic.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0352" y="1874519"/>
            <a:ext cx="1874519" cy="1243584"/>
          </a:xfrm>
          <a:prstGeom prst="roundRect">
            <a:avLst/>
          </a:prstGeom>
          <a:solidFill>
            <a:srgbClr val="0D3946"/>
          </a:solidFill>
          <a:ln w="13970">
            <a:solidFill>
              <a:srgbClr val="67D0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2039112"/>
            <a:ext cx="1600200" cy="22860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1019" b="1">
                <a:solidFill>
                  <a:srgbClr val="67D0DF"/>
                </a:solidFill>
                <a:latin typeface="Aptos"/>
              </a:defRPr>
            </a:pPr>
            <a:r>
              <a:t>Input parameters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404872"/>
            <a:ext cx="1536192" cy="45720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800" b="0">
                <a:solidFill>
                  <a:srgbClr val="FFFFFF"/>
                </a:solidFill>
                <a:latin typeface="Aptos"/>
              </a:defRPr>
            </a:pPr>
            <a:r>
              <a:t>GR, Rt, RHOB, NMR,</a:t>
            </a:r>
            <a:br/>
            <a:r>
              <a:t>Vp, Vs, caliper, core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2304" y="2496312"/>
            <a:ext cx="274320" cy="0"/>
          </a:xfrm>
          <a:prstGeom prst="line">
            <a:avLst/>
          </a:prstGeom>
          <a:ln w="19050">
            <a:solidFill>
              <a:srgbClr val="67D0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98064" y="1874519"/>
            <a:ext cx="1874519" cy="1243584"/>
          </a:xfrm>
          <a:prstGeom prst="roundRect">
            <a:avLst/>
          </a:prstGeom>
          <a:solidFill>
            <a:srgbClr val="0D3946"/>
          </a:solidFill>
          <a:ln w="13970">
            <a:solidFill>
              <a:srgbClr val="25B9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35224" y="2039112"/>
            <a:ext cx="1600200" cy="22860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1019" b="1">
                <a:solidFill>
                  <a:srgbClr val="25B99A"/>
                </a:solidFill>
                <a:latin typeface="Aptos"/>
              </a:defRPr>
            </a:pPr>
            <a:r>
              <a:t>Normalize + QC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2656" y="2404872"/>
            <a:ext cx="1536192" cy="45720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800" b="0">
                <a:solidFill>
                  <a:srgbClr val="FFFFFF"/>
                </a:solidFill>
                <a:latin typeface="Aptos"/>
              </a:defRPr>
            </a:pPr>
            <a:r>
              <a:t>Depth retained;</a:t>
            </a:r>
            <a:br/>
            <a:r>
              <a:t>other values standardized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700016" y="2496312"/>
            <a:ext cx="274320" cy="0"/>
          </a:xfrm>
          <a:prstGeom prst="line">
            <a:avLst/>
          </a:prstGeom>
          <a:ln w="19050">
            <a:solidFill>
              <a:srgbClr val="25B9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65776" y="1874519"/>
            <a:ext cx="1874519" cy="1243584"/>
          </a:xfrm>
          <a:prstGeom prst="roundRect">
            <a:avLst/>
          </a:prstGeom>
          <a:solidFill>
            <a:srgbClr val="0D3946"/>
          </a:solidFill>
          <a:ln w="13970">
            <a:solidFill>
              <a:srgbClr val="D8A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2936" y="2039112"/>
            <a:ext cx="1600200" cy="22860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1019" b="1">
                <a:solidFill>
                  <a:srgbClr val="D8A24A"/>
                </a:solidFill>
                <a:latin typeface="Aptos"/>
              </a:defRPr>
            </a:pPr>
            <a:r>
              <a:t>Feature equations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2404872"/>
            <a:ext cx="1536192" cy="45720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800" b="0">
                <a:solidFill>
                  <a:srgbClr val="FFFFFF"/>
                </a:solidFill>
                <a:latin typeface="Aptos"/>
              </a:defRPr>
            </a:pPr>
            <a:r>
              <a:t>Vsh, porosity, Vp/Vs,</a:t>
            </a:r>
            <a:br/>
            <a:r>
              <a:t>AI, lambda-rho, mu-rho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67728" y="2496312"/>
            <a:ext cx="274320" cy="0"/>
          </a:xfrm>
          <a:prstGeom prst="line">
            <a:avLst/>
          </a:prstGeom>
          <a:ln w="19050">
            <a:solidFill>
              <a:srgbClr val="D8A2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333488" y="1874519"/>
            <a:ext cx="1874519" cy="1243584"/>
          </a:xfrm>
          <a:prstGeom prst="roundRect">
            <a:avLst/>
          </a:prstGeom>
          <a:solidFill>
            <a:srgbClr val="0D3946"/>
          </a:solidFill>
          <a:ln w="13970">
            <a:solidFill>
              <a:srgbClr val="8E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70648" y="2039112"/>
            <a:ext cx="1600200" cy="22860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1019" b="1">
                <a:solidFill>
                  <a:srgbClr val="8EA7FF"/>
                </a:solidFill>
                <a:latin typeface="Aptos"/>
              </a:defRPr>
            </a:pPr>
            <a:r>
              <a:t>Model branches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404872"/>
            <a:ext cx="1536192" cy="45720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800" b="0">
                <a:solidFill>
                  <a:srgbClr val="FFFFFF"/>
                </a:solidFill>
                <a:latin typeface="Aptos"/>
              </a:defRPr>
            </a:pPr>
            <a:r>
              <a:t>phase classification +</a:t>
            </a:r>
            <a:br/>
            <a:r>
              <a:t>Sgh regression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235440" y="2496312"/>
            <a:ext cx="274319" cy="0"/>
          </a:xfrm>
          <a:prstGeom prst="line">
            <a:avLst/>
          </a:prstGeom>
          <a:ln w="19050">
            <a:solidFill>
              <a:srgbClr val="8EA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01200" y="1874519"/>
            <a:ext cx="1874519" cy="1243584"/>
          </a:xfrm>
          <a:prstGeom prst="roundRect">
            <a:avLst/>
          </a:prstGeom>
          <a:solidFill>
            <a:srgbClr val="0D3946"/>
          </a:solidFill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38360" y="2039112"/>
            <a:ext cx="1600200" cy="22860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1019" b="1">
                <a:solidFill>
                  <a:srgbClr val="FFFFFF"/>
                </a:solidFill>
                <a:latin typeface="Aptos"/>
              </a:defRPr>
            </a:pPr>
            <a:r>
              <a:t>Predicted sweet spots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65792" y="2404872"/>
            <a:ext cx="1536192" cy="45720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800" b="0">
                <a:solidFill>
                  <a:srgbClr val="FFFFFF"/>
                </a:solidFill>
                <a:latin typeface="Aptos"/>
              </a:defRPr>
            </a:pPr>
            <a:r>
              <a:t>rank, uncertainty,</a:t>
            </a:r>
            <a:br/>
            <a:r>
              <a:t>masking explanation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0120" y="4069080"/>
            <a:ext cx="2240280" cy="658368"/>
          </a:xfrm>
          <a:prstGeom prst="roundRect">
            <a:avLst/>
          </a:prstGeom>
          <a:solidFill>
            <a:srgbClr val="0A484E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9848" y="4160520"/>
            <a:ext cx="2020824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Aptos"/>
              </a:defRPr>
            </a:pPr>
            <a:r>
              <a:t>Source library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416552"/>
            <a:ext cx="2020824" cy="256031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CDE6EA"/>
                </a:solidFill>
                <a:latin typeface="Aptos"/>
              </a:defRPr>
            </a:pPr>
            <a:r>
              <a:t>public papers + equation docs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66160" y="4069080"/>
            <a:ext cx="2240280" cy="658368"/>
          </a:xfrm>
          <a:prstGeom prst="roundRect">
            <a:avLst/>
          </a:prstGeom>
          <a:solidFill>
            <a:srgbClr val="0A484E"/>
          </a:solidFill>
          <a:ln w="13970">
            <a:solidFill>
              <a:srgbClr val="25B9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5887" y="4160520"/>
            <a:ext cx="2020824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Aptos"/>
              </a:defRPr>
            </a:pPr>
            <a:r>
              <a:t>Feature store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75887" y="4416552"/>
            <a:ext cx="2020824" cy="256031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CDE6EA"/>
                </a:solidFill>
                <a:latin typeface="Aptos"/>
              </a:defRPr>
            </a:pPr>
            <a:r>
              <a:t>derived physics features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4069080"/>
            <a:ext cx="2240280" cy="658368"/>
          </a:xfrm>
          <a:prstGeom prst="roundRect">
            <a:avLst/>
          </a:prstGeom>
          <a:solidFill>
            <a:srgbClr val="0A484E"/>
          </a:solidFill>
          <a:ln w="13970">
            <a:solidFill>
              <a:srgbClr val="CF53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81928" y="4160520"/>
            <a:ext cx="2020824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Aptos"/>
              </a:defRPr>
            </a:pPr>
            <a:r>
              <a:t>Target registry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1928" y="4416552"/>
            <a:ext cx="2020824" cy="256031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CDE6EA"/>
                </a:solidFill>
                <a:latin typeface="Aptos"/>
              </a:defRPr>
            </a:pPr>
            <a:r>
              <a:t>labels locked away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78240" y="4069080"/>
            <a:ext cx="2240280" cy="658368"/>
          </a:xfrm>
          <a:prstGeom prst="roundRect">
            <a:avLst/>
          </a:prstGeom>
          <a:solidFill>
            <a:srgbClr val="0A484E"/>
          </a:solidFill>
          <a:ln w="13970">
            <a:solidFill>
              <a:srgbClr val="8E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87967" y="4160520"/>
            <a:ext cx="2020824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Aptos"/>
              </a:defRPr>
            </a:pPr>
            <a:r>
              <a:t>Monitoring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87967" y="4416552"/>
            <a:ext cx="2020824" cy="256031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CDE6EA"/>
                </a:solidFill>
                <a:latin typeface="Aptos"/>
              </a:defRPr>
            </a:pPr>
            <a:r>
              <a:t>held-out wells + drift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2084831" y="3246120"/>
            <a:ext cx="0" cy="813816"/>
          </a:xfrm>
          <a:prstGeom prst="line">
            <a:avLst/>
          </a:prstGeom>
          <a:ln w="1905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681728" y="3246120"/>
            <a:ext cx="0" cy="813816"/>
          </a:xfrm>
          <a:prstGeom prst="line">
            <a:avLst/>
          </a:prstGeom>
          <a:ln w="19050">
            <a:solidFill>
              <a:srgbClr val="25B9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7296912" y="3246120"/>
            <a:ext cx="0" cy="813816"/>
          </a:xfrm>
          <a:prstGeom prst="line">
            <a:avLst/>
          </a:prstGeom>
          <a:ln w="19050">
            <a:solidFill>
              <a:srgbClr val="CF53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9893808" y="3246120"/>
            <a:ext cx="0" cy="813816"/>
          </a:xfrm>
          <a:prstGeom prst="line">
            <a:avLst/>
          </a:prstGeom>
          <a:ln w="19050">
            <a:solidFill>
              <a:srgbClr val="8EA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720" b="0">
                <a:solidFill>
                  <a:srgbClr val="AACAD0"/>
                </a:solidFill>
                <a:latin typeface="Aptos"/>
              </a:defRPr>
            </a:pPr>
            <a:r>
              <a:t>Architecture adapted from the Drive reference image, but constrained to the North Slope well-log workflow.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5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Detailed ML Decision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13232"/>
            <a:ext cx="10698480" cy="29260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0">
                <a:solidFill>
                  <a:srgbClr val="BEDCE2"/>
                </a:solidFill>
                <a:latin typeface="Aptos"/>
              </a:defRPr>
            </a:pPr>
            <a:r>
              <a:t>The model receives physical features; labels and final rankings stay outside the feature table.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874519" cy="475488"/>
          </a:xfrm>
          <a:prstGeom prst="roundRect">
            <a:avLst/>
          </a:prstGeom>
          <a:solidFill>
            <a:srgbClr val="0C3D4A"/>
          </a:solidFill>
          <a:ln w="13970">
            <a:solidFill>
              <a:srgbClr val="67D0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234440"/>
            <a:ext cx="1655063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Aptos"/>
              </a:defRPr>
            </a:pPr>
            <a:r>
              <a:t>Lithology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490472"/>
            <a:ext cx="1655063" cy="7315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CDE6EA"/>
                </a:solidFill>
                <a:latin typeface="Aptos"/>
              </a:defRPr>
            </a:pPr>
            <a:r>
              <a:t>GR + core lithology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77440" y="1380744"/>
            <a:ext cx="566928" cy="1362456"/>
          </a:xfrm>
          <a:prstGeom prst="line">
            <a:avLst/>
          </a:prstGeom>
          <a:ln w="11430">
            <a:solidFill>
              <a:srgbClr val="67D0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1828800"/>
            <a:ext cx="1874519" cy="475488"/>
          </a:xfrm>
          <a:prstGeom prst="roundRect">
            <a:avLst/>
          </a:prstGeom>
          <a:solidFill>
            <a:srgbClr val="0C3D4A"/>
          </a:solidFill>
          <a:ln w="13970">
            <a:solidFill>
              <a:srgbClr val="67D0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920240"/>
            <a:ext cx="1655063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Aptos"/>
              </a:defRPr>
            </a:pPr>
            <a:r>
              <a:t>Electrical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176272"/>
            <a:ext cx="1655063" cy="7315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CDE6EA"/>
                </a:solidFill>
                <a:latin typeface="Aptos"/>
              </a:defRPr>
            </a:pPr>
            <a:r>
              <a:t>Rt / deep resistivity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77440" y="2066543"/>
            <a:ext cx="566928" cy="676657"/>
          </a:xfrm>
          <a:prstGeom prst="line">
            <a:avLst/>
          </a:prstGeom>
          <a:ln w="11430">
            <a:solidFill>
              <a:srgbClr val="67D0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2920" y="2514600"/>
            <a:ext cx="1874519" cy="475488"/>
          </a:xfrm>
          <a:prstGeom prst="roundRect">
            <a:avLst/>
          </a:prstGeom>
          <a:solidFill>
            <a:srgbClr val="0C3D4A"/>
          </a:solidFill>
          <a:ln w="13970">
            <a:solidFill>
              <a:srgbClr val="67D0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2606040"/>
            <a:ext cx="1655063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Aptos"/>
              </a:defRPr>
            </a:pPr>
            <a:r>
              <a:t>Porosity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2862072"/>
            <a:ext cx="1655063" cy="7315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CDE6EA"/>
                </a:solidFill>
                <a:latin typeface="Aptos"/>
              </a:defRPr>
            </a:pPr>
            <a:r>
              <a:t>RHOB, DPHI, NMR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77440" y="2743200"/>
            <a:ext cx="566928" cy="9144"/>
          </a:xfrm>
          <a:prstGeom prst="line">
            <a:avLst/>
          </a:prstGeom>
          <a:ln w="11430">
            <a:solidFill>
              <a:srgbClr val="67D0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02920" y="3200400"/>
            <a:ext cx="1874519" cy="475488"/>
          </a:xfrm>
          <a:prstGeom prst="roundRect">
            <a:avLst/>
          </a:prstGeom>
          <a:solidFill>
            <a:srgbClr val="0C3D4A"/>
          </a:solidFill>
          <a:ln w="13970">
            <a:solidFill>
              <a:srgbClr val="67D0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3291840"/>
            <a:ext cx="1655063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Aptos"/>
              </a:defRPr>
            </a:pPr>
            <a:r>
              <a:t>Elastic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3547872"/>
            <a:ext cx="1655063" cy="7315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CDE6EA"/>
                </a:solidFill>
                <a:latin typeface="Aptos"/>
              </a:defRPr>
            </a:pPr>
            <a:r>
              <a:t>Vp, Vs, Vp/Vs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377440" y="2743200"/>
            <a:ext cx="566928" cy="694944"/>
          </a:xfrm>
          <a:prstGeom prst="line">
            <a:avLst/>
          </a:prstGeom>
          <a:ln w="11430">
            <a:solidFill>
              <a:srgbClr val="67D0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2920" y="3886200"/>
            <a:ext cx="1874519" cy="475488"/>
          </a:xfrm>
          <a:prstGeom prst="roundRect">
            <a:avLst/>
          </a:prstGeom>
          <a:solidFill>
            <a:srgbClr val="0C3D4A"/>
          </a:solidFill>
          <a:ln w="13970">
            <a:solidFill>
              <a:srgbClr val="67D0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3977639"/>
            <a:ext cx="1655063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Aptos"/>
              </a:defRPr>
            </a:pPr>
            <a:r>
              <a:t>QC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4233672"/>
            <a:ext cx="1655063" cy="7315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CDE6EA"/>
                </a:solidFill>
                <a:latin typeface="Aptos"/>
              </a:defRPr>
            </a:pPr>
            <a:r>
              <a:t>caliper, missingness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2377440" y="2743200"/>
            <a:ext cx="566928" cy="1380744"/>
          </a:xfrm>
          <a:prstGeom prst="line">
            <a:avLst/>
          </a:prstGeom>
          <a:ln w="11430">
            <a:solidFill>
              <a:srgbClr val="67D0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971800" y="2121408"/>
            <a:ext cx="2148840" cy="1234440"/>
          </a:xfrm>
          <a:prstGeom prst="roundRect">
            <a:avLst/>
          </a:prstGeom>
          <a:solidFill>
            <a:srgbClr val="0C3D4A"/>
          </a:solidFill>
          <a:ln w="13970">
            <a:solidFill>
              <a:srgbClr val="25B9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81528" y="2212848"/>
            <a:ext cx="1929384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Aptos"/>
              </a:defRPr>
            </a:pPr>
            <a:r>
              <a:t>QC + normalization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81528" y="2468879"/>
            <a:ext cx="1929384" cy="83210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CDE6EA"/>
                </a:solidFill>
                <a:latin typeface="Aptos"/>
              </a:defRPr>
            </a:pPr>
            <a:r>
              <a:t>Depth stays depth.</a:t>
            </a:r>
            <a:br/>
            <a:r>
              <a:t>Other values are standardized.</a:t>
            </a:r>
            <a:br/>
            <a:r>
              <a:t>Bad-hole rows are flagged.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0" y="2121408"/>
            <a:ext cx="2057400" cy="1234440"/>
          </a:xfrm>
          <a:prstGeom prst="roundRect">
            <a:avLst/>
          </a:prstGeom>
          <a:solidFill>
            <a:srgbClr val="0C3D4A"/>
          </a:solidFill>
          <a:ln w="13970">
            <a:solidFill>
              <a:srgbClr val="D8A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96128" y="2212848"/>
            <a:ext cx="1837943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Aptos"/>
              </a:defRPr>
            </a:pPr>
            <a:r>
              <a:t>Feature equations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96128" y="2468879"/>
            <a:ext cx="1837943" cy="83210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CDE6EA"/>
                </a:solidFill>
                <a:latin typeface="Aptos"/>
              </a:defRPr>
            </a:pPr>
            <a:r>
              <a:t>Vsh, porosity,</a:t>
            </a:r>
            <a:br/>
            <a:r>
              <a:t>AI, Vp/Vs,</a:t>
            </a:r>
            <a:br/>
            <a:r>
              <a:t>lambda-rho, mu-rho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138928" y="2743200"/>
            <a:ext cx="329184" cy="0"/>
          </a:xfrm>
          <a:prstGeom prst="line">
            <a:avLst/>
          </a:prstGeom>
          <a:ln w="19050">
            <a:solidFill>
              <a:srgbClr val="25B9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818120" y="1097280"/>
            <a:ext cx="0" cy="4251960"/>
          </a:xfrm>
          <a:prstGeom prst="line">
            <a:avLst/>
          </a:prstGeom>
          <a:ln w="31750">
            <a:solidFill>
              <a:srgbClr val="CF53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936992" y="1097280"/>
            <a:ext cx="1005840" cy="50292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00" b="1">
                <a:solidFill>
                  <a:srgbClr val="CF5353"/>
                </a:solidFill>
                <a:latin typeface="Aptos"/>
              </a:defRPr>
            </a:pPr>
            <a:r>
              <a:t>target leakage barrier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28431" y="4389120"/>
            <a:ext cx="1828800" cy="777240"/>
          </a:xfrm>
          <a:prstGeom prst="roundRect">
            <a:avLst/>
          </a:prstGeom>
          <a:solidFill>
            <a:srgbClr val="4B1C21"/>
          </a:solidFill>
          <a:ln w="13970">
            <a:solidFill>
              <a:srgbClr val="CF53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59" y="4480559"/>
            <a:ext cx="1609344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Aptos"/>
              </a:defRPr>
            </a:pPr>
            <a:r>
              <a:t>Locked targets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59" y="4736592"/>
            <a:ext cx="1609344" cy="37490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CDE6EA"/>
                </a:solidFill>
                <a:latin typeface="Aptos"/>
              </a:defRPr>
            </a:pPr>
            <a:r>
              <a:t>Sgh, S_h, NMR_SAT,</a:t>
            </a:r>
            <a:br/>
            <a:r>
              <a:t>phase labels, final ranks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7571231" y="1965960"/>
            <a:ext cx="886969" cy="548640"/>
          </a:xfrm>
          <a:prstGeom prst="line">
            <a:avLst/>
          </a:prstGeom>
          <a:ln w="19050">
            <a:solidFill>
              <a:srgbClr val="8EA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571231" y="2971800"/>
            <a:ext cx="886969" cy="502920"/>
          </a:xfrm>
          <a:prstGeom prst="line">
            <a:avLst/>
          </a:prstGeom>
          <a:ln w="19050">
            <a:solidFill>
              <a:srgbClr val="8EA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8503920" y="1417320"/>
            <a:ext cx="2697480" cy="841248"/>
          </a:xfrm>
          <a:prstGeom prst="roundRect">
            <a:avLst/>
          </a:prstGeom>
          <a:solidFill>
            <a:srgbClr val="0C3D4A"/>
          </a:solidFill>
          <a:ln w="13970">
            <a:solidFill>
              <a:srgbClr val="8E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13648" y="1508760"/>
            <a:ext cx="2478024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Aptos"/>
              </a:defRPr>
            </a:pPr>
            <a:r>
              <a:t>Classification branch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13648" y="1764792"/>
            <a:ext cx="2478024" cy="43891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CDE6EA"/>
                </a:solidFill>
                <a:latin typeface="Aptos"/>
              </a:defRPr>
            </a:pPr>
            <a:r>
              <a:t>hydrate / gas / water / non-reservoir + uncertainty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03920" y="2971800"/>
            <a:ext cx="2697480" cy="841248"/>
          </a:xfrm>
          <a:prstGeom prst="roundRect">
            <a:avLst/>
          </a:prstGeom>
          <a:solidFill>
            <a:srgbClr val="0C3D4A"/>
          </a:solidFill>
          <a:ln w="13970">
            <a:solidFill>
              <a:srgbClr val="8E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13648" y="3063240"/>
            <a:ext cx="2478024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Aptos"/>
              </a:defRPr>
            </a:pPr>
            <a:r>
              <a:t>Saturation regression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13648" y="3319272"/>
            <a:ext cx="2478024" cy="43891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CDE6EA"/>
                </a:solidFill>
                <a:latin typeface="Aptos"/>
              </a:defRPr>
            </a:pPr>
            <a:r>
              <a:t>continuous Sgh from calibrated known-well targets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03920" y="4617720"/>
            <a:ext cx="2697480" cy="566928"/>
          </a:xfrm>
          <a:prstGeom prst="roundRect">
            <a:avLst/>
          </a:prstGeom>
          <a:solidFill>
            <a:srgbClr val="0C3D4A"/>
          </a:solidFill>
          <a:ln w="13970">
            <a:solidFill>
              <a:srgbClr val="25B9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13648" y="4709159"/>
            <a:ext cx="2478024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13648" y="4965192"/>
            <a:ext cx="2478024" cy="16459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CDE6EA"/>
                </a:solidFill>
                <a:latin typeface="Aptos"/>
              </a:defRPr>
            </a:pPr>
            <a:r>
              <a:t>predicted sweet spots with reasons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857232" y="2267712"/>
            <a:ext cx="0" cy="2322576"/>
          </a:xfrm>
          <a:prstGeom prst="line">
            <a:avLst/>
          </a:prstGeom>
          <a:ln w="19050">
            <a:solidFill>
              <a:srgbClr val="8EA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857232" y="3813048"/>
            <a:ext cx="0" cy="777240"/>
          </a:xfrm>
          <a:prstGeom prst="line">
            <a:avLst/>
          </a:prstGeom>
          <a:ln w="19050">
            <a:solidFill>
              <a:srgbClr val="8EA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720" b="0">
                <a:solidFill>
                  <a:srgbClr val="AACAD0"/>
                </a:solidFill>
                <a:latin typeface="Aptos"/>
              </a:defRPr>
            </a:pPr>
            <a:r>
              <a:t>Parallel branches follow the project plan: classification and saturation regression share features but keep separate outputs.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2500" b="1">
                <a:solidFill>
                  <a:srgbClr val="123447"/>
                </a:solidFill>
                <a:latin typeface="Aptos"/>
              </a:defRPr>
            </a:pPr>
            <a:r>
              <a:t>Normalization and Leakage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13232"/>
            <a:ext cx="10698480" cy="29260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0">
                <a:solidFill>
                  <a:srgbClr val="566973"/>
                </a:solidFill>
                <a:latin typeface="Aptos"/>
              </a:defRPr>
            </a:pPr>
            <a:r>
              <a:t>Privacy and model validity both depend on keeping roles explicit.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234440"/>
            <a:ext cx="3017520" cy="1325880"/>
          </a:xfrm>
          <a:prstGeom prst="roundRect">
            <a:avLst/>
          </a:prstGeom>
          <a:solidFill>
            <a:srgbClr val="F6EFE2"/>
          </a:solidFill>
          <a:ln w="13970">
            <a:solidFill>
              <a:srgbClr val="D8A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325880"/>
            <a:ext cx="2798063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Depth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1581912"/>
            <a:ext cx="2798063" cy="92354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Keep as depth/alignment context. Do not hide its meaning by treating it like a generic normalized curve.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234440"/>
            <a:ext cx="3017520" cy="1325880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8" y="1325880"/>
            <a:ext cx="2798063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Input curves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6008" y="1581912"/>
            <a:ext cx="2798063" cy="92354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Normalize or standardize RHOB, Rt, GR, NMR, Vp, Vs, caliper, and derived features after train-well fitting.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1234440"/>
            <a:ext cx="3017520" cy="1325880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CF53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76488" y="1325880"/>
            <a:ext cx="2798063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Targets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6488" y="1581912"/>
            <a:ext cx="2798063" cy="92354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Sgh, S_h, NMR_SAT, phase labels, and final rankings supervise or evaluate only.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194560" y="2834640"/>
            <a:ext cx="0" cy="914399"/>
          </a:xfrm>
          <a:prstGeom prst="line">
            <a:avLst/>
          </a:prstGeom>
          <a:ln w="19050">
            <a:solidFill>
              <a:srgbClr val="D8A2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35040" y="2834640"/>
            <a:ext cx="0" cy="914399"/>
          </a:xfrm>
          <a:prstGeom prst="line">
            <a:avLst/>
          </a:prstGeom>
          <a:ln w="1905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875520" y="2834640"/>
            <a:ext cx="0" cy="914399"/>
          </a:xfrm>
          <a:prstGeom prst="line">
            <a:avLst/>
          </a:prstGeom>
          <a:ln w="19050">
            <a:solidFill>
              <a:srgbClr val="CF53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5840" y="3886200"/>
            <a:ext cx="2377440" cy="502920"/>
          </a:xfrm>
          <a:prstGeom prst="roundRect">
            <a:avLst/>
          </a:prstGeom>
          <a:solidFill>
            <a:srgbClr val="D8A24A"/>
          </a:solidFill>
          <a:ln w="13970">
            <a:solidFill>
              <a:srgbClr val="D8A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23447"/>
                </a:solidFill>
              </a:defRPr>
            </a:pPr>
            <a:r>
              <a:t>alignment axis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3886200"/>
            <a:ext cx="2834640" cy="502920"/>
          </a:xfrm>
          <a:prstGeom prst="roundRect">
            <a:avLst/>
          </a:prstGeom>
          <a:solidFill>
            <a:srgbClr val="167D8D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training-well transforms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2520" y="3886200"/>
            <a:ext cx="2331720" cy="502920"/>
          </a:xfrm>
          <a:prstGeom prst="roundRect">
            <a:avLst/>
          </a:prstGeom>
          <a:solidFill>
            <a:srgbClr val="CF5353"/>
          </a:solidFill>
          <a:ln w="13970">
            <a:solidFill>
              <a:srgbClr val="CF53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locked labels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102352"/>
            <a:ext cx="10241280" cy="50292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1500" b="1">
                <a:solidFill>
                  <a:srgbClr val="123447"/>
                </a:solidFill>
                <a:latin typeface="Aptos"/>
              </a:defRPr>
            </a:pPr>
            <a:r>
              <a:t>Any fitted preprocessing, imputation, feature selection, or learned weighting must be fit on training wells only, then applied unchanged to validation, test, and prediction wells.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720" b="0">
                <a:solidFill>
                  <a:srgbClr val="566973"/>
                </a:solidFill>
                <a:latin typeface="Aptos"/>
              </a:defRPr>
            </a:pPr>
            <a:r>
              <a:t>Rule source: Excel header map, runtime validation plan, and user revamp instruction.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2500" b="1">
                <a:solidFill>
                  <a:srgbClr val="123447"/>
                </a:solidFill>
                <a:latin typeface="Aptos"/>
              </a:defRPr>
            </a:pPr>
            <a:r>
              <a:t>Classification and Saturation Are Parallel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13232"/>
            <a:ext cx="10698480" cy="29260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0">
                <a:solidFill>
                  <a:srgbClr val="566973"/>
                </a:solidFill>
                <a:latin typeface="Aptos"/>
              </a:defRPr>
            </a:pPr>
            <a:r>
              <a:t>The ML papers motivate shared features, but the outputs answer different questions.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2468880" cy="914400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508760"/>
            <a:ext cx="2249424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Shared feature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1764792"/>
            <a:ext cx="2249424" cy="51206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Normalized logs + equations + QC flags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3154680" y="1417320"/>
            <a:ext cx="1051560" cy="457199"/>
          </a:xfrm>
          <a:prstGeom prst="line">
            <a:avLst/>
          </a:prstGeom>
          <a:ln w="1905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154680" y="1874519"/>
            <a:ext cx="1051560" cy="1005841"/>
          </a:xfrm>
          <a:prstGeom prst="line">
            <a:avLst/>
          </a:prstGeom>
          <a:ln w="1905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251960" y="914400"/>
            <a:ext cx="2926080" cy="1051560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8E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1688" y="1005840"/>
            <a:ext cx="2706624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Phase classification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1688" y="1261872"/>
            <a:ext cx="2706624" cy="64922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Predict hydrate, gas, water, non-reservoir, or uncertain.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2487168"/>
            <a:ext cx="2926080" cy="1051560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8E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8" y="2578608"/>
            <a:ext cx="2706624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Saturation regression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8" y="2834640"/>
            <a:ext cx="2706624" cy="64922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Predict continuous hydrate saturation where calibrated targets exist.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78040" y="1444752"/>
            <a:ext cx="1097280" cy="704088"/>
          </a:xfrm>
          <a:prstGeom prst="line">
            <a:avLst/>
          </a:prstGeom>
          <a:ln w="19050">
            <a:solidFill>
              <a:srgbClr val="8EA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7178040" y="2514600"/>
            <a:ext cx="1097280" cy="502920"/>
          </a:xfrm>
          <a:prstGeom prst="line">
            <a:avLst/>
          </a:prstGeom>
          <a:ln w="19050">
            <a:solidFill>
              <a:srgbClr val="8EA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321040" y="1691640"/>
            <a:ext cx="2926080" cy="1234440"/>
          </a:xfrm>
          <a:prstGeom prst="roundRect">
            <a:avLst/>
          </a:prstGeom>
          <a:solidFill>
            <a:srgbClr val="F6EFE2"/>
          </a:solidFill>
          <a:ln w="13970">
            <a:solidFill>
              <a:srgbClr val="D8A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7" y="1783080"/>
            <a:ext cx="2706624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Sweet-spot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7" y="2039112"/>
            <a:ext cx="2706624" cy="83210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Combine occurrence confidence, saturation, reservoir quality, flow risk, and uncertainty.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663440"/>
            <a:ext cx="10469880" cy="36576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1600" b="1">
                <a:solidFill>
                  <a:srgbClr val="CF5353"/>
                </a:solidFill>
                <a:latin typeface="Aptos"/>
              </a:defRPr>
            </a:pPr>
            <a:r>
              <a:t>A high saturation estimate is not automatically the best sweet spot; producibility and uncertainty remain separate.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720" b="0">
                <a:solidFill>
                  <a:srgbClr val="566973"/>
                </a:solidFill>
                <a:latin typeface="Aptos"/>
              </a:defRPr>
            </a:pPr>
            <a:r>
              <a:t>Chong et al. supports ML saturation experiments; this project also needs separate phase classification and review ranking.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2500" b="1">
                <a:solidFill>
                  <a:srgbClr val="123447"/>
                </a:solidFill>
                <a:latin typeface="Aptos"/>
              </a:defRPr>
            </a:pPr>
            <a:r>
              <a:t>Masking Conditions the Model Must Respect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13232"/>
            <a:ext cx="10698480" cy="29260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0">
                <a:solidFill>
                  <a:srgbClr val="566973"/>
                </a:solidFill>
                <a:latin typeface="Aptos"/>
              </a:defRPr>
            </a:pPr>
            <a:r>
              <a:t>These are not edge cases; they are why the model must be physics-constrained.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25880"/>
            <a:ext cx="3154680" cy="1234440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CF53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417320"/>
            <a:ext cx="2935224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Gas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1673352"/>
            <a:ext cx="2935224" cy="83210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high Rt + low Vp can mimic hydrate unless Vs/NMR/core disagree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325880"/>
            <a:ext cx="3154680" cy="1234440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67D0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1417320"/>
            <a:ext cx="2935224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1673352"/>
            <a:ext cx="2935224" cy="83210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stiff and resistive, but permafrost context changes interpretation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325880"/>
            <a:ext cx="3154680" cy="1234440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D8A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5048" y="1417320"/>
            <a:ext cx="2935224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Shale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5048" y="1673352"/>
            <a:ext cx="2935224" cy="83210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GR, bound water, and clay effects distort porosity and NMR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154680"/>
            <a:ext cx="3154680" cy="1234440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8E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3246120"/>
            <a:ext cx="2935224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Carbonate/cement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3502152"/>
            <a:ext cx="2935224" cy="83210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high velocity and resistivity without hydrate occupancy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3154680"/>
            <a:ext cx="3154680" cy="1234440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25B9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0288" y="3246120"/>
            <a:ext cx="2935224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Overburden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3502152"/>
            <a:ext cx="2935224" cy="83210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compaction raises density and velocities across baselines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75320" y="3154680"/>
            <a:ext cx="3154680" cy="1234440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CF53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5048" y="3246120"/>
            <a:ext cx="2935224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Bad hole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5048" y="3502152"/>
            <a:ext cx="2935224" cy="83210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washout can corrupt density, neutron, sonic, and resistivity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440680"/>
            <a:ext cx="10332720" cy="38404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1500" b="1">
                <a:solidFill>
                  <a:srgbClr val="123447"/>
                </a:solidFill>
                <a:latin typeface="Aptos"/>
              </a:defRPr>
            </a:pPr>
            <a:r>
              <a:t>Each parameter tree should show both the hydrate-supportive direction and the major false-positive path.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720" b="0">
                <a:solidFill>
                  <a:srgbClr val="566973"/>
                </a:solidFill>
                <a:latin typeface="Aptos"/>
              </a:defRPr>
            </a:pPr>
            <a:r>
              <a:t>Primary controls: Lee and Collett 2011; Haines et al. 2022; Zyrianova et al. 2024; local equation/range docs.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2500" b="1">
                <a:solidFill>
                  <a:srgbClr val="123447"/>
                </a:solidFill>
                <a:latin typeface="Aptos"/>
              </a:defRPr>
            </a:pPr>
            <a:r>
              <a:t>Overburden Map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13232"/>
            <a:ext cx="10698480" cy="29260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0">
                <a:solidFill>
                  <a:srgbClr val="566973"/>
                </a:solidFill>
                <a:latin typeface="Aptos"/>
              </a:defRPr>
            </a:pPr>
            <a:r>
              <a:t>Future OpenScienceLab shapefiles should explain changing baselines, not classify hydrate by themselves.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143000"/>
            <a:ext cx="6675120" cy="4206240"/>
          </a:xfrm>
          <a:prstGeom prst="rect">
            <a:avLst/>
          </a:prstGeom>
          <a:solidFill>
            <a:srgbClr val="F6EFE2"/>
          </a:solidFill>
          <a:ln w="13970">
            <a:solidFill>
              <a:srgbClr val="D8A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" y="1298448"/>
            <a:ext cx="6172200" cy="566928"/>
          </a:xfrm>
          <a:prstGeom prst="rect">
            <a:avLst/>
          </a:prstGeom>
          <a:solidFill>
            <a:srgbClr val="67D0DF"/>
          </a:solidFill>
          <a:ln w="12700">
            <a:solidFill>
              <a:srgbClr val="67D0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1463039"/>
            <a:ext cx="5852160" cy="16459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900" b="1">
                <a:solidFill>
                  <a:srgbClr val="123447"/>
                </a:solidFill>
                <a:latin typeface="Aptos"/>
              </a:defRPr>
            </a:pPr>
            <a:r>
              <a:t>surface / permafrost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4128" y="2084831"/>
            <a:ext cx="6172200" cy="566928"/>
          </a:xfrm>
          <a:prstGeom prst="rect">
            <a:avLst/>
          </a:prstGeom>
          <a:solidFill>
            <a:srgbClr val="B4D2A5"/>
          </a:solidFill>
          <a:ln w="12700">
            <a:solidFill>
              <a:srgbClr val="B4D2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249424"/>
            <a:ext cx="5852160" cy="16459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900" b="1">
                <a:solidFill>
                  <a:srgbClr val="123447"/>
                </a:solidFill>
                <a:latin typeface="Aptos"/>
              </a:defRPr>
            </a:pPr>
            <a:r>
              <a:t>Sagwon and younger load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4128" y="2871215"/>
            <a:ext cx="6172200" cy="566928"/>
          </a:xfrm>
          <a:prstGeom prst="rect">
            <a:avLst/>
          </a:prstGeom>
          <a:solidFill>
            <a:srgbClr val="D8A24A"/>
          </a:solidFill>
          <a:ln w="12700">
            <a:solidFill>
              <a:srgbClr val="D8A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035808"/>
            <a:ext cx="5852160" cy="16459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900" b="1">
                <a:solidFill>
                  <a:srgbClr val="123447"/>
                </a:solidFill>
                <a:latin typeface="Aptos"/>
              </a:defRPr>
            </a:pPr>
            <a:r>
              <a:t>Brookian reservoir section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" y="3657600"/>
            <a:ext cx="6172200" cy="566928"/>
          </a:xfrm>
          <a:prstGeom prst="rect">
            <a:avLst/>
          </a:prstGeom>
          <a:solidFill>
            <a:srgbClr val="AA91BE"/>
          </a:solidFill>
          <a:ln w="12700">
            <a:solidFill>
              <a:srgbClr val="AA9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822191"/>
            <a:ext cx="5852160" cy="16459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900" b="1">
                <a:solidFill>
                  <a:srgbClr val="123447"/>
                </a:solidFill>
                <a:latin typeface="Aptos"/>
              </a:defRPr>
            </a:pPr>
            <a:r>
              <a:t>deeper structural context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069080" y="1143000"/>
            <a:ext cx="0" cy="4114800"/>
          </a:xfrm>
          <a:prstGeom prst="line">
            <a:avLst/>
          </a:prstGeom>
          <a:ln w="25400">
            <a:solidFill>
              <a:srgbClr val="CF53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160520" y="4892040"/>
            <a:ext cx="1920240" cy="22860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1">
                <a:solidFill>
                  <a:srgbClr val="CF5353"/>
                </a:solidFill>
                <a:latin typeface="Aptos"/>
              </a:defRPr>
            </a:pPr>
            <a:r>
              <a:t>burial pressure shifts density / velocity baselines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1234440"/>
            <a:ext cx="3246120" cy="841248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325880"/>
            <a:ext cx="3026663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Why it matters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9288" y="1581912"/>
            <a:ext cx="3026663" cy="43891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Density, Vp, Vs, and impedance all change with compaction and stress.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2423160"/>
            <a:ext cx="3246120" cy="841248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25B9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9288" y="2514600"/>
            <a:ext cx="3026663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What shapefiles add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9288" y="2770632"/>
            <a:ext cx="3026663" cy="43891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Structural position, stratigraphic load, and map-based context.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3611880"/>
            <a:ext cx="3246120" cy="841248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CF53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9288" y="3703320"/>
            <a:ext cx="3026663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What it cannot 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9288" y="3959352"/>
            <a:ext cx="3026663" cy="43891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It cannot replace logs, core, or calibrated labels.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720" b="0">
                <a:solidFill>
                  <a:srgbClr val="566973"/>
                </a:solidFill>
                <a:latin typeface="Aptos"/>
              </a:defRPr>
            </a:pPr>
            <a:r>
              <a:t>Overburden visual is a placeholder until the OpenScienceLab shapefiles are gathered.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2500" b="1">
                <a:solidFill>
                  <a:srgbClr val="123447"/>
                </a:solidFill>
                <a:latin typeface="Aptos"/>
              </a:defRPr>
            </a:pPr>
            <a:r>
              <a:t>Predicted Sweet Spots Are Review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13232"/>
            <a:ext cx="10698480" cy="29260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0">
                <a:solidFill>
                  <a:srgbClr val="566973"/>
                </a:solidFill>
                <a:latin typeface="Aptos"/>
              </a:defRPr>
            </a:pPr>
            <a:r>
              <a:t>The final output should explain why an interval is worth review, not just assign a score.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25880"/>
            <a:ext cx="1874519" cy="1170432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417320"/>
            <a:ext cx="1655063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Occurrence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1673352"/>
            <a:ext cx="1655063" cy="768096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Is hydrate likely present?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69464" y="1901952"/>
            <a:ext cx="265176" cy="0"/>
          </a:xfrm>
          <a:prstGeom prst="line">
            <a:avLst/>
          </a:prstGeom>
          <a:ln w="1905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26080" y="1325880"/>
            <a:ext cx="1874519" cy="1170432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8E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35808" y="1417320"/>
            <a:ext cx="1655063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Saturation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35808" y="1673352"/>
            <a:ext cx="1655063" cy="768096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How much pore space may be occupied?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809744" y="1901952"/>
            <a:ext cx="265176" cy="0"/>
          </a:xfrm>
          <a:prstGeom prst="line">
            <a:avLst/>
          </a:prstGeom>
          <a:ln w="19050">
            <a:solidFill>
              <a:srgbClr val="8EA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66360" y="1325880"/>
            <a:ext cx="1874519" cy="1170432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25B9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76088" y="1417320"/>
            <a:ext cx="1655063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Reservoir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6088" y="1673352"/>
            <a:ext cx="1655063" cy="768096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Is there connected sand and pore volume?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050024" y="1901952"/>
            <a:ext cx="265176" cy="0"/>
          </a:xfrm>
          <a:prstGeom prst="line">
            <a:avLst/>
          </a:prstGeom>
          <a:ln w="19050">
            <a:solidFill>
              <a:srgbClr val="25B9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406640" y="1325880"/>
            <a:ext cx="1874519" cy="1170432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D8A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8" y="1417320"/>
            <a:ext cx="1655063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Flow 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16368" y="1673352"/>
            <a:ext cx="1655063" cy="768096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Could permeability remain useful?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290304" y="1901952"/>
            <a:ext cx="265176" cy="0"/>
          </a:xfrm>
          <a:prstGeom prst="line">
            <a:avLst/>
          </a:prstGeom>
          <a:ln w="19050">
            <a:solidFill>
              <a:srgbClr val="D8A2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46920" y="1325880"/>
            <a:ext cx="1874519" cy="1170432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CF53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6648" y="1417320"/>
            <a:ext cx="1655063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Uncertainty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1673352"/>
            <a:ext cx="1655063" cy="768096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What masks or missing data remain?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65960" y="3657600"/>
            <a:ext cx="8229600" cy="1234440"/>
          </a:xfrm>
          <a:prstGeom prst="roundRect">
            <a:avLst/>
          </a:prstGeom>
          <a:solidFill>
            <a:srgbClr val="F6EFE2"/>
          </a:solidFill>
          <a:ln w="13970">
            <a:solidFill>
              <a:srgbClr val="D8A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12848" y="3886200"/>
            <a:ext cx="7726679" cy="32918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1500" b="1">
                <a:solidFill>
                  <a:srgbClr val="123447"/>
                </a:solidFill>
                <a:latin typeface="Aptos"/>
              </a:defRPr>
            </a:pPr>
            <a:r>
              <a:t>Predicted sweet spot = multi-log hydrate evidence + reservoir quality + calibrated saturation + manageable uncertainty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12848" y="4370832"/>
            <a:ext cx="7726679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1050" b="0">
                <a:solidFill>
                  <a:srgbClr val="566973"/>
                </a:solidFill>
                <a:latin typeface="Aptos"/>
              </a:defRPr>
            </a:pPr>
            <a:r>
              <a:t>Public deck shows the architecture; approved runtime later supplies real metrics and figures.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720" b="0">
                <a:solidFill>
                  <a:srgbClr val="566973"/>
                </a:solidFill>
                <a:latin typeface="Aptos"/>
              </a:defRPr>
            </a:pPr>
            <a:r>
              <a:t>Sweet-spot rankings remain review outputs and cannot be used as model inputs.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2500" b="1">
                <a:solidFill>
                  <a:srgbClr val="123447"/>
                </a:solidFill>
                <a:latin typeface="Aptos"/>
              </a:defRPr>
            </a:pPr>
            <a:r>
              <a:t>Final Project 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13232"/>
            <a:ext cx="10698480" cy="29260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0">
                <a:solidFill>
                  <a:srgbClr val="566973"/>
                </a:solidFill>
                <a:latin typeface="Aptos"/>
              </a:defRPr>
            </a:pPr>
            <a:r>
              <a:t>A defensible ML workflow is built from physical evidence, not isolated curve responses.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25880"/>
            <a:ext cx="3017520" cy="1143000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417320"/>
            <a:ext cx="2798063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Scientific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673352"/>
            <a:ext cx="2798063" cy="74066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Separates occurrence, saturation, reservoir quality, uncertainty, and producibility.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325880"/>
            <a:ext cx="3017520" cy="1143000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8E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1728" y="1417320"/>
            <a:ext cx="2798063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ML 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1673352"/>
            <a:ext cx="2798063" cy="74066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Uses physics-backed features, parallel model branches, and whole-well validation.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1325880"/>
            <a:ext cx="3017520" cy="1143000"/>
          </a:xfrm>
          <a:prstGeom prst="roundRect">
            <a:avLst/>
          </a:prstGeom>
          <a:solidFill>
            <a:srgbClr val="F4F8F9"/>
          </a:solidFill>
          <a:ln w="13970">
            <a:solidFill>
              <a:srgbClr val="D8A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30767" y="1417320"/>
            <a:ext cx="2798063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1050" b="1">
                <a:solidFill>
                  <a:srgbClr val="123447"/>
                </a:solidFill>
                <a:latin typeface="Aptos"/>
              </a:defRPr>
            </a:pPr>
            <a:r>
              <a:t>Energy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7" y="1673352"/>
            <a:ext cx="2798063" cy="740664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840" b="0">
                <a:solidFill>
                  <a:srgbClr val="566973"/>
                </a:solidFill>
                <a:latin typeface="Aptos"/>
              </a:defRPr>
            </a:pPr>
            <a:r>
              <a:t>Supports future North Slope gas-hydrate resource characterization.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291840"/>
            <a:ext cx="10241280" cy="685800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ctr">
              <a:defRPr sz="1900" b="1">
                <a:solidFill>
                  <a:srgbClr val="123447"/>
                </a:solidFill>
                <a:latin typeface="Aptos"/>
              </a:defRPr>
            </a:pPr>
            <a:r>
              <a:t>Next work: gather approved workbook/formulas and overburden shapefiles, then replace conceptual graphics with verified runtime figures.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 lIns="45720" rIns="45720" tIns="18288" bIns="18288" anchor="t">
            <a:spAutoFit/>
          </a:bodyPr>
          <a:lstStyle/>
          <a:p>
            <a:pPr algn="l">
              <a:defRPr sz="720" b="0">
                <a:solidFill>
                  <a:srgbClr val="566973"/>
                </a:solidFill>
                <a:latin typeface="Aptos"/>
              </a:defRPr>
            </a:pPr>
            <a:r>
              <a:t>Sources: USGS/DOE/NETL; Chong et al. 2022; Lee and Collett 2011; Haines et al. 2022; project header/equation docs.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